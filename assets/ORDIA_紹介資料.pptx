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108" y="10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62673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jpeg"/><Relationship Id="rId7"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7863840" y="0"/>
            <a:ext cx="1280160" cy="5143500"/>
          </a:xfrm>
          <a:prstGeom prst="rect">
            <a:avLst/>
          </a:prstGeom>
          <a:solidFill>
            <a:srgbClr val="2563EB">
              <a:alpha val="25000"/>
            </a:srgbClr>
          </a:solidFill>
          <a:ln/>
        </p:spPr>
      </p:sp>
      <p:sp>
        <p:nvSpPr>
          <p:cNvPr id="3" name="Shape 1"/>
          <p:cNvSpPr/>
          <p:nvPr/>
        </p:nvSpPr>
        <p:spPr>
          <a:xfrm>
            <a:off x="8229600" y="0"/>
            <a:ext cx="64008" cy="5143500"/>
          </a:xfrm>
          <a:prstGeom prst="rect">
            <a:avLst/>
          </a:prstGeom>
          <a:solidFill>
            <a:srgbClr val="3B82F6"/>
          </a:solidFill>
          <a:ln/>
        </p:spPr>
      </p:sp>
      <p:sp>
        <p:nvSpPr>
          <p:cNvPr id="4" name="LogoPanel"/>
          <p:cNvSpPr/>
          <p:nvPr/>
        </p:nvSpPr>
        <p:spPr>
          <a:xfrm>
            <a:off x="594360" y="1325880"/>
            <a:ext cx="3520440" cy="1112520"/>
          </a:xfrm>
          <a:prstGeom prst="roundRect">
            <a:avLst>
              <a:gd name="adj" fmla="val 7000"/>
            </a:avLst>
          </a:prstGeom>
          <a:solidFill>
            <a:srgbClr val="FFFFFF"/>
          </a:solidFill>
          <a:ln/>
        </p:spPr>
      </p:sp>
      <p:pic>
        <p:nvPicPr>
          <p:cNvPr id="13" name="ORDIA Logo" descr="ordia-logo.png"/>
          <p:cNvPicPr>
            <a:picLocks noChangeAspect="1"/>
          </p:cNvPicPr>
          <p:nvPr/>
        </p:nvPicPr>
        <p:blipFill>
          <a:blip r:embed="rId3"/>
          <a:stretch>
            <a:fillRect/>
          </a:stretch>
        </p:blipFill>
        <p:spPr>
          <a:xfrm>
            <a:off x="841080" y="1440180"/>
            <a:ext cx="3027000" cy="883920"/>
          </a:xfrm>
          <a:prstGeom prst="rect">
            <a:avLst/>
          </a:prstGeom>
        </p:spPr>
      </p:pic>
      <p:sp>
        <p:nvSpPr>
          <p:cNvPr id="5" name="Text 3"/>
          <p:cNvSpPr/>
          <p:nvPr/>
        </p:nvSpPr>
        <p:spPr>
          <a:xfrm>
            <a:off x="640080" y="2514600"/>
            <a:ext cx="6858000" cy="411480"/>
          </a:xfrm>
          <a:prstGeom prst="rect">
            <a:avLst/>
          </a:prstGeom>
          <a:noFill/>
          <a:ln/>
        </p:spPr>
        <p:txBody>
          <a:bodyPr wrap="square" lIns="0" tIns="0" rIns="0" bIns="0" rtlCol="0" anchor="ctr"/>
          <a:lstStyle/>
          <a:p>
            <a:pPr marL="0" indent="0" algn="l">
              <a:buNone/>
            </a:pPr>
            <a:r>
              <a:rPr lang="en-US" sz="2200" dirty="0">
                <a:solidFill>
                  <a:srgbClr val="DBEAFE"/>
                </a:solidFill>
                <a:latin typeface="Meiryo UI" pitchFamily="34" charset="0"/>
                <a:ea typeface="Meiryo UI" pitchFamily="34" charset="-122"/>
                <a:cs typeface="Meiryo UI" pitchFamily="34" charset="-120"/>
              </a:rPr>
              <a:t>―お客様のやり方は、変えなくていい。―</a:t>
            </a:r>
            <a:endParaRPr lang="en-US" sz="2200" dirty="0"/>
          </a:p>
        </p:txBody>
      </p:sp>
      <p:sp>
        <p:nvSpPr>
          <p:cNvPr id="6" name="Shape 4"/>
          <p:cNvSpPr/>
          <p:nvPr/>
        </p:nvSpPr>
        <p:spPr>
          <a:xfrm>
            <a:off x="640080" y="2926080"/>
            <a:ext cx="731520" cy="45720"/>
          </a:xfrm>
          <a:prstGeom prst="rect">
            <a:avLst/>
          </a:prstGeom>
          <a:solidFill>
            <a:srgbClr val="3B82F6"/>
          </a:solidFill>
          <a:ln/>
        </p:spPr>
      </p:sp>
      <p:sp>
        <p:nvSpPr>
          <p:cNvPr id="7" name="Text 5"/>
          <p:cNvSpPr/>
          <p:nvPr/>
        </p:nvSpPr>
        <p:spPr>
          <a:xfrm>
            <a:off x="640080" y="3063240"/>
            <a:ext cx="7772400" cy="548640"/>
          </a:xfrm>
          <a:prstGeom prst="rect">
            <a:avLst/>
          </a:prstGeom>
          <a:noFill/>
          <a:ln/>
        </p:spPr>
        <p:txBody>
          <a:bodyPr wrap="square" lIns="0" tIns="0" rIns="0" bIns="0" rtlCol="0" anchor="ctr"/>
          <a:lstStyle/>
          <a:p>
            <a:pPr marL="0" indent="0" algn="l">
              <a:buNone/>
            </a:pPr>
            <a:r>
              <a:rPr lang="en-US" sz="1600" dirty="0">
                <a:solidFill>
                  <a:srgbClr val="FFFFFF"/>
                </a:solidFill>
                <a:latin typeface="Meiryo UI" pitchFamily="34" charset="0"/>
                <a:ea typeface="Meiryo UI" pitchFamily="34" charset="-122"/>
                <a:cs typeface="Meiryo UI" pitchFamily="34" charset="-120"/>
              </a:rPr>
              <a:t>FAX・メール・PDFの注文書を、AIが自動で受注データへ変換。</a:t>
            </a:r>
            <a:endParaRPr lang="en-US" sz="1600" dirty="0"/>
          </a:p>
        </p:txBody>
      </p:sp>
      <p:sp>
        <p:nvSpPr>
          <p:cNvPr id="8" name="Text 6"/>
          <p:cNvSpPr/>
          <p:nvPr/>
        </p:nvSpPr>
        <p:spPr>
          <a:xfrm>
            <a:off x="640080" y="4160520"/>
            <a:ext cx="6400800" cy="320040"/>
          </a:xfrm>
          <a:prstGeom prst="rect">
            <a:avLst/>
          </a:prstGeom>
          <a:noFill/>
          <a:ln/>
        </p:spPr>
        <p:txBody>
          <a:bodyPr wrap="square" lIns="0" tIns="0" rIns="0" bIns="0" rtlCol="0" anchor="ctr"/>
          <a:lstStyle/>
          <a:p>
            <a:pPr marL="0" indent="0" algn="l">
              <a:buNone/>
            </a:pPr>
            <a:r>
              <a:rPr lang="en-US" sz="1200" dirty="0">
                <a:solidFill>
                  <a:srgbClr val="DBEAFE"/>
                </a:solidFill>
                <a:latin typeface="Meiryo UI" pitchFamily="34" charset="0"/>
                <a:ea typeface="Meiryo UI" pitchFamily="34" charset="-122"/>
                <a:cs typeface="Meiryo UI" pitchFamily="34" charset="-120"/>
              </a:rPr>
              <a:t>2026年6月  |  株式会社サグブレイン</a:t>
            </a:r>
            <a:endParaRPr lang="en-US" sz="1200" dirty="0"/>
          </a:p>
        </p:txBody>
      </p:sp>
      <p:sp>
        <p:nvSpPr>
          <p:cNvPr id="9" name="Text 7"/>
          <p:cNvSpPr/>
          <p:nvPr/>
        </p:nvSpPr>
        <p:spPr>
          <a:xfrm>
            <a:off x="640080" y="4434840"/>
            <a:ext cx="6400800" cy="228600"/>
          </a:xfrm>
          <a:prstGeom prst="rect">
            <a:avLst/>
          </a:prstGeom>
          <a:noFill/>
          <a:ln/>
        </p:spPr>
        <p:txBody>
          <a:bodyPr wrap="square" lIns="0" tIns="0" rIns="0" bIns="0" rtlCol="0" anchor="ctr"/>
          <a:lstStyle/>
          <a:p>
            <a:pPr marL="0" indent="0" algn="l">
              <a:buNone/>
            </a:pPr>
            <a:r>
              <a:rPr lang="en-US" sz="1000" dirty="0">
                <a:solidFill>
                  <a:srgbClr val="DBEAFE"/>
                </a:solidFill>
                <a:latin typeface="Meiryo UI" pitchFamily="34" charset="0"/>
                <a:ea typeface="Meiryo UI" pitchFamily="34" charset="-122"/>
                <a:cs typeface="Meiryo UI" pitchFamily="34" charset="-120"/>
              </a:rPr>
              <a:t>販売店向け ご案内資料</a:t>
            </a:r>
            <a:endParaRPr lang="en-US" sz="1000" dirty="0"/>
          </a:p>
        </p:txBody>
      </p:sp>
      <p:sp>
        <p:nvSpPr>
          <p:cNvPr id="10" name="Shape 8"/>
          <p:cNvSpPr/>
          <p:nvPr/>
        </p:nvSpPr>
        <p:spPr>
          <a:xfrm>
            <a:off x="0" y="4869180"/>
            <a:ext cx="9144000" cy="274320"/>
          </a:xfrm>
          <a:prstGeom prst="rect">
            <a:avLst/>
          </a:prstGeom>
          <a:solidFill>
            <a:srgbClr val="1CADE4"/>
          </a:solidFill>
          <a:ln/>
        </p:spPr>
      </p:sp>
      <p:sp>
        <p:nvSpPr>
          <p:cNvPr id="11" name="Text 9"/>
          <p:cNvSpPr/>
          <p:nvPr/>
        </p:nvSpPr>
        <p:spPr>
          <a:xfrm>
            <a:off x="457200" y="4869180"/>
            <a:ext cx="82296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Meiryo UI" pitchFamily="34" charset="0"/>
                <a:ea typeface="Meiryo UI" pitchFamily="34" charset="-122"/>
                <a:cs typeface="Meiryo UI" pitchFamily="34" charset="-120"/>
              </a:rPr>
              <a:t>Copyright© 2002-2026 SAGBRAIN Corp. All rights reserved.</a:t>
            </a:r>
            <a:endParaRPr lang="en-US" sz="900" dirty="0"/>
          </a:p>
        </p:txBody>
      </p:sp>
      <p:sp>
        <p:nvSpPr>
          <p:cNvPr id="12" name="Text 10"/>
          <p:cNvSpPr/>
          <p:nvPr/>
        </p:nvSpPr>
        <p:spPr>
          <a:xfrm>
            <a:off x="8503920" y="4869180"/>
            <a:ext cx="502920" cy="274320"/>
          </a:xfrm>
          <a:prstGeom prst="rect">
            <a:avLst/>
          </a:prstGeom>
          <a:noFill/>
          <a:ln/>
        </p:spPr>
        <p:txBody>
          <a:bodyPr wrap="square" lIns="0" tIns="0" rIns="0" bIns="0" rtlCol="0" anchor="ctr"/>
          <a:lstStyle/>
          <a:p>
            <a:pPr marL="0" indent="0" algn="r">
              <a:buNone/>
            </a:pPr>
            <a:r>
              <a:rPr lang="en-US" sz="1000" b="1" dirty="0">
                <a:solidFill>
                  <a:srgbClr val="FFFFFF"/>
                </a:solidFill>
                <a:latin typeface="Meiryo UI" pitchFamily="34" charset="0"/>
                <a:ea typeface="Meiryo UI" pitchFamily="34" charset="-122"/>
                <a:cs typeface="Meiryo U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7132320" cy="502920"/>
          </a:xfrm>
          <a:prstGeom prst="rect">
            <a:avLst/>
          </a:prstGeom>
          <a:noFill/>
          <a:ln/>
        </p:spPr>
        <p:txBody>
          <a:bodyPr wrap="square" lIns="0" tIns="0" rIns="0" bIns="0" rtlCol="0" anchor="ctr"/>
          <a:lstStyle/>
          <a:p>
            <a:pPr marL="0" indent="0" algn="l">
              <a:buNone/>
            </a:pPr>
            <a:r>
              <a:rPr lang="en-US" sz="2200" b="1" dirty="0">
                <a:solidFill>
                  <a:srgbClr val="1E3A5F"/>
                </a:solidFill>
                <a:latin typeface="Meiryo UI" pitchFamily="34" charset="0"/>
                <a:ea typeface="Meiryo UI" pitchFamily="34" charset="-122"/>
                <a:cs typeface="Meiryo UI" pitchFamily="34" charset="-120"/>
              </a:rPr>
              <a:t>ご提案の概要</a:t>
            </a:r>
            <a:endParaRPr lang="en-US" sz="2200" dirty="0"/>
          </a:p>
        </p:txBody>
      </p:sp>
      <p:sp>
        <p:nvSpPr>
          <p:cNvPr id="3" name="Shape 1"/>
          <p:cNvSpPr/>
          <p:nvPr/>
        </p:nvSpPr>
        <p:spPr>
          <a:xfrm>
            <a:off x="365760" y="758952"/>
            <a:ext cx="8412480" cy="0"/>
          </a:xfrm>
          <a:prstGeom prst="line">
            <a:avLst/>
          </a:prstGeom>
          <a:noFill/>
          <a:ln w="6350">
            <a:solidFill>
              <a:srgbClr val="64748B"/>
            </a:solidFill>
            <a:prstDash val="solid"/>
          </a:ln>
        </p:spPr>
      </p:sp>
      <p:pic>
        <p:nvPicPr>
          <p:cNvPr id="4" name="Image 0" descr="preencoded.png"/>
          <p:cNvPicPr>
            <a:picLocks noChangeAspect="1"/>
          </p:cNvPicPr>
          <p:nvPr/>
        </p:nvPicPr>
        <p:blipFill>
          <a:blip r:embed="rId3"/>
          <a:stretch>
            <a:fillRect/>
          </a:stretch>
        </p:blipFill>
        <p:spPr>
          <a:xfrm>
            <a:off x="7680960" y="164592"/>
            <a:ext cx="1188720" cy="265176"/>
          </a:xfrm>
          <a:prstGeom prst="rect">
            <a:avLst/>
          </a:prstGeom>
        </p:spPr>
      </p:pic>
      <p:sp>
        <p:nvSpPr>
          <p:cNvPr id="5" name="Shape 2"/>
          <p:cNvSpPr/>
          <p:nvPr/>
        </p:nvSpPr>
        <p:spPr>
          <a:xfrm>
            <a:off x="0" y="4869180"/>
            <a:ext cx="9144000" cy="274320"/>
          </a:xfrm>
          <a:prstGeom prst="rect">
            <a:avLst/>
          </a:prstGeom>
          <a:solidFill>
            <a:srgbClr val="1CADE4"/>
          </a:solidFill>
          <a:ln/>
        </p:spPr>
      </p:sp>
      <p:sp>
        <p:nvSpPr>
          <p:cNvPr id="6" name="Text 3"/>
          <p:cNvSpPr/>
          <p:nvPr/>
        </p:nvSpPr>
        <p:spPr>
          <a:xfrm>
            <a:off x="457200" y="4869180"/>
            <a:ext cx="82296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Meiryo UI" pitchFamily="34" charset="0"/>
                <a:ea typeface="Meiryo UI" pitchFamily="34" charset="-122"/>
                <a:cs typeface="Meiryo UI" pitchFamily="34" charset="-120"/>
              </a:rPr>
              <a:t>Copyright© 2002-2026 SAGBRAIN Corp. All rights reserved.</a:t>
            </a:r>
            <a:endParaRPr lang="en-US" sz="900" dirty="0"/>
          </a:p>
        </p:txBody>
      </p:sp>
      <p:sp>
        <p:nvSpPr>
          <p:cNvPr id="7" name="Text 4"/>
          <p:cNvSpPr/>
          <p:nvPr/>
        </p:nvSpPr>
        <p:spPr>
          <a:xfrm>
            <a:off x="8503920" y="4869180"/>
            <a:ext cx="502920" cy="274320"/>
          </a:xfrm>
          <a:prstGeom prst="rect">
            <a:avLst/>
          </a:prstGeom>
          <a:noFill/>
          <a:ln/>
        </p:spPr>
        <p:txBody>
          <a:bodyPr wrap="square" lIns="0" tIns="0" rIns="0" bIns="0" rtlCol="0" anchor="ctr"/>
          <a:lstStyle/>
          <a:p>
            <a:pPr marL="0" indent="0" algn="r">
              <a:buNone/>
            </a:pPr>
            <a:r>
              <a:rPr lang="en-US" sz="1000" b="1" dirty="0">
                <a:solidFill>
                  <a:srgbClr val="FFFFFF"/>
                </a:solidFill>
                <a:latin typeface="Meiryo UI" pitchFamily="34" charset="0"/>
                <a:ea typeface="Meiryo UI" pitchFamily="34" charset="-122"/>
                <a:cs typeface="Meiryo UI" pitchFamily="34" charset="-120"/>
              </a:rPr>
              <a:t>2</a:t>
            </a:r>
            <a:endParaRPr lang="en-US" sz="1000" dirty="0"/>
          </a:p>
        </p:txBody>
      </p:sp>
      <p:sp>
        <p:nvSpPr>
          <p:cNvPr id="8" name="Text 5"/>
          <p:cNvSpPr/>
          <p:nvPr/>
        </p:nvSpPr>
        <p:spPr>
          <a:xfrm>
            <a:off x="365760" y="1097280"/>
            <a:ext cx="8412480" cy="274320"/>
          </a:xfrm>
          <a:prstGeom prst="rect">
            <a:avLst/>
          </a:prstGeom>
          <a:noFill/>
          <a:ln/>
        </p:spPr>
        <p:txBody>
          <a:bodyPr wrap="square" lIns="0" tIns="0" rIns="0" bIns="0" rtlCol="0" anchor="ctr"/>
          <a:lstStyle/>
          <a:p>
            <a:pPr marL="0" indent="0">
              <a:buNone/>
            </a:pPr>
            <a:r>
              <a:rPr lang="en-US" sz="1300" dirty="0">
                <a:solidFill>
                  <a:srgbClr val="1F2937"/>
                </a:solidFill>
                <a:latin typeface="Meiryo UI" pitchFamily="34" charset="0"/>
                <a:ea typeface="Meiryo UI" pitchFamily="34" charset="-122"/>
                <a:cs typeface="Meiryo UI" pitchFamily="34" charset="-120"/>
              </a:rPr>
              <a:t>受注業務で多くの企業が抱える3つの課題を、ORDIA が解決。</a:t>
            </a:r>
            <a:endParaRPr lang="en-US" sz="1300" dirty="0"/>
          </a:p>
        </p:txBody>
      </p:sp>
      <p:sp>
        <p:nvSpPr>
          <p:cNvPr id="9" name="Shape 6"/>
          <p:cNvSpPr/>
          <p:nvPr/>
        </p:nvSpPr>
        <p:spPr>
          <a:xfrm>
            <a:off x="365760" y="1508760"/>
            <a:ext cx="2743200" cy="1280160"/>
          </a:xfrm>
          <a:prstGeom prst="rect">
            <a:avLst/>
          </a:prstGeom>
          <a:solidFill>
            <a:srgbClr val="EFF6FF"/>
          </a:solidFill>
          <a:ln w="9525">
            <a:solidFill>
              <a:srgbClr val="E2E8F0"/>
            </a:solidFill>
            <a:prstDash val="solid"/>
          </a:ln>
        </p:spPr>
      </p:sp>
      <p:sp>
        <p:nvSpPr>
          <p:cNvPr id="10" name="Shape 7"/>
          <p:cNvSpPr/>
          <p:nvPr/>
        </p:nvSpPr>
        <p:spPr>
          <a:xfrm>
            <a:off x="365760" y="1508760"/>
            <a:ext cx="2743200" cy="54864"/>
          </a:xfrm>
          <a:prstGeom prst="rect">
            <a:avLst/>
          </a:prstGeom>
          <a:solidFill>
            <a:srgbClr val="E11D48"/>
          </a:solidFill>
          <a:ln/>
        </p:spPr>
      </p:sp>
      <p:sp>
        <p:nvSpPr>
          <p:cNvPr id="11" name="Text 8"/>
          <p:cNvSpPr/>
          <p:nvPr/>
        </p:nvSpPr>
        <p:spPr>
          <a:xfrm>
            <a:off x="502920" y="1618488"/>
            <a:ext cx="2468880" cy="228600"/>
          </a:xfrm>
          <a:prstGeom prst="rect">
            <a:avLst/>
          </a:prstGeom>
          <a:noFill/>
          <a:ln/>
        </p:spPr>
        <p:txBody>
          <a:bodyPr wrap="square" lIns="0" tIns="0" rIns="0" bIns="0" rtlCol="0" anchor="ctr"/>
          <a:lstStyle/>
          <a:p>
            <a:pPr marL="0" indent="0">
              <a:buNone/>
            </a:pPr>
            <a:r>
              <a:rPr lang="en-US" sz="1000" b="1" dirty="0">
                <a:solidFill>
                  <a:srgbClr val="E11D48"/>
                </a:solidFill>
                <a:latin typeface="Meiryo UI" pitchFamily="34" charset="0"/>
                <a:ea typeface="Meiryo UI" pitchFamily="34" charset="-122"/>
                <a:cs typeface="Meiryo UI" pitchFamily="34" charset="-120"/>
              </a:rPr>
              <a:t>課題 1</a:t>
            </a:r>
            <a:endParaRPr lang="en-US" sz="1000" dirty="0"/>
          </a:p>
        </p:txBody>
      </p:sp>
      <p:pic>
        <p:nvPicPr>
          <p:cNvPr id="12" name="Image 1" descr="preencoded.png"/>
          <p:cNvPicPr>
            <a:picLocks noChangeAspect="1"/>
          </p:cNvPicPr>
          <p:nvPr/>
        </p:nvPicPr>
        <p:blipFill>
          <a:blip r:embed="rId4"/>
          <a:stretch>
            <a:fillRect/>
          </a:stretch>
        </p:blipFill>
        <p:spPr>
          <a:xfrm>
            <a:off x="2514600" y="1655064"/>
            <a:ext cx="457200" cy="457200"/>
          </a:xfrm>
          <a:prstGeom prst="rect">
            <a:avLst/>
          </a:prstGeom>
        </p:spPr>
      </p:pic>
      <p:sp>
        <p:nvSpPr>
          <p:cNvPr id="13" name="Text 9"/>
          <p:cNvSpPr/>
          <p:nvPr/>
        </p:nvSpPr>
        <p:spPr>
          <a:xfrm>
            <a:off x="502920" y="1828800"/>
            <a:ext cx="1965960" cy="365760"/>
          </a:xfrm>
          <a:prstGeom prst="rect">
            <a:avLst/>
          </a:prstGeom>
          <a:noFill/>
          <a:ln/>
        </p:spPr>
        <p:txBody>
          <a:bodyPr wrap="square" lIns="0" tIns="0" rIns="0" bIns="0" rtlCol="0" anchor="ctr"/>
          <a:lstStyle/>
          <a:p>
            <a:pPr marL="0" indent="0">
              <a:buNone/>
            </a:pPr>
            <a:r>
              <a:rPr lang="en-US" sz="1600" b="1" dirty="0">
                <a:solidFill>
                  <a:srgbClr val="1E3A5F"/>
                </a:solidFill>
                <a:latin typeface="Meiryo UI" pitchFamily="34" charset="0"/>
                <a:ea typeface="Meiryo UI" pitchFamily="34" charset="-122"/>
                <a:cs typeface="Meiryo UI" pitchFamily="34" charset="-120"/>
              </a:rPr>
              <a:t>受注方法のバラツキ</a:t>
            </a:r>
            <a:endParaRPr lang="en-US" sz="1600" dirty="0"/>
          </a:p>
        </p:txBody>
      </p:sp>
      <p:sp>
        <p:nvSpPr>
          <p:cNvPr id="14" name="Text 10"/>
          <p:cNvSpPr/>
          <p:nvPr/>
        </p:nvSpPr>
        <p:spPr>
          <a:xfrm>
            <a:off x="502920" y="2221992"/>
            <a:ext cx="2468880" cy="502920"/>
          </a:xfrm>
          <a:prstGeom prst="rect">
            <a:avLst/>
          </a:prstGeom>
          <a:noFill/>
          <a:ln/>
        </p:spPr>
        <p:txBody>
          <a:bodyPr wrap="square" lIns="0" tIns="0" rIns="0" bIns="0" rtlCol="0" anchor="ctr"/>
          <a:lstStyle/>
          <a:p>
            <a:pPr marL="0" indent="0">
              <a:buNone/>
            </a:pPr>
            <a:r>
              <a:rPr lang="en-US" sz="1050" dirty="0">
                <a:solidFill>
                  <a:srgbClr val="1F2937"/>
                </a:solidFill>
                <a:latin typeface="Meiryo UI" pitchFamily="34" charset="0"/>
                <a:ea typeface="Meiryo UI" pitchFamily="34" charset="-122"/>
                <a:cs typeface="Meiryo UI" pitchFamily="34" charset="-120"/>
              </a:rPr>
              <a:t>電話・FAX・メール・各社独自Web・EDI が顧客ごとに混在。転記ミスや属人化が起きやすい。</a:t>
            </a:r>
            <a:endParaRPr lang="en-US" sz="1050" dirty="0"/>
          </a:p>
        </p:txBody>
      </p:sp>
      <p:sp>
        <p:nvSpPr>
          <p:cNvPr id="15" name="Shape 11"/>
          <p:cNvSpPr/>
          <p:nvPr/>
        </p:nvSpPr>
        <p:spPr>
          <a:xfrm>
            <a:off x="3200400" y="1508760"/>
            <a:ext cx="2743200" cy="1280160"/>
          </a:xfrm>
          <a:prstGeom prst="rect">
            <a:avLst/>
          </a:prstGeom>
          <a:solidFill>
            <a:srgbClr val="EFF6FF"/>
          </a:solidFill>
          <a:ln w="9525">
            <a:solidFill>
              <a:srgbClr val="E2E8F0"/>
            </a:solidFill>
            <a:prstDash val="solid"/>
          </a:ln>
        </p:spPr>
      </p:sp>
      <p:sp>
        <p:nvSpPr>
          <p:cNvPr id="16" name="Shape 12"/>
          <p:cNvSpPr/>
          <p:nvPr/>
        </p:nvSpPr>
        <p:spPr>
          <a:xfrm>
            <a:off x="3200400" y="1508760"/>
            <a:ext cx="2743200" cy="54864"/>
          </a:xfrm>
          <a:prstGeom prst="rect">
            <a:avLst/>
          </a:prstGeom>
          <a:solidFill>
            <a:srgbClr val="0D9488"/>
          </a:solidFill>
          <a:ln/>
        </p:spPr>
      </p:sp>
      <p:sp>
        <p:nvSpPr>
          <p:cNvPr id="17" name="Text 13"/>
          <p:cNvSpPr/>
          <p:nvPr/>
        </p:nvSpPr>
        <p:spPr>
          <a:xfrm>
            <a:off x="3337560" y="1618488"/>
            <a:ext cx="2468880" cy="228600"/>
          </a:xfrm>
          <a:prstGeom prst="rect">
            <a:avLst/>
          </a:prstGeom>
          <a:noFill/>
          <a:ln/>
        </p:spPr>
        <p:txBody>
          <a:bodyPr wrap="square" lIns="0" tIns="0" rIns="0" bIns="0" rtlCol="0" anchor="ctr"/>
          <a:lstStyle/>
          <a:p>
            <a:pPr marL="0" indent="0">
              <a:buNone/>
            </a:pPr>
            <a:r>
              <a:rPr lang="en-US" sz="1000" b="1" dirty="0">
                <a:solidFill>
                  <a:srgbClr val="0D9488"/>
                </a:solidFill>
                <a:latin typeface="Meiryo UI" pitchFamily="34" charset="0"/>
                <a:ea typeface="Meiryo UI" pitchFamily="34" charset="-122"/>
                <a:cs typeface="Meiryo UI" pitchFamily="34" charset="-120"/>
              </a:rPr>
              <a:t>課題 2</a:t>
            </a:r>
            <a:endParaRPr lang="en-US" sz="1000" dirty="0"/>
          </a:p>
        </p:txBody>
      </p:sp>
      <p:pic>
        <p:nvPicPr>
          <p:cNvPr id="18" name="Image 2" descr="preencoded.png"/>
          <p:cNvPicPr>
            <a:picLocks noChangeAspect="1"/>
          </p:cNvPicPr>
          <p:nvPr/>
        </p:nvPicPr>
        <p:blipFill>
          <a:blip r:embed="rId5"/>
          <a:stretch>
            <a:fillRect/>
          </a:stretch>
        </p:blipFill>
        <p:spPr>
          <a:xfrm>
            <a:off x="5349240" y="1655064"/>
            <a:ext cx="457200" cy="457200"/>
          </a:xfrm>
          <a:prstGeom prst="rect">
            <a:avLst/>
          </a:prstGeom>
        </p:spPr>
      </p:pic>
      <p:sp>
        <p:nvSpPr>
          <p:cNvPr id="19" name="Text 14"/>
          <p:cNvSpPr/>
          <p:nvPr/>
        </p:nvSpPr>
        <p:spPr>
          <a:xfrm>
            <a:off x="3337560" y="1828800"/>
            <a:ext cx="1965960" cy="365760"/>
          </a:xfrm>
          <a:prstGeom prst="rect">
            <a:avLst/>
          </a:prstGeom>
          <a:noFill/>
          <a:ln/>
        </p:spPr>
        <p:txBody>
          <a:bodyPr wrap="square" lIns="0" tIns="0" rIns="0" bIns="0" rtlCol="0" anchor="ctr"/>
          <a:lstStyle/>
          <a:p>
            <a:pPr marL="0" indent="0">
              <a:buNone/>
            </a:pPr>
            <a:r>
              <a:rPr lang="en-US" sz="1600" b="1" dirty="0">
                <a:solidFill>
                  <a:srgbClr val="1E3A5F"/>
                </a:solidFill>
                <a:latin typeface="Meiryo UI" pitchFamily="34" charset="0"/>
                <a:ea typeface="Meiryo UI" pitchFamily="34" charset="-122"/>
                <a:cs typeface="Meiryo UI" pitchFamily="34" charset="-120"/>
              </a:rPr>
              <a:t>手入力と属人化</a:t>
            </a:r>
            <a:endParaRPr lang="en-US" sz="1600" dirty="0"/>
          </a:p>
        </p:txBody>
      </p:sp>
      <p:sp>
        <p:nvSpPr>
          <p:cNvPr id="20" name="Text 15"/>
          <p:cNvSpPr/>
          <p:nvPr/>
        </p:nvSpPr>
        <p:spPr>
          <a:xfrm>
            <a:off x="3337560" y="2221992"/>
            <a:ext cx="2468880" cy="502920"/>
          </a:xfrm>
          <a:prstGeom prst="rect">
            <a:avLst/>
          </a:prstGeom>
          <a:noFill/>
          <a:ln/>
        </p:spPr>
        <p:txBody>
          <a:bodyPr wrap="square" lIns="0" tIns="0" rIns="0" bIns="0" rtlCol="0" anchor="ctr"/>
          <a:lstStyle/>
          <a:p>
            <a:pPr marL="0" indent="0">
              <a:buNone/>
            </a:pPr>
            <a:r>
              <a:rPr lang="en-US" sz="1050" dirty="0">
                <a:solidFill>
                  <a:srgbClr val="1F2937"/>
                </a:solidFill>
                <a:latin typeface="Meiryo UI" pitchFamily="34" charset="0"/>
                <a:ea typeface="Meiryo UI" pitchFamily="34" charset="-122"/>
                <a:cs typeface="Meiryo UI" pitchFamily="34" charset="-120"/>
              </a:rPr>
              <a:t>注文内容の確認・転記・調査に時間がかかり、特定の担当者に依存しやすい。</a:t>
            </a:r>
            <a:endParaRPr lang="en-US" sz="1050" dirty="0"/>
          </a:p>
        </p:txBody>
      </p:sp>
      <p:sp>
        <p:nvSpPr>
          <p:cNvPr id="21" name="Shape 16"/>
          <p:cNvSpPr/>
          <p:nvPr/>
        </p:nvSpPr>
        <p:spPr>
          <a:xfrm>
            <a:off x="6035040" y="1508760"/>
            <a:ext cx="2743200" cy="1280160"/>
          </a:xfrm>
          <a:prstGeom prst="rect">
            <a:avLst/>
          </a:prstGeom>
          <a:solidFill>
            <a:srgbClr val="EFF6FF"/>
          </a:solidFill>
          <a:ln w="9525">
            <a:solidFill>
              <a:srgbClr val="E2E8F0"/>
            </a:solidFill>
            <a:prstDash val="solid"/>
          </a:ln>
        </p:spPr>
      </p:sp>
      <p:sp>
        <p:nvSpPr>
          <p:cNvPr id="22" name="Shape 17"/>
          <p:cNvSpPr/>
          <p:nvPr/>
        </p:nvSpPr>
        <p:spPr>
          <a:xfrm>
            <a:off x="6035040" y="1508760"/>
            <a:ext cx="2743200" cy="54864"/>
          </a:xfrm>
          <a:prstGeom prst="rect">
            <a:avLst/>
          </a:prstGeom>
          <a:solidFill>
            <a:srgbClr val="7C3AED"/>
          </a:solidFill>
          <a:ln/>
        </p:spPr>
      </p:sp>
      <p:sp>
        <p:nvSpPr>
          <p:cNvPr id="23" name="Text 18"/>
          <p:cNvSpPr/>
          <p:nvPr/>
        </p:nvSpPr>
        <p:spPr>
          <a:xfrm>
            <a:off x="6172200" y="1618488"/>
            <a:ext cx="2468880" cy="228600"/>
          </a:xfrm>
          <a:prstGeom prst="rect">
            <a:avLst/>
          </a:prstGeom>
          <a:noFill/>
          <a:ln/>
        </p:spPr>
        <p:txBody>
          <a:bodyPr wrap="square" lIns="0" tIns="0" rIns="0" bIns="0" rtlCol="0" anchor="ctr"/>
          <a:lstStyle/>
          <a:p>
            <a:pPr marL="0" indent="0">
              <a:buNone/>
            </a:pPr>
            <a:r>
              <a:rPr lang="en-US" sz="1000" b="1" dirty="0">
                <a:solidFill>
                  <a:srgbClr val="7C3AED"/>
                </a:solidFill>
                <a:latin typeface="Meiryo UI" pitchFamily="34" charset="0"/>
                <a:ea typeface="Meiryo UI" pitchFamily="34" charset="-122"/>
                <a:cs typeface="Meiryo UI" pitchFamily="34" charset="-120"/>
              </a:rPr>
              <a:t>課題 3</a:t>
            </a:r>
            <a:endParaRPr lang="en-US" sz="1000" dirty="0"/>
          </a:p>
        </p:txBody>
      </p:sp>
      <p:pic>
        <p:nvPicPr>
          <p:cNvPr id="24" name="Image 3" descr="preencoded.png"/>
          <p:cNvPicPr>
            <a:picLocks noChangeAspect="1"/>
          </p:cNvPicPr>
          <p:nvPr/>
        </p:nvPicPr>
        <p:blipFill>
          <a:blip r:embed="rId6"/>
          <a:stretch>
            <a:fillRect/>
          </a:stretch>
        </p:blipFill>
        <p:spPr>
          <a:xfrm>
            <a:off x="8183880" y="1655064"/>
            <a:ext cx="457200" cy="457200"/>
          </a:xfrm>
          <a:prstGeom prst="rect">
            <a:avLst/>
          </a:prstGeom>
        </p:spPr>
      </p:pic>
      <p:sp>
        <p:nvSpPr>
          <p:cNvPr id="25" name="Text 19"/>
          <p:cNvSpPr/>
          <p:nvPr/>
        </p:nvSpPr>
        <p:spPr>
          <a:xfrm>
            <a:off x="6172200" y="1828800"/>
            <a:ext cx="1965960" cy="365760"/>
          </a:xfrm>
          <a:prstGeom prst="rect">
            <a:avLst/>
          </a:prstGeom>
          <a:noFill/>
          <a:ln/>
        </p:spPr>
        <p:txBody>
          <a:bodyPr wrap="square" lIns="0" tIns="0" rIns="0" bIns="0" rtlCol="0" anchor="ctr"/>
          <a:lstStyle/>
          <a:p>
            <a:pPr marL="0" indent="0">
              <a:buNone/>
            </a:pPr>
            <a:r>
              <a:rPr lang="en-US" sz="1600" b="1" dirty="0">
                <a:solidFill>
                  <a:srgbClr val="1E3A5F"/>
                </a:solidFill>
                <a:latin typeface="Meiryo UI" pitchFamily="34" charset="0"/>
                <a:ea typeface="Meiryo UI" pitchFamily="34" charset="-122"/>
                <a:cs typeface="Meiryo UI" pitchFamily="34" charset="-120"/>
              </a:rPr>
              <a:t>マスター・基幹の分断</a:t>
            </a:r>
            <a:endParaRPr lang="en-US" sz="1600" dirty="0"/>
          </a:p>
        </p:txBody>
      </p:sp>
      <p:sp>
        <p:nvSpPr>
          <p:cNvPr id="26" name="Text 20"/>
          <p:cNvSpPr/>
          <p:nvPr/>
        </p:nvSpPr>
        <p:spPr>
          <a:xfrm>
            <a:off x="6172200" y="2221992"/>
            <a:ext cx="2468880" cy="502920"/>
          </a:xfrm>
          <a:prstGeom prst="rect">
            <a:avLst/>
          </a:prstGeom>
          <a:noFill/>
          <a:ln/>
        </p:spPr>
        <p:txBody>
          <a:bodyPr wrap="square" lIns="0" tIns="0" rIns="0" bIns="0" rtlCol="0" anchor="ctr"/>
          <a:lstStyle/>
          <a:p>
            <a:pPr marL="0" indent="0">
              <a:buNone/>
            </a:pPr>
            <a:r>
              <a:rPr lang="en-US" sz="1050" dirty="0">
                <a:solidFill>
                  <a:srgbClr val="1F2937"/>
                </a:solidFill>
                <a:latin typeface="Meiryo UI" pitchFamily="34" charset="0"/>
                <a:ea typeface="Meiryo UI" pitchFamily="34" charset="-122"/>
                <a:cs typeface="Meiryo UI" pitchFamily="34" charset="-120"/>
              </a:rPr>
              <a:t>商品・顧客マスターや基幹システムと受注がつながらず、二重入力やミスが起きやすい。</a:t>
            </a:r>
            <a:endParaRPr lang="en-US" sz="1050" dirty="0"/>
          </a:p>
        </p:txBody>
      </p:sp>
      <p:sp>
        <p:nvSpPr>
          <p:cNvPr id="27" name="Text 21"/>
          <p:cNvSpPr/>
          <p:nvPr/>
        </p:nvSpPr>
        <p:spPr>
          <a:xfrm>
            <a:off x="3977640" y="2834640"/>
            <a:ext cx="1188720" cy="411480"/>
          </a:xfrm>
          <a:prstGeom prst="rect">
            <a:avLst/>
          </a:prstGeom>
          <a:noFill/>
          <a:ln/>
        </p:spPr>
        <p:txBody>
          <a:bodyPr wrap="square" lIns="0" tIns="0" rIns="0" bIns="0" rtlCol="0" anchor="ctr"/>
          <a:lstStyle/>
          <a:p>
            <a:pPr marL="0" indent="0" algn="ctr">
              <a:buNone/>
            </a:pPr>
            <a:r>
              <a:rPr lang="en-US" sz="2800" dirty="0">
                <a:solidFill>
                  <a:srgbClr val="2563EB"/>
                </a:solidFill>
                <a:latin typeface="Meiryo UI" pitchFamily="34" charset="0"/>
                <a:ea typeface="Meiryo UI" pitchFamily="34" charset="-122"/>
                <a:cs typeface="Meiryo UI" pitchFamily="34" charset="-120"/>
              </a:rPr>
              <a:t>↓</a:t>
            </a:r>
            <a:endParaRPr lang="en-US" sz="2800" dirty="0"/>
          </a:p>
        </p:txBody>
      </p:sp>
      <p:sp>
        <p:nvSpPr>
          <p:cNvPr id="28" name="Shape 22"/>
          <p:cNvSpPr/>
          <p:nvPr/>
        </p:nvSpPr>
        <p:spPr>
          <a:xfrm>
            <a:off x="365760" y="3337560"/>
            <a:ext cx="8412480" cy="1280160"/>
          </a:xfrm>
          <a:prstGeom prst="rect">
            <a:avLst/>
          </a:prstGeom>
          <a:solidFill>
            <a:srgbClr val="1E3A5F"/>
          </a:solidFill>
          <a:ln/>
        </p:spPr>
      </p:sp>
      <p:sp>
        <p:nvSpPr>
          <p:cNvPr id="29" name="Text 23"/>
          <p:cNvSpPr/>
          <p:nvPr/>
        </p:nvSpPr>
        <p:spPr>
          <a:xfrm>
            <a:off x="548640" y="3456432"/>
            <a:ext cx="8046720" cy="457200"/>
          </a:xfrm>
          <a:prstGeom prst="rect">
            <a:avLst/>
          </a:prstGeom>
          <a:noFill/>
          <a:ln/>
        </p:spPr>
        <p:txBody>
          <a:bodyPr wrap="square" lIns="0" tIns="0" rIns="0" bIns="0" rtlCol="0" anchor="ctr"/>
          <a:lstStyle/>
          <a:p>
            <a:pPr marL="0" indent="0">
              <a:buNone/>
            </a:pPr>
            <a:r>
              <a:rPr lang="en-US" sz="1800" b="1" dirty="0">
                <a:solidFill>
                  <a:srgbClr val="FFFFFF"/>
                </a:solidFill>
                <a:latin typeface="Meiryo UI" pitchFamily="34" charset="0"/>
                <a:ea typeface="Meiryo UI" pitchFamily="34" charset="-122"/>
                <a:cs typeface="Meiryo UI" pitchFamily="34" charset="-120"/>
              </a:rPr>
              <a:t>ORDIA：お客様のやり方は変えず、貴社の受注処理をAIで自動化する受注エージェント</a:t>
            </a:r>
            <a:endParaRPr lang="en-US" sz="1800" dirty="0"/>
          </a:p>
        </p:txBody>
      </p:sp>
      <p:sp>
        <p:nvSpPr>
          <p:cNvPr id="30" name="Text 24"/>
          <p:cNvSpPr/>
          <p:nvPr/>
        </p:nvSpPr>
        <p:spPr>
          <a:xfrm>
            <a:off x="548640" y="3867912"/>
            <a:ext cx="8046720" cy="347472"/>
          </a:xfrm>
          <a:prstGeom prst="rect">
            <a:avLst/>
          </a:prstGeom>
          <a:noFill/>
          <a:ln/>
        </p:spPr>
        <p:txBody>
          <a:bodyPr wrap="square" lIns="0" tIns="0" rIns="0" bIns="0" rtlCol="0" anchor="ctr"/>
          <a:lstStyle/>
          <a:p>
            <a:pPr marL="0" indent="0">
              <a:buNone/>
            </a:pPr>
            <a:r>
              <a:rPr lang="en-US" sz="1200" dirty="0">
                <a:solidFill>
                  <a:srgbClr val="DBEAFE"/>
                </a:solidFill>
                <a:latin typeface="Meiryo UI" pitchFamily="34" charset="0"/>
                <a:ea typeface="Meiryo UI" pitchFamily="34" charset="-122"/>
                <a:cs typeface="Meiryo UI" pitchFamily="34" charset="-120"/>
              </a:rPr>
              <a:t>多チャネル対応 ／ AI解析・自動データ化 ／ 在庫・納期の自動照会 ／ 24時間自動受付 ／ 「入力業務ゼロ」へ</a:t>
            </a:r>
            <a:endParaRPr lang="en-US" sz="1200" dirty="0"/>
          </a:p>
        </p:txBody>
      </p:sp>
      <p:sp>
        <p:nvSpPr>
          <p:cNvPr id="31" name="Text 25"/>
          <p:cNvSpPr/>
          <p:nvPr/>
        </p:nvSpPr>
        <p:spPr>
          <a:xfrm>
            <a:off x="548640" y="4224528"/>
            <a:ext cx="8046720" cy="320040"/>
          </a:xfrm>
          <a:prstGeom prst="rect">
            <a:avLst/>
          </a:prstGeom>
          <a:noFill/>
          <a:ln/>
        </p:spPr>
        <p:txBody>
          <a:bodyPr wrap="square" lIns="0" tIns="0" rIns="0" bIns="0" rtlCol="0" anchor="ctr"/>
          <a:lstStyle/>
          <a:p>
            <a:pPr marL="0" indent="0">
              <a:buNone/>
            </a:pPr>
            <a:r>
              <a:rPr lang="en-US" sz="1050" i="1" dirty="0">
                <a:solidFill>
                  <a:srgbClr val="DBEAFE"/>
                </a:solidFill>
                <a:latin typeface="Meiryo UI" pitchFamily="34" charset="0"/>
                <a:ea typeface="Meiryo UI" pitchFamily="34" charset="-122"/>
                <a:cs typeface="Meiryo UI" pitchFamily="34" charset="-120"/>
              </a:rPr>
              <a:t>初期費用0円／基本月額0円／お問い合わせで即・無料トライアル（期間・件数の制限なし）／既存の基幹システムはそのまま</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7132320" cy="502920"/>
          </a:xfrm>
          <a:prstGeom prst="rect">
            <a:avLst/>
          </a:prstGeom>
          <a:noFill/>
          <a:ln/>
        </p:spPr>
        <p:txBody>
          <a:bodyPr wrap="square" lIns="0" tIns="0" rIns="0" bIns="0" rtlCol="0" anchor="ctr"/>
          <a:lstStyle/>
          <a:p>
            <a:pPr marL="0" indent="0" algn="l">
              <a:buNone/>
            </a:pPr>
            <a:r>
              <a:rPr lang="en-US" sz="2200" b="1" dirty="0">
                <a:solidFill>
                  <a:srgbClr val="1E3A5F"/>
                </a:solidFill>
                <a:latin typeface="Meiryo UI" pitchFamily="34" charset="0"/>
                <a:ea typeface="Meiryo UI" pitchFamily="34" charset="-122"/>
                <a:cs typeface="Meiryo UI" pitchFamily="34" charset="-120"/>
              </a:rPr>
              <a:t>課題：受注チャネルのバラツキ</a:t>
            </a:r>
            <a:endParaRPr lang="en-US" sz="2200" dirty="0"/>
          </a:p>
        </p:txBody>
      </p:sp>
      <p:sp>
        <p:nvSpPr>
          <p:cNvPr id="3" name="Shape 1"/>
          <p:cNvSpPr/>
          <p:nvPr/>
        </p:nvSpPr>
        <p:spPr>
          <a:xfrm>
            <a:off x="365760" y="758952"/>
            <a:ext cx="8412480" cy="0"/>
          </a:xfrm>
          <a:prstGeom prst="line">
            <a:avLst/>
          </a:prstGeom>
          <a:noFill/>
          <a:ln w="6350">
            <a:solidFill>
              <a:srgbClr val="64748B"/>
            </a:solidFill>
            <a:prstDash val="solid"/>
          </a:ln>
        </p:spPr>
      </p:sp>
      <p:pic>
        <p:nvPicPr>
          <p:cNvPr id="4" name="Image 0" descr="preencoded.png"/>
          <p:cNvPicPr>
            <a:picLocks noChangeAspect="1"/>
          </p:cNvPicPr>
          <p:nvPr/>
        </p:nvPicPr>
        <p:blipFill>
          <a:blip r:embed="rId3"/>
          <a:stretch>
            <a:fillRect/>
          </a:stretch>
        </p:blipFill>
        <p:spPr>
          <a:xfrm>
            <a:off x="7680960" y="164592"/>
            <a:ext cx="1188720" cy="265176"/>
          </a:xfrm>
          <a:prstGeom prst="rect">
            <a:avLst/>
          </a:prstGeom>
        </p:spPr>
      </p:pic>
      <p:sp>
        <p:nvSpPr>
          <p:cNvPr id="5" name="Shape 2"/>
          <p:cNvSpPr/>
          <p:nvPr/>
        </p:nvSpPr>
        <p:spPr>
          <a:xfrm>
            <a:off x="0" y="4869180"/>
            <a:ext cx="9144000" cy="274320"/>
          </a:xfrm>
          <a:prstGeom prst="rect">
            <a:avLst/>
          </a:prstGeom>
          <a:solidFill>
            <a:srgbClr val="1CADE4"/>
          </a:solidFill>
          <a:ln/>
        </p:spPr>
      </p:sp>
      <p:sp>
        <p:nvSpPr>
          <p:cNvPr id="6" name="Text 3"/>
          <p:cNvSpPr/>
          <p:nvPr/>
        </p:nvSpPr>
        <p:spPr>
          <a:xfrm>
            <a:off x="457200" y="4869180"/>
            <a:ext cx="82296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Meiryo UI" pitchFamily="34" charset="0"/>
                <a:ea typeface="Meiryo UI" pitchFamily="34" charset="-122"/>
                <a:cs typeface="Meiryo UI" pitchFamily="34" charset="-120"/>
              </a:rPr>
              <a:t>Copyright© 2002-2026 SAGBRAIN Corp. All rights reserved.</a:t>
            </a:r>
            <a:endParaRPr lang="en-US" sz="900" dirty="0"/>
          </a:p>
        </p:txBody>
      </p:sp>
      <p:sp>
        <p:nvSpPr>
          <p:cNvPr id="7" name="Text 4"/>
          <p:cNvSpPr/>
          <p:nvPr/>
        </p:nvSpPr>
        <p:spPr>
          <a:xfrm>
            <a:off x="8503920" y="4869180"/>
            <a:ext cx="502920" cy="274320"/>
          </a:xfrm>
          <a:prstGeom prst="rect">
            <a:avLst/>
          </a:prstGeom>
          <a:noFill/>
          <a:ln/>
        </p:spPr>
        <p:txBody>
          <a:bodyPr wrap="square" lIns="0" tIns="0" rIns="0" bIns="0" rtlCol="0" anchor="ctr"/>
          <a:lstStyle/>
          <a:p>
            <a:pPr marL="0" indent="0" algn="r">
              <a:buNone/>
            </a:pPr>
            <a:r>
              <a:rPr lang="en-US" sz="1000" b="1" dirty="0">
                <a:solidFill>
                  <a:srgbClr val="FFFFFF"/>
                </a:solidFill>
                <a:latin typeface="Meiryo UI" pitchFamily="34" charset="0"/>
                <a:ea typeface="Meiryo UI" pitchFamily="34" charset="-122"/>
                <a:cs typeface="Meiryo UI" pitchFamily="34" charset="-120"/>
              </a:rPr>
              <a:t>3</a:t>
            </a:r>
            <a:endParaRPr lang="en-US" sz="1000" dirty="0"/>
          </a:p>
        </p:txBody>
      </p:sp>
      <p:sp>
        <p:nvSpPr>
          <p:cNvPr id="8" name="Text 5"/>
          <p:cNvSpPr/>
          <p:nvPr/>
        </p:nvSpPr>
        <p:spPr>
          <a:xfrm>
            <a:off x="365760" y="1097280"/>
            <a:ext cx="4572000" cy="292608"/>
          </a:xfrm>
          <a:prstGeom prst="rect">
            <a:avLst/>
          </a:prstGeom>
          <a:noFill/>
          <a:ln/>
        </p:spPr>
        <p:txBody>
          <a:bodyPr wrap="square" lIns="0" tIns="0" rIns="0" bIns="0" rtlCol="0" anchor="ctr"/>
          <a:lstStyle/>
          <a:p>
            <a:pPr marL="0" indent="0">
              <a:buNone/>
            </a:pPr>
            <a:r>
              <a:rPr lang="en-US" sz="1300" b="1" dirty="0">
                <a:solidFill>
                  <a:srgbClr val="1E3A5F"/>
                </a:solidFill>
                <a:latin typeface="Meiryo UI" pitchFamily="34" charset="0"/>
                <a:ea typeface="Meiryo UI" pitchFamily="34" charset="-122"/>
                <a:cs typeface="Meiryo UI" pitchFamily="34" charset="-120"/>
              </a:rPr>
              <a:t>受注チャネルは、顧客ごとに多岐にわたる。</a:t>
            </a:r>
            <a:endParaRPr lang="en-US" sz="1300" dirty="0"/>
          </a:p>
        </p:txBody>
      </p:sp>
      <p:sp>
        <p:nvSpPr>
          <p:cNvPr id="9" name="Shape 6"/>
          <p:cNvSpPr/>
          <p:nvPr/>
        </p:nvSpPr>
        <p:spPr>
          <a:xfrm>
            <a:off x="411480" y="1545336"/>
            <a:ext cx="182880" cy="182880"/>
          </a:xfrm>
          <a:prstGeom prst="ellipse">
            <a:avLst/>
          </a:prstGeom>
          <a:solidFill>
            <a:srgbClr val="2563EB"/>
          </a:solidFill>
          <a:ln/>
        </p:spPr>
      </p:sp>
      <p:sp>
        <p:nvSpPr>
          <p:cNvPr id="10" name="Text 7"/>
          <p:cNvSpPr/>
          <p:nvPr/>
        </p:nvSpPr>
        <p:spPr>
          <a:xfrm>
            <a:off x="731520" y="1508760"/>
            <a:ext cx="4114800" cy="274320"/>
          </a:xfrm>
          <a:prstGeom prst="rect">
            <a:avLst/>
          </a:prstGeom>
          <a:noFill/>
          <a:ln/>
        </p:spPr>
        <p:txBody>
          <a:bodyPr wrap="square" lIns="0" tIns="0" rIns="0" bIns="0" rtlCol="0" anchor="ctr"/>
          <a:lstStyle/>
          <a:p>
            <a:pPr marL="0" indent="0">
              <a:buNone/>
            </a:pPr>
            <a:r>
              <a:rPr lang="en-US" sz="1200" dirty="0">
                <a:solidFill>
                  <a:srgbClr val="1F2937"/>
                </a:solidFill>
                <a:latin typeface="Meiryo UI" pitchFamily="34" charset="0"/>
                <a:ea typeface="Meiryo UI" pitchFamily="34" charset="-122"/>
                <a:cs typeface="Meiryo UI" pitchFamily="34" charset="-120"/>
              </a:rPr>
              <a:t>電話・口頭での発注</a:t>
            </a:r>
            <a:endParaRPr lang="en-US" sz="1200" dirty="0"/>
          </a:p>
        </p:txBody>
      </p:sp>
      <p:sp>
        <p:nvSpPr>
          <p:cNvPr id="11" name="Shape 8"/>
          <p:cNvSpPr/>
          <p:nvPr/>
        </p:nvSpPr>
        <p:spPr>
          <a:xfrm>
            <a:off x="411480" y="1874520"/>
            <a:ext cx="182880" cy="182880"/>
          </a:xfrm>
          <a:prstGeom prst="ellipse">
            <a:avLst/>
          </a:prstGeom>
          <a:solidFill>
            <a:srgbClr val="2563EB"/>
          </a:solidFill>
          <a:ln/>
        </p:spPr>
      </p:sp>
      <p:sp>
        <p:nvSpPr>
          <p:cNvPr id="12" name="Text 9"/>
          <p:cNvSpPr/>
          <p:nvPr/>
        </p:nvSpPr>
        <p:spPr>
          <a:xfrm>
            <a:off x="731520" y="1837944"/>
            <a:ext cx="4114800" cy="274320"/>
          </a:xfrm>
          <a:prstGeom prst="rect">
            <a:avLst/>
          </a:prstGeom>
          <a:noFill/>
          <a:ln/>
        </p:spPr>
        <p:txBody>
          <a:bodyPr wrap="square" lIns="0" tIns="0" rIns="0" bIns="0" rtlCol="0" anchor="ctr"/>
          <a:lstStyle/>
          <a:p>
            <a:pPr marL="0" indent="0">
              <a:buNone/>
            </a:pPr>
            <a:r>
              <a:rPr lang="en-US" sz="1200" dirty="0">
                <a:solidFill>
                  <a:srgbClr val="1F2937"/>
                </a:solidFill>
                <a:latin typeface="Meiryo UI" pitchFamily="34" charset="0"/>
                <a:ea typeface="Meiryo UI" pitchFamily="34" charset="-122"/>
                <a:cs typeface="Meiryo UI" pitchFamily="34" charset="-120"/>
              </a:rPr>
              <a:t>FAX（見積書を書き換えた注文書 など）</a:t>
            </a:r>
            <a:endParaRPr lang="en-US" sz="1200" dirty="0"/>
          </a:p>
        </p:txBody>
      </p:sp>
      <p:sp>
        <p:nvSpPr>
          <p:cNvPr id="13" name="Shape 10"/>
          <p:cNvSpPr/>
          <p:nvPr/>
        </p:nvSpPr>
        <p:spPr>
          <a:xfrm>
            <a:off x="411480" y="2203704"/>
            <a:ext cx="182880" cy="182880"/>
          </a:xfrm>
          <a:prstGeom prst="ellipse">
            <a:avLst/>
          </a:prstGeom>
          <a:solidFill>
            <a:srgbClr val="2563EB"/>
          </a:solidFill>
          <a:ln/>
        </p:spPr>
      </p:sp>
      <p:sp>
        <p:nvSpPr>
          <p:cNvPr id="14" name="Text 11"/>
          <p:cNvSpPr/>
          <p:nvPr/>
        </p:nvSpPr>
        <p:spPr>
          <a:xfrm>
            <a:off x="731520" y="2167128"/>
            <a:ext cx="4114800" cy="274320"/>
          </a:xfrm>
          <a:prstGeom prst="rect">
            <a:avLst/>
          </a:prstGeom>
          <a:noFill/>
          <a:ln/>
        </p:spPr>
        <p:txBody>
          <a:bodyPr wrap="square" lIns="0" tIns="0" rIns="0" bIns="0" rtlCol="0" anchor="ctr"/>
          <a:lstStyle/>
          <a:p>
            <a:pPr marL="0" indent="0">
              <a:buNone/>
            </a:pPr>
            <a:r>
              <a:rPr lang="en-US" sz="1200" dirty="0">
                <a:solidFill>
                  <a:srgbClr val="1F2937"/>
                </a:solidFill>
                <a:latin typeface="Meiryo UI" pitchFamily="34" charset="0"/>
                <a:ea typeface="Meiryo UI" pitchFamily="34" charset="-122"/>
                <a:cs typeface="Meiryo UI" pitchFamily="34" charset="-120"/>
              </a:rPr>
              <a:t>メール（やり取りの末の発注）</a:t>
            </a:r>
            <a:endParaRPr lang="en-US" sz="1200" dirty="0"/>
          </a:p>
        </p:txBody>
      </p:sp>
      <p:sp>
        <p:nvSpPr>
          <p:cNvPr id="15" name="Shape 12"/>
          <p:cNvSpPr/>
          <p:nvPr/>
        </p:nvSpPr>
        <p:spPr>
          <a:xfrm>
            <a:off x="411480" y="2532888"/>
            <a:ext cx="182880" cy="182880"/>
          </a:xfrm>
          <a:prstGeom prst="ellipse">
            <a:avLst/>
          </a:prstGeom>
          <a:solidFill>
            <a:srgbClr val="2563EB"/>
          </a:solidFill>
          <a:ln/>
        </p:spPr>
      </p:sp>
      <p:sp>
        <p:nvSpPr>
          <p:cNvPr id="16" name="Text 13"/>
          <p:cNvSpPr/>
          <p:nvPr/>
        </p:nvSpPr>
        <p:spPr>
          <a:xfrm>
            <a:off x="731520" y="2496312"/>
            <a:ext cx="4114800" cy="274320"/>
          </a:xfrm>
          <a:prstGeom prst="rect">
            <a:avLst/>
          </a:prstGeom>
          <a:noFill/>
          <a:ln/>
        </p:spPr>
        <p:txBody>
          <a:bodyPr wrap="square" lIns="0" tIns="0" rIns="0" bIns="0" rtlCol="0" anchor="ctr"/>
          <a:lstStyle/>
          <a:p>
            <a:pPr marL="0" indent="0">
              <a:buNone/>
            </a:pPr>
            <a:r>
              <a:rPr lang="en-US" sz="1200" dirty="0">
                <a:solidFill>
                  <a:srgbClr val="1F2937"/>
                </a:solidFill>
                <a:latin typeface="Meiryo UI" pitchFamily="34" charset="0"/>
                <a:ea typeface="Meiryo UI" pitchFamily="34" charset="-122"/>
                <a:cs typeface="Meiryo UI" pitchFamily="34" charset="-120"/>
              </a:rPr>
              <a:t>顧客書式の注文書</a:t>
            </a:r>
            <a:endParaRPr lang="en-US" sz="1200" dirty="0"/>
          </a:p>
        </p:txBody>
      </p:sp>
      <p:sp>
        <p:nvSpPr>
          <p:cNvPr id="17" name="Shape 14"/>
          <p:cNvSpPr/>
          <p:nvPr/>
        </p:nvSpPr>
        <p:spPr>
          <a:xfrm>
            <a:off x="411480" y="2862072"/>
            <a:ext cx="182880" cy="182880"/>
          </a:xfrm>
          <a:prstGeom prst="ellipse">
            <a:avLst/>
          </a:prstGeom>
          <a:solidFill>
            <a:srgbClr val="2563EB"/>
          </a:solidFill>
          <a:ln/>
        </p:spPr>
      </p:sp>
      <p:sp>
        <p:nvSpPr>
          <p:cNvPr id="18" name="Text 15"/>
          <p:cNvSpPr/>
          <p:nvPr/>
        </p:nvSpPr>
        <p:spPr>
          <a:xfrm>
            <a:off x="731520" y="2825496"/>
            <a:ext cx="4114800" cy="274320"/>
          </a:xfrm>
          <a:prstGeom prst="rect">
            <a:avLst/>
          </a:prstGeom>
          <a:noFill/>
          <a:ln/>
        </p:spPr>
        <p:txBody>
          <a:bodyPr wrap="square" lIns="0" tIns="0" rIns="0" bIns="0" rtlCol="0" anchor="ctr"/>
          <a:lstStyle/>
          <a:p>
            <a:pPr marL="0" indent="0">
              <a:buNone/>
            </a:pPr>
            <a:r>
              <a:rPr lang="en-US" sz="1200" dirty="0">
                <a:solidFill>
                  <a:srgbClr val="1F2937"/>
                </a:solidFill>
                <a:latin typeface="Meiryo UI" pitchFamily="34" charset="0"/>
                <a:ea typeface="Meiryo UI" pitchFamily="34" charset="-122"/>
                <a:cs typeface="Meiryo UI" pitchFamily="34" charset="-120"/>
              </a:rPr>
              <a:t>購買システム連携／独自Web</a:t>
            </a:r>
            <a:endParaRPr lang="en-US" sz="1200" dirty="0"/>
          </a:p>
        </p:txBody>
      </p:sp>
      <p:sp>
        <p:nvSpPr>
          <p:cNvPr id="19" name="Shape 16"/>
          <p:cNvSpPr/>
          <p:nvPr/>
        </p:nvSpPr>
        <p:spPr>
          <a:xfrm>
            <a:off x="411480" y="3191256"/>
            <a:ext cx="182880" cy="182880"/>
          </a:xfrm>
          <a:prstGeom prst="ellipse">
            <a:avLst/>
          </a:prstGeom>
          <a:solidFill>
            <a:srgbClr val="2563EB"/>
          </a:solidFill>
          <a:ln/>
        </p:spPr>
      </p:sp>
      <p:sp>
        <p:nvSpPr>
          <p:cNvPr id="20" name="Text 17"/>
          <p:cNvSpPr/>
          <p:nvPr/>
        </p:nvSpPr>
        <p:spPr>
          <a:xfrm>
            <a:off x="731520" y="3154680"/>
            <a:ext cx="4114800" cy="274320"/>
          </a:xfrm>
          <a:prstGeom prst="rect">
            <a:avLst/>
          </a:prstGeom>
          <a:noFill/>
          <a:ln/>
        </p:spPr>
        <p:txBody>
          <a:bodyPr wrap="square" lIns="0" tIns="0" rIns="0" bIns="0" rtlCol="0" anchor="ctr"/>
          <a:lstStyle/>
          <a:p>
            <a:pPr marL="0" indent="0">
              <a:buNone/>
            </a:pPr>
            <a:r>
              <a:rPr lang="en-US" sz="1200" dirty="0">
                <a:solidFill>
                  <a:srgbClr val="1F2937"/>
                </a:solidFill>
                <a:latin typeface="Meiryo UI" pitchFamily="34" charset="0"/>
                <a:ea typeface="Meiryo UI" pitchFamily="34" charset="-122"/>
                <a:cs typeface="Meiryo UI" pitchFamily="34" charset="-120"/>
              </a:rPr>
              <a:t>EDI接続</a:t>
            </a:r>
            <a:endParaRPr lang="en-US" sz="1200" dirty="0"/>
          </a:p>
        </p:txBody>
      </p:sp>
      <p:sp>
        <p:nvSpPr>
          <p:cNvPr id="21" name="Shape 18"/>
          <p:cNvSpPr/>
          <p:nvPr/>
        </p:nvSpPr>
        <p:spPr>
          <a:xfrm>
            <a:off x="365760" y="3474720"/>
            <a:ext cx="4434840" cy="1188720"/>
          </a:xfrm>
          <a:prstGeom prst="rect">
            <a:avLst/>
          </a:prstGeom>
          <a:solidFill>
            <a:srgbClr val="EFF6FF"/>
          </a:solidFill>
          <a:ln w="9525">
            <a:solidFill>
              <a:srgbClr val="E2E8F0"/>
            </a:solidFill>
            <a:prstDash val="solid"/>
          </a:ln>
        </p:spPr>
      </p:sp>
      <p:sp>
        <p:nvSpPr>
          <p:cNvPr id="22" name="Text 19"/>
          <p:cNvSpPr/>
          <p:nvPr/>
        </p:nvSpPr>
        <p:spPr>
          <a:xfrm>
            <a:off x="548640" y="3529584"/>
            <a:ext cx="4114800" cy="256032"/>
          </a:xfrm>
          <a:prstGeom prst="rect">
            <a:avLst/>
          </a:prstGeom>
          <a:noFill/>
          <a:ln/>
        </p:spPr>
        <p:txBody>
          <a:bodyPr wrap="square" lIns="0" tIns="0" rIns="0" bIns="0" rtlCol="0" anchor="ctr"/>
          <a:lstStyle/>
          <a:p>
            <a:pPr marL="0" indent="0">
              <a:buNone/>
            </a:pPr>
            <a:r>
              <a:rPr lang="en-US" sz="1100" b="1" dirty="0">
                <a:solidFill>
                  <a:srgbClr val="2563EB"/>
                </a:solidFill>
                <a:latin typeface="Meiryo UI" pitchFamily="34" charset="0"/>
                <a:ea typeface="Meiryo UI" pitchFamily="34" charset="-122"/>
                <a:cs typeface="Meiryo UI" pitchFamily="34" charset="-120"/>
              </a:rPr>
              <a:t>起きやすい問題</a:t>
            </a:r>
            <a:endParaRPr lang="en-US" sz="1100" dirty="0"/>
          </a:p>
        </p:txBody>
      </p:sp>
      <p:sp>
        <p:nvSpPr>
          <p:cNvPr id="23" name="Text 20"/>
          <p:cNvSpPr/>
          <p:nvPr/>
        </p:nvSpPr>
        <p:spPr>
          <a:xfrm>
            <a:off x="594360" y="3749040"/>
            <a:ext cx="4114800" cy="868680"/>
          </a:xfrm>
          <a:prstGeom prst="rect">
            <a:avLst/>
          </a:prstGeom>
          <a:noFill/>
          <a:ln/>
        </p:spPr>
        <p:txBody>
          <a:bodyPr wrap="square" rtlCol="0" anchor="ctr"/>
          <a:lstStyle/>
          <a:p>
            <a:pPr marL="342900" indent="-342900">
              <a:spcAft>
                <a:spcPts val="300"/>
              </a:spcAft>
              <a:buSzPct val="100000"/>
              <a:buChar char="•"/>
            </a:pPr>
            <a:r>
              <a:rPr lang="en-US" sz="1050" dirty="0">
                <a:solidFill>
                  <a:srgbClr val="1F2937"/>
                </a:solidFill>
                <a:latin typeface="Meiryo UI" pitchFamily="34" charset="0"/>
                <a:ea typeface="Meiryo UI" pitchFamily="34" charset="-122"/>
                <a:cs typeface="Meiryo UI" pitchFamily="34" charset="-120"/>
              </a:rPr>
              <a:t>転記ミス：チャネル別の手入力により品番・数量の取り違えが起きやすい</a:t>
            </a:r>
            <a:endParaRPr lang="en-US" sz="1050" dirty="0"/>
          </a:p>
          <a:p>
            <a:pPr marL="342900" indent="-342900">
              <a:spcAft>
                <a:spcPts val="300"/>
              </a:spcAft>
              <a:buSzPct val="100000"/>
              <a:buChar char="•"/>
            </a:pPr>
            <a:r>
              <a:rPr lang="en-US" sz="1050" dirty="0">
                <a:solidFill>
                  <a:srgbClr val="1F2937"/>
                </a:solidFill>
                <a:latin typeface="Meiryo UI" pitchFamily="34" charset="0"/>
                <a:ea typeface="Meiryo UI" pitchFamily="34" charset="-122"/>
                <a:cs typeface="Meiryo UI" pitchFamily="34" charset="-120"/>
              </a:rPr>
              <a:t>属人化：受け方を熟知した特定担当者に負荷が偏りやすい</a:t>
            </a:r>
            <a:endParaRPr lang="en-US" sz="1050" dirty="0"/>
          </a:p>
          <a:p>
            <a:pPr marL="342900" indent="-342900">
              <a:spcAft>
                <a:spcPts val="300"/>
              </a:spcAft>
              <a:buSzPct val="100000"/>
              <a:buChar char="•"/>
            </a:pPr>
            <a:r>
              <a:rPr lang="en-US" sz="1050" dirty="0">
                <a:solidFill>
                  <a:srgbClr val="1F2937"/>
                </a:solidFill>
                <a:latin typeface="Meiryo UI" pitchFamily="34" charset="0"/>
                <a:ea typeface="Meiryo UI" pitchFamily="34" charset="-122"/>
                <a:cs typeface="Meiryo UI" pitchFamily="34" charset="-120"/>
              </a:rPr>
              <a:t>納期回答の遅延：基幹に入力されるまで状況が見えにくい</a:t>
            </a:r>
            <a:endParaRPr lang="en-US" sz="1050" dirty="0"/>
          </a:p>
        </p:txBody>
      </p:sp>
      <p:sp>
        <p:nvSpPr>
          <p:cNvPr id="24" name="Shape 21"/>
          <p:cNvSpPr/>
          <p:nvPr/>
        </p:nvSpPr>
        <p:spPr>
          <a:xfrm>
            <a:off x="4983480" y="1481328"/>
            <a:ext cx="3794760" cy="3200400"/>
          </a:xfrm>
          <a:prstGeom prst="rect">
            <a:avLst/>
          </a:prstGeom>
          <a:solidFill>
            <a:srgbClr val="F8FAFC"/>
          </a:solidFill>
          <a:ln w="12700">
            <a:solidFill>
              <a:srgbClr val="E2E8F0"/>
            </a:solidFill>
            <a:prstDash val="solid"/>
          </a:ln>
        </p:spPr>
      </p:sp>
      <p:sp>
        <p:nvSpPr>
          <p:cNvPr id="25" name="Text 22"/>
          <p:cNvSpPr/>
          <p:nvPr/>
        </p:nvSpPr>
        <p:spPr>
          <a:xfrm>
            <a:off x="5120640" y="1572768"/>
            <a:ext cx="3520440" cy="274320"/>
          </a:xfrm>
          <a:prstGeom prst="rect">
            <a:avLst/>
          </a:prstGeom>
          <a:noFill/>
          <a:ln/>
        </p:spPr>
        <p:txBody>
          <a:bodyPr wrap="square" lIns="0" tIns="0" rIns="0" bIns="0" rtlCol="0" anchor="ctr"/>
          <a:lstStyle/>
          <a:p>
            <a:pPr marL="0" indent="0">
              <a:buNone/>
            </a:pPr>
            <a:r>
              <a:rPr lang="en-US" sz="1100" b="1" dirty="0">
                <a:solidFill>
                  <a:srgbClr val="1E3A5F"/>
                </a:solidFill>
                <a:latin typeface="Meiryo UI" pitchFamily="34" charset="0"/>
                <a:ea typeface="Meiryo UI" pitchFamily="34" charset="-122"/>
                <a:cs typeface="Meiryo UI" pitchFamily="34" charset="-120"/>
              </a:rPr>
              <a:t>受注の現状（イメージ）</a:t>
            </a:r>
            <a:endParaRPr lang="en-US" sz="1100" dirty="0"/>
          </a:p>
        </p:txBody>
      </p:sp>
      <p:sp>
        <p:nvSpPr>
          <p:cNvPr id="26" name="Shape 23"/>
          <p:cNvSpPr/>
          <p:nvPr/>
        </p:nvSpPr>
        <p:spPr>
          <a:xfrm>
            <a:off x="5166360" y="1984248"/>
            <a:ext cx="914400" cy="411480"/>
          </a:xfrm>
          <a:prstGeom prst="rect">
            <a:avLst/>
          </a:prstGeom>
          <a:solidFill>
            <a:srgbClr val="FFFFFF"/>
          </a:solidFill>
          <a:ln w="6350">
            <a:solidFill>
              <a:srgbClr val="64748B"/>
            </a:solidFill>
            <a:prstDash val="solid"/>
          </a:ln>
        </p:spPr>
      </p:sp>
      <p:sp>
        <p:nvSpPr>
          <p:cNvPr id="27" name="Text 24"/>
          <p:cNvSpPr/>
          <p:nvPr/>
        </p:nvSpPr>
        <p:spPr>
          <a:xfrm>
            <a:off x="5166360" y="1984248"/>
            <a:ext cx="914400" cy="411480"/>
          </a:xfrm>
          <a:prstGeom prst="rect">
            <a:avLst/>
          </a:prstGeom>
          <a:noFill/>
          <a:ln/>
        </p:spPr>
        <p:txBody>
          <a:bodyPr wrap="square" lIns="0" tIns="0" rIns="0" bIns="0" rtlCol="0" anchor="ctr"/>
          <a:lstStyle/>
          <a:p>
            <a:pPr marL="0" indent="0" algn="ctr">
              <a:buNone/>
            </a:pPr>
            <a:r>
              <a:rPr lang="en-US" sz="800" dirty="0">
                <a:solidFill>
                  <a:srgbClr val="1F2937"/>
                </a:solidFill>
                <a:latin typeface="Meiryo UI" pitchFamily="34" charset="0"/>
                <a:ea typeface="Meiryo UI" pitchFamily="34" charset="-122"/>
                <a:cs typeface="Meiryo UI" pitchFamily="34" charset="-120"/>
              </a:rPr>
              <a:t>顧客A</a:t>
            </a:r>
            <a:endParaRPr lang="en-US" sz="800" dirty="0"/>
          </a:p>
          <a:p>
            <a:pPr marL="0" indent="0" algn="ctr">
              <a:buNone/>
            </a:pPr>
            <a:r>
              <a:rPr lang="en-US" sz="800" dirty="0">
                <a:solidFill>
                  <a:srgbClr val="1F2937"/>
                </a:solidFill>
                <a:latin typeface="Meiryo UI" pitchFamily="34" charset="0"/>
                <a:ea typeface="Meiryo UI" pitchFamily="34" charset="-122"/>
                <a:cs typeface="Meiryo UI" pitchFamily="34" charset="-120"/>
              </a:rPr>
              <a:t>(電話)</a:t>
            </a:r>
            <a:endParaRPr lang="en-US" sz="800" dirty="0"/>
          </a:p>
        </p:txBody>
      </p:sp>
      <p:sp>
        <p:nvSpPr>
          <p:cNvPr id="28" name="Shape 25"/>
          <p:cNvSpPr/>
          <p:nvPr/>
        </p:nvSpPr>
        <p:spPr>
          <a:xfrm>
            <a:off x="5166360" y="2487168"/>
            <a:ext cx="914400" cy="411480"/>
          </a:xfrm>
          <a:prstGeom prst="rect">
            <a:avLst/>
          </a:prstGeom>
          <a:solidFill>
            <a:srgbClr val="FFFFFF"/>
          </a:solidFill>
          <a:ln w="6350">
            <a:solidFill>
              <a:srgbClr val="64748B"/>
            </a:solidFill>
            <a:prstDash val="solid"/>
          </a:ln>
        </p:spPr>
      </p:sp>
      <p:sp>
        <p:nvSpPr>
          <p:cNvPr id="29" name="Text 26"/>
          <p:cNvSpPr/>
          <p:nvPr/>
        </p:nvSpPr>
        <p:spPr>
          <a:xfrm>
            <a:off x="5166360" y="2487168"/>
            <a:ext cx="914400" cy="411480"/>
          </a:xfrm>
          <a:prstGeom prst="rect">
            <a:avLst/>
          </a:prstGeom>
          <a:noFill/>
          <a:ln/>
        </p:spPr>
        <p:txBody>
          <a:bodyPr wrap="square" lIns="0" tIns="0" rIns="0" bIns="0" rtlCol="0" anchor="ctr"/>
          <a:lstStyle/>
          <a:p>
            <a:pPr marL="0" indent="0" algn="ctr">
              <a:buNone/>
            </a:pPr>
            <a:r>
              <a:rPr lang="en-US" sz="800" dirty="0">
                <a:solidFill>
                  <a:srgbClr val="1F2937"/>
                </a:solidFill>
                <a:latin typeface="Meiryo UI" pitchFamily="34" charset="0"/>
                <a:ea typeface="Meiryo UI" pitchFamily="34" charset="-122"/>
                <a:cs typeface="Meiryo UI" pitchFamily="34" charset="-120"/>
              </a:rPr>
              <a:t>顧客B</a:t>
            </a:r>
            <a:endParaRPr lang="en-US" sz="800" dirty="0"/>
          </a:p>
          <a:p>
            <a:pPr marL="0" indent="0" algn="ctr">
              <a:buNone/>
            </a:pPr>
            <a:r>
              <a:rPr lang="en-US" sz="800" dirty="0">
                <a:solidFill>
                  <a:srgbClr val="1F2937"/>
                </a:solidFill>
                <a:latin typeface="Meiryo UI" pitchFamily="34" charset="0"/>
                <a:ea typeface="Meiryo UI" pitchFamily="34" charset="-122"/>
                <a:cs typeface="Meiryo UI" pitchFamily="34" charset="-120"/>
              </a:rPr>
              <a:t>(FAX)</a:t>
            </a:r>
            <a:endParaRPr lang="en-US" sz="800" dirty="0"/>
          </a:p>
        </p:txBody>
      </p:sp>
      <p:sp>
        <p:nvSpPr>
          <p:cNvPr id="30" name="Shape 27"/>
          <p:cNvSpPr/>
          <p:nvPr/>
        </p:nvSpPr>
        <p:spPr>
          <a:xfrm>
            <a:off x="5166360" y="2990088"/>
            <a:ext cx="914400" cy="411480"/>
          </a:xfrm>
          <a:prstGeom prst="rect">
            <a:avLst/>
          </a:prstGeom>
          <a:solidFill>
            <a:srgbClr val="FFFFFF"/>
          </a:solidFill>
          <a:ln w="6350">
            <a:solidFill>
              <a:srgbClr val="64748B"/>
            </a:solidFill>
            <a:prstDash val="solid"/>
          </a:ln>
        </p:spPr>
      </p:sp>
      <p:sp>
        <p:nvSpPr>
          <p:cNvPr id="31" name="Text 28"/>
          <p:cNvSpPr/>
          <p:nvPr/>
        </p:nvSpPr>
        <p:spPr>
          <a:xfrm>
            <a:off x="5166360" y="2990088"/>
            <a:ext cx="914400" cy="411480"/>
          </a:xfrm>
          <a:prstGeom prst="rect">
            <a:avLst/>
          </a:prstGeom>
          <a:noFill/>
          <a:ln/>
        </p:spPr>
        <p:txBody>
          <a:bodyPr wrap="square" lIns="0" tIns="0" rIns="0" bIns="0" rtlCol="0" anchor="ctr"/>
          <a:lstStyle/>
          <a:p>
            <a:pPr marL="0" indent="0" algn="ctr">
              <a:buNone/>
            </a:pPr>
            <a:r>
              <a:rPr lang="en-US" sz="800" dirty="0">
                <a:solidFill>
                  <a:srgbClr val="1F2937"/>
                </a:solidFill>
                <a:latin typeface="Meiryo UI" pitchFamily="34" charset="0"/>
                <a:ea typeface="Meiryo UI" pitchFamily="34" charset="-122"/>
                <a:cs typeface="Meiryo UI" pitchFamily="34" charset="-120"/>
              </a:rPr>
              <a:t>顧客C</a:t>
            </a:r>
            <a:endParaRPr lang="en-US" sz="800" dirty="0"/>
          </a:p>
          <a:p>
            <a:pPr marL="0" indent="0" algn="ctr">
              <a:buNone/>
            </a:pPr>
            <a:r>
              <a:rPr lang="en-US" sz="800" dirty="0">
                <a:solidFill>
                  <a:srgbClr val="1F2937"/>
                </a:solidFill>
                <a:latin typeface="Meiryo UI" pitchFamily="34" charset="0"/>
                <a:ea typeface="Meiryo UI" pitchFamily="34" charset="-122"/>
                <a:cs typeface="Meiryo UI" pitchFamily="34" charset="-120"/>
              </a:rPr>
              <a:t>(メール)</a:t>
            </a:r>
            <a:endParaRPr lang="en-US" sz="800" dirty="0"/>
          </a:p>
        </p:txBody>
      </p:sp>
      <p:sp>
        <p:nvSpPr>
          <p:cNvPr id="32" name="Shape 29"/>
          <p:cNvSpPr/>
          <p:nvPr/>
        </p:nvSpPr>
        <p:spPr>
          <a:xfrm>
            <a:off x="5166360" y="3493008"/>
            <a:ext cx="914400" cy="411480"/>
          </a:xfrm>
          <a:prstGeom prst="rect">
            <a:avLst/>
          </a:prstGeom>
          <a:solidFill>
            <a:srgbClr val="FFFFFF"/>
          </a:solidFill>
          <a:ln w="6350">
            <a:solidFill>
              <a:srgbClr val="64748B"/>
            </a:solidFill>
            <a:prstDash val="solid"/>
          </a:ln>
        </p:spPr>
      </p:sp>
      <p:sp>
        <p:nvSpPr>
          <p:cNvPr id="33" name="Text 30"/>
          <p:cNvSpPr/>
          <p:nvPr/>
        </p:nvSpPr>
        <p:spPr>
          <a:xfrm>
            <a:off x="5166360" y="3493008"/>
            <a:ext cx="914400" cy="411480"/>
          </a:xfrm>
          <a:prstGeom prst="rect">
            <a:avLst/>
          </a:prstGeom>
          <a:noFill/>
          <a:ln/>
        </p:spPr>
        <p:txBody>
          <a:bodyPr wrap="square" lIns="0" tIns="0" rIns="0" bIns="0" rtlCol="0" anchor="ctr"/>
          <a:lstStyle/>
          <a:p>
            <a:pPr marL="0" indent="0" algn="ctr">
              <a:buNone/>
            </a:pPr>
            <a:r>
              <a:rPr lang="en-US" sz="800" dirty="0">
                <a:solidFill>
                  <a:srgbClr val="1F2937"/>
                </a:solidFill>
                <a:latin typeface="Meiryo UI" pitchFamily="34" charset="0"/>
                <a:ea typeface="Meiryo UI" pitchFamily="34" charset="-122"/>
                <a:cs typeface="Meiryo UI" pitchFamily="34" charset="-120"/>
              </a:rPr>
              <a:t>顧客D</a:t>
            </a:r>
            <a:endParaRPr lang="en-US" sz="800" dirty="0"/>
          </a:p>
          <a:p>
            <a:pPr marL="0" indent="0" algn="ctr">
              <a:buNone/>
            </a:pPr>
            <a:r>
              <a:rPr lang="en-US" sz="800" dirty="0">
                <a:solidFill>
                  <a:srgbClr val="1F2937"/>
                </a:solidFill>
                <a:latin typeface="Meiryo UI" pitchFamily="34" charset="0"/>
                <a:ea typeface="Meiryo UI" pitchFamily="34" charset="-122"/>
                <a:cs typeface="Meiryo UI" pitchFamily="34" charset="-120"/>
              </a:rPr>
              <a:t>(独自Web)</a:t>
            </a:r>
            <a:endParaRPr lang="en-US" sz="800" dirty="0"/>
          </a:p>
        </p:txBody>
      </p:sp>
      <p:sp>
        <p:nvSpPr>
          <p:cNvPr id="34" name="Shape 31"/>
          <p:cNvSpPr/>
          <p:nvPr/>
        </p:nvSpPr>
        <p:spPr>
          <a:xfrm>
            <a:off x="5166360" y="3995928"/>
            <a:ext cx="914400" cy="411480"/>
          </a:xfrm>
          <a:prstGeom prst="rect">
            <a:avLst/>
          </a:prstGeom>
          <a:solidFill>
            <a:srgbClr val="FFFFFF"/>
          </a:solidFill>
          <a:ln w="6350">
            <a:solidFill>
              <a:srgbClr val="64748B"/>
            </a:solidFill>
            <a:prstDash val="solid"/>
          </a:ln>
        </p:spPr>
      </p:sp>
      <p:sp>
        <p:nvSpPr>
          <p:cNvPr id="35" name="Text 32"/>
          <p:cNvSpPr/>
          <p:nvPr/>
        </p:nvSpPr>
        <p:spPr>
          <a:xfrm>
            <a:off x="5166360" y="3995928"/>
            <a:ext cx="914400" cy="411480"/>
          </a:xfrm>
          <a:prstGeom prst="rect">
            <a:avLst/>
          </a:prstGeom>
          <a:noFill/>
          <a:ln/>
        </p:spPr>
        <p:txBody>
          <a:bodyPr wrap="square" lIns="0" tIns="0" rIns="0" bIns="0" rtlCol="0" anchor="ctr"/>
          <a:lstStyle/>
          <a:p>
            <a:pPr marL="0" indent="0" algn="ctr">
              <a:buNone/>
            </a:pPr>
            <a:r>
              <a:rPr lang="en-US" sz="800" dirty="0">
                <a:solidFill>
                  <a:srgbClr val="1F2937"/>
                </a:solidFill>
                <a:latin typeface="Meiryo UI" pitchFamily="34" charset="0"/>
                <a:ea typeface="Meiryo UI" pitchFamily="34" charset="-122"/>
                <a:cs typeface="Meiryo UI" pitchFamily="34" charset="-120"/>
              </a:rPr>
              <a:t>顧客E</a:t>
            </a:r>
            <a:endParaRPr lang="en-US" sz="800" dirty="0"/>
          </a:p>
          <a:p>
            <a:pPr marL="0" indent="0" algn="ctr">
              <a:buNone/>
            </a:pPr>
            <a:r>
              <a:rPr lang="en-US" sz="800" dirty="0">
                <a:solidFill>
                  <a:srgbClr val="1F2937"/>
                </a:solidFill>
                <a:latin typeface="Meiryo UI" pitchFamily="34" charset="0"/>
                <a:ea typeface="Meiryo UI" pitchFamily="34" charset="-122"/>
                <a:cs typeface="Meiryo UI" pitchFamily="34" charset="-120"/>
              </a:rPr>
              <a:t>(EDI)</a:t>
            </a:r>
            <a:endParaRPr lang="en-US" sz="800" dirty="0"/>
          </a:p>
        </p:txBody>
      </p:sp>
      <p:sp>
        <p:nvSpPr>
          <p:cNvPr id="36" name="Shape 33"/>
          <p:cNvSpPr/>
          <p:nvPr/>
        </p:nvSpPr>
        <p:spPr>
          <a:xfrm>
            <a:off x="6766560" y="2852928"/>
            <a:ext cx="1005840" cy="777240"/>
          </a:xfrm>
          <a:prstGeom prst="rect">
            <a:avLst/>
          </a:prstGeom>
          <a:solidFill>
            <a:srgbClr val="DC2626"/>
          </a:solidFill>
          <a:ln/>
        </p:spPr>
      </p:sp>
      <p:sp>
        <p:nvSpPr>
          <p:cNvPr id="37" name="Text 34"/>
          <p:cNvSpPr/>
          <p:nvPr/>
        </p:nvSpPr>
        <p:spPr>
          <a:xfrm>
            <a:off x="6766560" y="2852928"/>
            <a:ext cx="1005840" cy="77724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受注担当</a:t>
            </a:r>
            <a:endParaRPr lang="en-US" sz="900" dirty="0"/>
          </a:p>
          <a:p>
            <a:pPr marL="0" indent="0" algn="ctr">
              <a:buNone/>
            </a:pPr>
            <a:r>
              <a:rPr lang="en-US" sz="900" b="1" dirty="0">
                <a:solidFill>
                  <a:srgbClr val="FFFFFF"/>
                </a:solidFill>
                <a:latin typeface="Meiryo UI" pitchFamily="34" charset="0"/>
                <a:ea typeface="Meiryo UI" pitchFamily="34" charset="-122"/>
                <a:cs typeface="Meiryo UI" pitchFamily="34" charset="-120"/>
              </a:rPr>
              <a:t>(手入力)</a:t>
            </a:r>
            <a:endParaRPr lang="en-US" sz="900" dirty="0"/>
          </a:p>
        </p:txBody>
      </p:sp>
      <p:sp>
        <p:nvSpPr>
          <p:cNvPr id="38" name="Shape 35"/>
          <p:cNvSpPr/>
          <p:nvPr/>
        </p:nvSpPr>
        <p:spPr>
          <a:xfrm>
            <a:off x="6080760" y="2189988"/>
            <a:ext cx="411480" cy="0"/>
          </a:xfrm>
          <a:prstGeom prst="line">
            <a:avLst/>
          </a:prstGeom>
          <a:noFill/>
          <a:ln w="12700">
            <a:solidFill>
              <a:srgbClr val="64748B"/>
            </a:solidFill>
            <a:prstDash val="solid"/>
          </a:ln>
        </p:spPr>
      </p:sp>
      <p:sp>
        <p:nvSpPr>
          <p:cNvPr id="39" name="Shape 36"/>
          <p:cNvSpPr/>
          <p:nvPr/>
        </p:nvSpPr>
        <p:spPr>
          <a:xfrm>
            <a:off x="6080760" y="2692908"/>
            <a:ext cx="411480" cy="0"/>
          </a:xfrm>
          <a:prstGeom prst="line">
            <a:avLst/>
          </a:prstGeom>
          <a:noFill/>
          <a:ln w="12700">
            <a:solidFill>
              <a:srgbClr val="64748B"/>
            </a:solidFill>
            <a:prstDash val="solid"/>
          </a:ln>
        </p:spPr>
      </p:sp>
      <p:sp>
        <p:nvSpPr>
          <p:cNvPr id="40" name="Shape 37"/>
          <p:cNvSpPr/>
          <p:nvPr/>
        </p:nvSpPr>
        <p:spPr>
          <a:xfrm>
            <a:off x="6080760" y="3195828"/>
            <a:ext cx="411480" cy="0"/>
          </a:xfrm>
          <a:prstGeom prst="line">
            <a:avLst/>
          </a:prstGeom>
          <a:noFill/>
          <a:ln w="12700">
            <a:solidFill>
              <a:srgbClr val="64748B"/>
            </a:solidFill>
            <a:prstDash val="solid"/>
          </a:ln>
        </p:spPr>
      </p:sp>
      <p:sp>
        <p:nvSpPr>
          <p:cNvPr id="41" name="Shape 38"/>
          <p:cNvSpPr/>
          <p:nvPr/>
        </p:nvSpPr>
        <p:spPr>
          <a:xfrm>
            <a:off x="6080760" y="3698748"/>
            <a:ext cx="411480" cy="0"/>
          </a:xfrm>
          <a:prstGeom prst="line">
            <a:avLst/>
          </a:prstGeom>
          <a:noFill/>
          <a:ln w="12700">
            <a:solidFill>
              <a:srgbClr val="64748B"/>
            </a:solidFill>
            <a:prstDash val="solid"/>
          </a:ln>
        </p:spPr>
      </p:sp>
      <p:sp>
        <p:nvSpPr>
          <p:cNvPr id="42" name="Shape 39"/>
          <p:cNvSpPr/>
          <p:nvPr/>
        </p:nvSpPr>
        <p:spPr>
          <a:xfrm>
            <a:off x="6080760" y="4201668"/>
            <a:ext cx="411480" cy="0"/>
          </a:xfrm>
          <a:prstGeom prst="line">
            <a:avLst/>
          </a:prstGeom>
          <a:noFill/>
          <a:ln w="12700">
            <a:solidFill>
              <a:srgbClr val="64748B"/>
            </a:solidFill>
            <a:prstDash val="solid"/>
          </a:ln>
        </p:spPr>
      </p:sp>
      <p:sp>
        <p:nvSpPr>
          <p:cNvPr id="43" name="Shape 40"/>
          <p:cNvSpPr/>
          <p:nvPr/>
        </p:nvSpPr>
        <p:spPr>
          <a:xfrm>
            <a:off x="6492240" y="2189988"/>
            <a:ext cx="0" cy="2011680"/>
          </a:xfrm>
          <a:prstGeom prst="line">
            <a:avLst/>
          </a:prstGeom>
          <a:noFill/>
          <a:ln w="12700">
            <a:solidFill>
              <a:srgbClr val="64748B"/>
            </a:solidFill>
            <a:prstDash val="solid"/>
          </a:ln>
        </p:spPr>
      </p:sp>
      <p:sp>
        <p:nvSpPr>
          <p:cNvPr id="44" name="Shape 41"/>
          <p:cNvSpPr/>
          <p:nvPr/>
        </p:nvSpPr>
        <p:spPr>
          <a:xfrm>
            <a:off x="6492240" y="3241548"/>
            <a:ext cx="274320" cy="0"/>
          </a:xfrm>
          <a:prstGeom prst="line">
            <a:avLst/>
          </a:prstGeom>
          <a:noFill/>
          <a:ln w="12700">
            <a:solidFill>
              <a:srgbClr val="64748B"/>
            </a:solidFill>
            <a:prstDash val="solid"/>
          </a:ln>
        </p:spPr>
      </p:sp>
      <p:sp>
        <p:nvSpPr>
          <p:cNvPr id="45" name="Shape 42"/>
          <p:cNvSpPr/>
          <p:nvPr/>
        </p:nvSpPr>
        <p:spPr>
          <a:xfrm>
            <a:off x="7772400" y="3236976"/>
            <a:ext cx="411480" cy="0"/>
          </a:xfrm>
          <a:prstGeom prst="line">
            <a:avLst/>
          </a:prstGeom>
          <a:noFill/>
          <a:ln w="12700">
            <a:solidFill>
              <a:srgbClr val="64748B"/>
            </a:solidFill>
            <a:prstDash val="solid"/>
          </a:ln>
        </p:spPr>
      </p:sp>
      <p:sp>
        <p:nvSpPr>
          <p:cNvPr id="46" name="Shape 43"/>
          <p:cNvSpPr/>
          <p:nvPr/>
        </p:nvSpPr>
        <p:spPr>
          <a:xfrm>
            <a:off x="8138160" y="2898648"/>
            <a:ext cx="502920" cy="685800"/>
          </a:xfrm>
          <a:prstGeom prst="rect">
            <a:avLst/>
          </a:prstGeom>
          <a:solidFill>
            <a:srgbClr val="1E3A5F"/>
          </a:solidFill>
          <a:ln/>
        </p:spPr>
      </p:sp>
      <p:sp>
        <p:nvSpPr>
          <p:cNvPr id="47" name="Text 44"/>
          <p:cNvSpPr/>
          <p:nvPr/>
        </p:nvSpPr>
        <p:spPr>
          <a:xfrm>
            <a:off x="8138160" y="2898648"/>
            <a:ext cx="502920" cy="685800"/>
          </a:xfrm>
          <a:prstGeom prst="rect">
            <a:avLst/>
          </a:prstGeom>
          <a:noFill/>
          <a:ln/>
        </p:spPr>
        <p:txBody>
          <a:bodyPr wrap="square" lIns="0" tIns="0" rIns="0" bIns="0" rtlCol="0" anchor="ctr"/>
          <a:lstStyle/>
          <a:p>
            <a:pPr marL="0" indent="0" algn="ctr">
              <a:buNone/>
            </a:pPr>
            <a:r>
              <a:rPr lang="en-US" sz="800" dirty="0">
                <a:solidFill>
                  <a:srgbClr val="FFFFFF"/>
                </a:solidFill>
                <a:latin typeface="Meiryo UI" pitchFamily="34" charset="0"/>
                <a:ea typeface="Meiryo UI" pitchFamily="34" charset="-122"/>
                <a:cs typeface="Meiryo UI" pitchFamily="34" charset="-120"/>
              </a:rPr>
              <a:t>基幹</a:t>
            </a:r>
            <a:endParaRPr lang="en-US" sz="800" dirty="0"/>
          </a:p>
          <a:p>
            <a:pPr marL="0" indent="0" algn="ctr">
              <a:buNone/>
            </a:pPr>
            <a:r>
              <a:rPr lang="en-US" sz="800" dirty="0">
                <a:solidFill>
                  <a:srgbClr val="FFFFFF"/>
                </a:solidFill>
                <a:latin typeface="Meiryo UI" pitchFamily="34" charset="0"/>
                <a:ea typeface="Meiryo UI" pitchFamily="34" charset="-122"/>
                <a:cs typeface="Meiryo UI" pitchFamily="34" charset="-120"/>
              </a:rPr>
              <a:t>システム</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7132320" cy="502920"/>
          </a:xfrm>
          <a:prstGeom prst="rect">
            <a:avLst/>
          </a:prstGeom>
          <a:noFill/>
          <a:ln/>
        </p:spPr>
        <p:txBody>
          <a:bodyPr wrap="square" lIns="0" tIns="0" rIns="0" bIns="0" rtlCol="0" anchor="ctr"/>
          <a:lstStyle/>
          <a:p>
            <a:pPr marL="0" indent="0" algn="l">
              <a:buNone/>
            </a:pPr>
            <a:r>
              <a:rPr lang="en-US" sz="2200" b="1" dirty="0">
                <a:solidFill>
                  <a:srgbClr val="1E3A5F"/>
                </a:solidFill>
                <a:latin typeface="Meiryo UI" pitchFamily="34" charset="0"/>
                <a:ea typeface="Meiryo UI" pitchFamily="34" charset="-122"/>
                <a:cs typeface="Meiryo UI" pitchFamily="34" charset="-120"/>
              </a:rPr>
              <a:t>機能詳細：ORDIA（AI受注自動化）</a:t>
            </a:r>
            <a:endParaRPr lang="en-US" sz="2200" dirty="0"/>
          </a:p>
        </p:txBody>
      </p:sp>
      <p:sp>
        <p:nvSpPr>
          <p:cNvPr id="3" name="Shape 1"/>
          <p:cNvSpPr/>
          <p:nvPr/>
        </p:nvSpPr>
        <p:spPr>
          <a:xfrm>
            <a:off x="365760" y="758952"/>
            <a:ext cx="8412480" cy="0"/>
          </a:xfrm>
          <a:prstGeom prst="line">
            <a:avLst/>
          </a:prstGeom>
          <a:noFill/>
          <a:ln w="6350">
            <a:solidFill>
              <a:srgbClr val="64748B"/>
            </a:solidFill>
            <a:prstDash val="solid"/>
          </a:ln>
        </p:spPr>
      </p:sp>
      <p:sp>
        <p:nvSpPr>
          <p:cNvPr id="4" name="Text 2"/>
          <p:cNvSpPr/>
          <p:nvPr/>
        </p:nvSpPr>
        <p:spPr>
          <a:xfrm>
            <a:off x="365760" y="786384"/>
            <a:ext cx="6858000" cy="237744"/>
          </a:xfrm>
          <a:prstGeom prst="rect">
            <a:avLst/>
          </a:prstGeom>
          <a:noFill/>
          <a:ln/>
        </p:spPr>
        <p:txBody>
          <a:bodyPr wrap="square" lIns="0" tIns="0" rIns="0" bIns="0" rtlCol="0" anchor="ctr"/>
          <a:lstStyle/>
          <a:p>
            <a:pPr marL="0" indent="0" algn="l">
              <a:buNone/>
            </a:pPr>
            <a:r>
              <a:rPr lang="en-US" sz="900" i="1" dirty="0">
                <a:solidFill>
                  <a:srgbClr val="64748B"/>
                </a:solidFill>
                <a:latin typeface="Meiryo UI" pitchFamily="34" charset="0"/>
                <a:ea typeface="Meiryo UI" pitchFamily="34" charset="-122"/>
                <a:cs typeface="Meiryo UI" pitchFamily="34" charset="-120"/>
              </a:rPr>
              <a:t>受注処理の自動化</a:t>
            </a:r>
            <a:endParaRPr lang="en-US" sz="900" dirty="0"/>
          </a:p>
        </p:txBody>
      </p:sp>
      <p:pic>
        <p:nvPicPr>
          <p:cNvPr id="5" name="Image 0" descr="preencoded.png"/>
          <p:cNvPicPr>
            <a:picLocks noChangeAspect="1"/>
          </p:cNvPicPr>
          <p:nvPr/>
        </p:nvPicPr>
        <p:blipFill>
          <a:blip r:embed="rId3"/>
          <a:stretch>
            <a:fillRect/>
          </a:stretch>
        </p:blipFill>
        <p:spPr>
          <a:xfrm>
            <a:off x="7680960" y="164592"/>
            <a:ext cx="1188720" cy="265176"/>
          </a:xfrm>
          <a:prstGeom prst="rect">
            <a:avLst/>
          </a:prstGeom>
        </p:spPr>
      </p:pic>
      <p:sp>
        <p:nvSpPr>
          <p:cNvPr id="6" name="Shape 3"/>
          <p:cNvSpPr/>
          <p:nvPr/>
        </p:nvSpPr>
        <p:spPr>
          <a:xfrm>
            <a:off x="0" y="4869180"/>
            <a:ext cx="9144000" cy="274320"/>
          </a:xfrm>
          <a:prstGeom prst="rect">
            <a:avLst/>
          </a:prstGeom>
          <a:solidFill>
            <a:srgbClr val="1CADE4"/>
          </a:solidFill>
          <a:ln/>
        </p:spPr>
      </p:sp>
      <p:sp>
        <p:nvSpPr>
          <p:cNvPr id="7" name="Text 4"/>
          <p:cNvSpPr/>
          <p:nvPr/>
        </p:nvSpPr>
        <p:spPr>
          <a:xfrm>
            <a:off x="457200" y="4869180"/>
            <a:ext cx="82296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Meiryo UI" pitchFamily="34" charset="0"/>
                <a:ea typeface="Meiryo UI" pitchFamily="34" charset="-122"/>
                <a:cs typeface="Meiryo UI" pitchFamily="34" charset="-120"/>
              </a:rPr>
              <a:t>Copyright© 2002-2026 SAGBRAIN Corp. All rights reserved.</a:t>
            </a:r>
            <a:endParaRPr lang="en-US" sz="900" dirty="0"/>
          </a:p>
        </p:txBody>
      </p:sp>
      <p:sp>
        <p:nvSpPr>
          <p:cNvPr id="8" name="Text 5"/>
          <p:cNvSpPr/>
          <p:nvPr/>
        </p:nvSpPr>
        <p:spPr>
          <a:xfrm>
            <a:off x="8503920" y="4869180"/>
            <a:ext cx="502920" cy="274320"/>
          </a:xfrm>
          <a:prstGeom prst="rect">
            <a:avLst/>
          </a:prstGeom>
          <a:noFill/>
          <a:ln/>
        </p:spPr>
        <p:txBody>
          <a:bodyPr wrap="square" lIns="0" tIns="0" rIns="0" bIns="0" rtlCol="0" anchor="ctr"/>
          <a:lstStyle/>
          <a:p>
            <a:pPr marL="0" indent="0" algn="r">
              <a:buNone/>
            </a:pPr>
            <a:r>
              <a:rPr lang="en-US" sz="1000" b="1" dirty="0">
                <a:solidFill>
                  <a:srgbClr val="FFFFFF"/>
                </a:solidFill>
                <a:latin typeface="Meiryo UI" pitchFamily="34" charset="0"/>
                <a:ea typeface="Meiryo UI" pitchFamily="34" charset="-122"/>
                <a:cs typeface="Meiryo UI" pitchFamily="34" charset="-120"/>
              </a:rPr>
              <a:t>4</a:t>
            </a:r>
            <a:endParaRPr lang="en-US" sz="1000" dirty="0"/>
          </a:p>
        </p:txBody>
      </p:sp>
      <p:sp>
        <p:nvSpPr>
          <p:cNvPr id="9" name="Shape 6"/>
          <p:cNvSpPr/>
          <p:nvPr/>
        </p:nvSpPr>
        <p:spPr>
          <a:xfrm>
            <a:off x="5760720" y="1078992"/>
            <a:ext cx="502920" cy="292608"/>
          </a:xfrm>
          <a:prstGeom prst="rect">
            <a:avLst/>
          </a:prstGeom>
          <a:solidFill>
            <a:srgbClr val="F59E0B"/>
          </a:solidFill>
          <a:ln/>
        </p:spPr>
      </p:sp>
      <p:sp>
        <p:nvSpPr>
          <p:cNvPr id="10" name="Text 7"/>
          <p:cNvSpPr/>
          <p:nvPr/>
        </p:nvSpPr>
        <p:spPr>
          <a:xfrm>
            <a:off x="5760720" y="1078992"/>
            <a:ext cx="50292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itchFamily="34" charset="0"/>
                <a:ea typeface="Meiryo UI" pitchFamily="34" charset="-122"/>
                <a:cs typeface="Meiryo UI" pitchFamily="34" charset="-120"/>
              </a:rPr>
              <a:t>NEW</a:t>
            </a:r>
            <a:endParaRPr lang="en-US" sz="1100" dirty="0"/>
          </a:p>
        </p:txBody>
      </p:sp>
      <p:sp>
        <p:nvSpPr>
          <p:cNvPr id="11" name="Text 8"/>
          <p:cNvSpPr/>
          <p:nvPr/>
        </p:nvSpPr>
        <p:spPr>
          <a:xfrm>
            <a:off x="6355080" y="1033272"/>
            <a:ext cx="2423160" cy="201168"/>
          </a:xfrm>
          <a:prstGeom prst="rect">
            <a:avLst/>
          </a:prstGeom>
          <a:noFill/>
          <a:ln/>
        </p:spPr>
        <p:txBody>
          <a:bodyPr wrap="square" lIns="0" tIns="0" rIns="0" bIns="0" rtlCol="0" anchor="ctr"/>
          <a:lstStyle/>
          <a:p>
            <a:pPr marL="0" indent="0" algn="r">
              <a:buNone/>
            </a:pPr>
            <a:r>
              <a:rPr lang="en-US" sz="950" b="1" dirty="0">
                <a:solidFill>
                  <a:srgbClr val="1E3A5F"/>
                </a:solidFill>
                <a:latin typeface="Meiryo UI" pitchFamily="34" charset="0"/>
                <a:ea typeface="Meiryo UI" pitchFamily="34" charset="-122"/>
                <a:cs typeface="Meiryo UI" pitchFamily="34" charset="-120"/>
              </a:rPr>
              <a:t>2026年8月リリース予定</a:t>
            </a:r>
            <a:endParaRPr lang="en-US" sz="950" dirty="0"/>
          </a:p>
        </p:txBody>
      </p:sp>
      <p:sp>
        <p:nvSpPr>
          <p:cNvPr id="12" name="Text 9"/>
          <p:cNvSpPr/>
          <p:nvPr/>
        </p:nvSpPr>
        <p:spPr>
          <a:xfrm>
            <a:off x="6355080" y="1225296"/>
            <a:ext cx="2423160" cy="201168"/>
          </a:xfrm>
          <a:prstGeom prst="rect">
            <a:avLst/>
          </a:prstGeom>
          <a:noFill/>
          <a:ln/>
        </p:spPr>
        <p:txBody>
          <a:bodyPr wrap="square" lIns="0" tIns="0" rIns="0" bIns="0" rtlCol="0" anchor="ctr"/>
          <a:lstStyle/>
          <a:p>
            <a:pPr marL="0" indent="0" algn="r">
              <a:buNone/>
            </a:pPr>
            <a:r>
              <a:rPr lang="en-US" sz="900" dirty="0">
                <a:solidFill>
                  <a:srgbClr val="64748B"/>
                </a:solidFill>
                <a:latin typeface="Meiryo UI" pitchFamily="34" charset="0"/>
                <a:ea typeface="Meiryo UI" pitchFamily="34" charset="-122"/>
                <a:cs typeface="Meiryo UI" pitchFamily="34" charset="-120"/>
              </a:rPr>
              <a:t>複数の企業で先行導入中</a:t>
            </a:r>
            <a:endParaRPr lang="en-US" sz="900" dirty="0"/>
          </a:p>
        </p:txBody>
      </p:sp>
      <p:sp>
        <p:nvSpPr>
          <p:cNvPr id="13" name="Text 10"/>
          <p:cNvSpPr/>
          <p:nvPr/>
        </p:nvSpPr>
        <p:spPr>
          <a:xfrm>
            <a:off x="365760" y="1078992"/>
            <a:ext cx="5349240" cy="292608"/>
          </a:xfrm>
          <a:prstGeom prst="rect">
            <a:avLst/>
          </a:prstGeom>
          <a:noFill/>
          <a:ln/>
        </p:spPr>
        <p:txBody>
          <a:bodyPr wrap="square" lIns="0" tIns="0" rIns="0" bIns="0" rtlCol="0" anchor="ctr"/>
          <a:lstStyle/>
          <a:p>
            <a:pPr marL="0" indent="0">
              <a:buNone/>
            </a:pPr>
            <a:r>
              <a:rPr lang="en-US" sz="1250" b="1" i="1" dirty="0">
                <a:solidFill>
                  <a:srgbClr val="1E3A5F"/>
                </a:solidFill>
                <a:latin typeface="Meiryo UI" pitchFamily="34" charset="0"/>
                <a:ea typeface="Meiryo UI" pitchFamily="34" charset="-122"/>
                <a:cs typeface="Meiryo UI" pitchFamily="34" charset="-120"/>
              </a:rPr>
              <a:t>「お客様のやり方は変えなくていい。変わるのは貴社の受け方だけ。」</a:t>
            </a:r>
            <a:endParaRPr lang="en-US" sz="1250" dirty="0"/>
          </a:p>
        </p:txBody>
      </p:sp>
      <p:sp>
        <p:nvSpPr>
          <p:cNvPr id="14" name="Text 11"/>
          <p:cNvSpPr/>
          <p:nvPr/>
        </p:nvSpPr>
        <p:spPr>
          <a:xfrm>
            <a:off x="365760" y="1417320"/>
            <a:ext cx="8412480" cy="256032"/>
          </a:xfrm>
          <a:prstGeom prst="rect">
            <a:avLst/>
          </a:prstGeom>
          <a:noFill/>
          <a:ln/>
        </p:spPr>
        <p:txBody>
          <a:bodyPr wrap="square" lIns="0" tIns="0" rIns="0" bIns="0" rtlCol="0" anchor="ctr"/>
          <a:lstStyle/>
          <a:p>
            <a:pPr marL="0" indent="0">
              <a:buNone/>
            </a:pPr>
            <a:r>
              <a:rPr lang="en-US" sz="1050" dirty="0">
                <a:solidFill>
                  <a:srgbClr val="1F2937"/>
                </a:solidFill>
                <a:latin typeface="Meiryo UI" pitchFamily="34" charset="0"/>
                <a:ea typeface="Meiryo UI" pitchFamily="34" charset="-122"/>
                <a:cs typeface="Meiryo UI" pitchFamily="34" charset="-120"/>
              </a:rPr>
              <a:t>AIが「下書き・調査」を行い、人が「判断・承認」を行う協働システム。</a:t>
            </a:r>
            <a:endParaRPr lang="en-US" sz="1050" dirty="0"/>
          </a:p>
        </p:txBody>
      </p:sp>
      <p:sp>
        <p:nvSpPr>
          <p:cNvPr id="15" name="Shape 12"/>
          <p:cNvSpPr/>
          <p:nvPr/>
        </p:nvSpPr>
        <p:spPr>
          <a:xfrm>
            <a:off x="365760" y="1783080"/>
            <a:ext cx="8412480" cy="960120"/>
          </a:xfrm>
          <a:prstGeom prst="rect">
            <a:avLst/>
          </a:prstGeom>
          <a:solidFill>
            <a:srgbClr val="F8FAFC"/>
          </a:solidFill>
          <a:ln w="6350">
            <a:solidFill>
              <a:srgbClr val="E2E8F0"/>
            </a:solidFill>
            <a:prstDash val="solid"/>
          </a:ln>
        </p:spPr>
      </p:sp>
      <p:sp>
        <p:nvSpPr>
          <p:cNvPr id="16" name="Shape 13"/>
          <p:cNvSpPr/>
          <p:nvPr/>
        </p:nvSpPr>
        <p:spPr>
          <a:xfrm>
            <a:off x="548640" y="1920240"/>
            <a:ext cx="1426464" cy="676656"/>
          </a:xfrm>
          <a:prstGeom prst="rect">
            <a:avLst/>
          </a:prstGeom>
          <a:solidFill>
            <a:srgbClr val="2563EB"/>
          </a:solidFill>
          <a:ln/>
        </p:spPr>
      </p:sp>
      <p:sp>
        <p:nvSpPr>
          <p:cNvPr id="17" name="Text 14"/>
          <p:cNvSpPr/>
          <p:nvPr/>
        </p:nvSpPr>
        <p:spPr>
          <a:xfrm>
            <a:off x="548640" y="1947672"/>
            <a:ext cx="142646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itchFamily="34" charset="0"/>
                <a:ea typeface="Meiryo UI" pitchFamily="34" charset="-122"/>
                <a:cs typeface="Meiryo UI" pitchFamily="34" charset="-120"/>
              </a:rPr>
              <a:t>受信</a:t>
            </a:r>
            <a:endParaRPr lang="en-US" sz="1100" dirty="0"/>
          </a:p>
        </p:txBody>
      </p:sp>
      <p:sp>
        <p:nvSpPr>
          <p:cNvPr id="18" name="Text 15"/>
          <p:cNvSpPr/>
          <p:nvPr/>
        </p:nvSpPr>
        <p:spPr>
          <a:xfrm>
            <a:off x="548640" y="2221992"/>
            <a:ext cx="1426464" cy="365760"/>
          </a:xfrm>
          <a:prstGeom prst="rect">
            <a:avLst/>
          </a:prstGeom>
          <a:noFill/>
          <a:ln/>
        </p:spPr>
        <p:txBody>
          <a:bodyPr wrap="square" lIns="0" tIns="0" rIns="0" bIns="0" rtlCol="0" anchor="ctr"/>
          <a:lstStyle/>
          <a:p>
            <a:pPr marL="0" indent="0" algn="ctr">
              <a:buNone/>
            </a:pPr>
            <a:r>
              <a:rPr lang="en-US" sz="850" dirty="0">
                <a:solidFill>
                  <a:srgbClr val="DBEAFE"/>
                </a:solidFill>
                <a:latin typeface="Meiryo UI" pitchFamily="34" charset="0"/>
                <a:ea typeface="Meiryo UI" pitchFamily="34" charset="-122"/>
                <a:cs typeface="Meiryo UI" pitchFamily="34" charset="-120"/>
              </a:rPr>
              <a:t>メール／FAX／PDF</a:t>
            </a:r>
            <a:endParaRPr lang="en-US" sz="850" dirty="0"/>
          </a:p>
        </p:txBody>
      </p:sp>
      <p:sp>
        <p:nvSpPr>
          <p:cNvPr id="19" name="Text 16"/>
          <p:cNvSpPr/>
          <p:nvPr/>
        </p:nvSpPr>
        <p:spPr>
          <a:xfrm>
            <a:off x="2243328" y="2112264"/>
            <a:ext cx="182880" cy="274320"/>
          </a:xfrm>
          <a:prstGeom prst="rect">
            <a:avLst/>
          </a:prstGeom>
          <a:noFill/>
          <a:ln/>
        </p:spPr>
        <p:txBody>
          <a:bodyPr wrap="square" lIns="0" tIns="0" rIns="0" bIns="0" rtlCol="0" anchor="ctr"/>
          <a:lstStyle/>
          <a:p>
            <a:pPr marL="0" indent="0" algn="ctr">
              <a:buNone/>
            </a:pPr>
            <a:r>
              <a:rPr lang="en-US" sz="1200" dirty="0">
                <a:solidFill>
                  <a:srgbClr val="2563EB"/>
                </a:solidFill>
                <a:latin typeface="Meiryo UI" pitchFamily="34" charset="0"/>
                <a:ea typeface="Meiryo UI" pitchFamily="34" charset="-122"/>
                <a:cs typeface="Meiryo UI" pitchFamily="34" charset="-120"/>
              </a:rPr>
              <a:t>▶</a:t>
            </a:r>
            <a:endParaRPr lang="en-US" sz="1200" dirty="0"/>
          </a:p>
        </p:txBody>
      </p:sp>
      <p:sp>
        <p:nvSpPr>
          <p:cNvPr id="20" name="Shape 17"/>
          <p:cNvSpPr/>
          <p:nvPr/>
        </p:nvSpPr>
        <p:spPr>
          <a:xfrm>
            <a:off x="2694432" y="1920240"/>
            <a:ext cx="1426464" cy="676656"/>
          </a:xfrm>
          <a:prstGeom prst="rect">
            <a:avLst/>
          </a:prstGeom>
          <a:solidFill>
            <a:srgbClr val="2563EB"/>
          </a:solidFill>
          <a:ln/>
        </p:spPr>
      </p:sp>
      <p:sp>
        <p:nvSpPr>
          <p:cNvPr id="21" name="Text 18"/>
          <p:cNvSpPr/>
          <p:nvPr/>
        </p:nvSpPr>
        <p:spPr>
          <a:xfrm>
            <a:off x="2694432" y="1947672"/>
            <a:ext cx="142646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itchFamily="34" charset="0"/>
                <a:ea typeface="Meiryo UI" pitchFamily="34" charset="-122"/>
                <a:cs typeface="Meiryo UI" pitchFamily="34" charset="-120"/>
              </a:rPr>
              <a:t>AI解析</a:t>
            </a:r>
            <a:endParaRPr lang="en-US" sz="1100" dirty="0"/>
          </a:p>
        </p:txBody>
      </p:sp>
      <p:sp>
        <p:nvSpPr>
          <p:cNvPr id="22" name="Text 19"/>
          <p:cNvSpPr/>
          <p:nvPr/>
        </p:nvSpPr>
        <p:spPr>
          <a:xfrm>
            <a:off x="2694432" y="2221992"/>
            <a:ext cx="1426464" cy="365760"/>
          </a:xfrm>
          <a:prstGeom prst="rect">
            <a:avLst/>
          </a:prstGeom>
          <a:noFill/>
          <a:ln/>
        </p:spPr>
        <p:txBody>
          <a:bodyPr wrap="square" lIns="0" tIns="0" rIns="0" bIns="0" rtlCol="0" anchor="ctr"/>
          <a:lstStyle/>
          <a:p>
            <a:pPr marL="0" indent="0" algn="ctr">
              <a:buNone/>
            </a:pPr>
            <a:r>
              <a:rPr lang="en-US" sz="850" dirty="0">
                <a:solidFill>
                  <a:srgbClr val="DBEAFE"/>
                </a:solidFill>
                <a:latin typeface="Meiryo UI" pitchFamily="34" charset="0"/>
                <a:ea typeface="Meiryo UI" pitchFamily="34" charset="-122"/>
                <a:cs typeface="Meiryo UI" pitchFamily="34" charset="-120"/>
              </a:rPr>
              <a:t>商品コード・数量・納期を抽出</a:t>
            </a:r>
            <a:endParaRPr lang="en-US" sz="850" dirty="0"/>
          </a:p>
        </p:txBody>
      </p:sp>
      <p:sp>
        <p:nvSpPr>
          <p:cNvPr id="23" name="Text 20"/>
          <p:cNvSpPr/>
          <p:nvPr/>
        </p:nvSpPr>
        <p:spPr>
          <a:xfrm>
            <a:off x="4389120" y="2112264"/>
            <a:ext cx="182880" cy="274320"/>
          </a:xfrm>
          <a:prstGeom prst="rect">
            <a:avLst/>
          </a:prstGeom>
          <a:noFill/>
          <a:ln/>
        </p:spPr>
        <p:txBody>
          <a:bodyPr wrap="square" lIns="0" tIns="0" rIns="0" bIns="0" rtlCol="0" anchor="ctr"/>
          <a:lstStyle/>
          <a:p>
            <a:pPr marL="0" indent="0" algn="ctr">
              <a:buNone/>
            </a:pPr>
            <a:r>
              <a:rPr lang="en-US" sz="1200" dirty="0">
                <a:solidFill>
                  <a:srgbClr val="2563EB"/>
                </a:solidFill>
                <a:latin typeface="Meiryo UI" pitchFamily="34" charset="0"/>
                <a:ea typeface="Meiryo UI" pitchFamily="34" charset="-122"/>
                <a:cs typeface="Meiryo UI" pitchFamily="34" charset="-120"/>
              </a:rPr>
              <a:t>▶</a:t>
            </a:r>
            <a:endParaRPr lang="en-US" sz="1200" dirty="0"/>
          </a:p>
        </p:txBody>
      </p:sp>
      <p:sp>
        <p:nvSpPr>
          <p:cNvPr id="28" name="Shape 25"/>
          <p:cNvSpPr/>
          <p:nvPr/>
        </p:nvSpPr>
        <p:spPr>
          <a:xfrm>
            <a:off x="4840224" y="1920240"/>
            <a:ext cx="1426464" cy="676656"/>
          </a:xfrm>
          <a:prstGeom prst="rect">
            <a:avLst/>
          </a:prstGeom>
          <a:solidFill>
            <a:srgbClr val="2563EB"/>
          </a:solidFill>
          <a:ln/>
        </p:spPr>
      </p:sp>
      <p:sp>
        <p:nvSpPr>
          <p:cNvPr id="29" name="Text 26"/>
          <p:cNvSpPr/>
          <p:nvPr/>
        </p:nvSpPr>
        <p:spPr>
          <a:xfrm>
            <a:off x="4840224" y="1947672"/>
            <a:ext cx="142646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itchFamily="34" charset="0"/>
                <a:ea typeface="Meiryo UI" pitchFamily="34" charset="-122"/>
                <a:cs typeface="Meiryo UI" pitchFamily="34" charset="-120"/>
              </a:rPr>
              <a:t>在庫・納期照会</a:t>
            </a:r>
            <a:endParaRPr lang="en-US" sz="1100" dirty="0"/>
          </a:p>
        </p:txBody>
      </p:sp>
      <p:sp>
        <p:nvSpPr>
          <p:cNvPr id="30" name="Text 27"/>
          <p:cNvSpPr/>
          <p:nvPr/>
        </p:nvSpPr>
        <p:spPr>
          <a:xfrm>
            <a:off x="4840224" y="2221992"/>
            <a:ext cx="1426464" cy="365760"/>
          </a:xfrm>
          <a:prstGeom prst="rect">
            <a:avLst/>
          </a:prstGeom>
          <a:noFill/>
          <a:ln/>
        </p:spPr>
        <p:txBody>
          <a:bodyPr wrap="square" lIns="0" tIns="0" rIns="0" bIns="0" rtlCol="0" anchor="ctr"/>
          <a:lstStyle/>
          <a:p>
            <a:pPr marL="0" indent="0" algn="ctr">
              <a:buNone/>
            </a:pPr>
            <a:r>
              <a:rPr lang="en-US" sz="850" dirty="0">
                <a:solidFill>
                  <a:srgbClr val="DBEAFE"/>
                </a:solidFill>
                <a:latin typeface="Meiryo UI" pitchFamily="34" charset="0"/>
                <a:ea typeface="Meiryo UI" pitchFamily="34" charset="-122"/>
                <a:cs typeface="Meiryo UI" pitchFamily="34" charset="-120"/>
              </a:rPr>
              <a:t>仕入先サイト照会</a:t>
            </a:r>
            <a:endParaRPr lang="en-US" sz="850" dirty="0"/>
          </a:p>
        </p:txBody>
      </p:sp>
      <p:sp>
        <p:nvSpPr>
          <p:cNvPr id="31" name="Text 28"/>
          <p:cNvSpPr/>
          <p:nvPr/>
        </p:nvSpPr>
        <p:spPr>
          <a:xfrm>
            <a:off x="6534912" y="2112264"/>
            <a:ext cx="182880" cy="274320"/>
          </a:xfrm>
          <a:prstGeom prst="rect">
            <a:avLst/>
          </a:prstGeom>
          <a:noFill/>
          <a:ln/>
        </p:spPr>
        <p:txBody>
          <a:bodyPr wrap="square" lIns="0" tIns="0" rIns="0" bIns="0" rtlCol="0" anchor="ctr"/>
          <a:lstStyle/>
          <a:p>
            <a:pPr marL="0" indent="0" algn="ctr">
              <a:buNone/>
            </a:pPr>
            <a:r>
              <a:rPr lang="en-US" sz="1200" dirty="0">
                <a:solidFill>
                  <a:srgbClr val="2563EB"/>
                </a:solidFill>
                <a:latin typeface="Meiryo UI" pitchFamily="34" charset="0"/>
                <a:ea typeface="Meiryo UI" pitchFamily="34" charset="-122"/>
                <a:cs typeface="Meiryo UI" pitchFamily="34" charset="-120"/>
              </a:rPr>
              <a:t>▶</a:t>
            </a:r>
            <a:endParaRPr lang="en-US" sz="1200" dirty="0"/>
          </a:p>
        </p:txBody>
      </p:sp>
      <p:sp>
        <p:nvSpPr>
          <p:cNvPr id="32" name="Shape 29"/>
          <p:cNvSpPr/>
          <p:nvPr/>
        </p:nvSpPr>
        <p:spPr>
          <a:xfrm>
            <a:off x="6986016" y="1920240"/>
            <a:ext cx="1426464" cy="676656"/>
          </a:xfrm>
          <a:prstGeom prst="rect">
            <a:avLst/>
          </a:prstGeom>
          <a:solidFill>
            <a:srgbClr val="2563EB"/>
          </a:solidFill>
          <a:ln/>
        </p:spPr>
      </p:sp>
      <p:sp>
        <p:nvSpPr>
          <p:cNvPr id="33" name="Text 30"/>
          <p:cNvSpPr/>
          <p:nvPr/>
        </p:nvSpPr>
        <p:spPr>
          <a:xfrm>
            <a:off x="6986016" y="1947672"/>
            <a:ext cx="142646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itchFamily="34" charset="0"/>
                <a:ea typeface="Meiryo UI" pitchFamily="34" charset="-122"/>
                <a:cs typeface="Meiryo UI" pitchFamily="34" charset="-120"/>
              </a:rPr>
              <a:t>受注登録</a:t>
            </a:r>
            <a:endParaRPr lang="en-US" sz="1100" dirty="0"/>
          </a:p>
        </p:txBody>
      </p:sp>
      <p:sp>
        <p:nvSpPr>
          <p:cNvPr id="34" name="Text 31"/>
          <p:cNvSpPr/>
          <p:nvPr/>
        </p:nvSpPr>
        <p:spPr>
          <a:xfrm>
            <a:off x="6986016" y="2221992"/>
            <a:ext cx="1426464" cy="365760"/>
          </a:xfrm>
          <a:prstGeom prst="rect">
            <a:avLst/>
          </a:prstGeom>
          <a:noFill/>
          <a:ln/>
        </p:spPr>
        <p:txBody>
          <a:bodyPr wrap="square" lIns="0" tIns="0" rIns="0" bIns="0" rtlCol="0" anchor="ctr"/>
          <a:lstStyle/>
          <a:p>
            <a:pPr marL="0" indent="0" algn="ctr">
              <a:buNone/>
            </a:pPr>
            <a:r>
              <a:rPr lang="en-US" sz="850" dirty="0">
                <a:solidFill>
                  <a:srgbClr val="DBEAFE"/>
                </a:solidFill>
                <a:latin typeface="Meiryo UI" pitchFamily="34" charset="0"/>
                <a:ea typeface="Meiryo UI" pitchFamily="34" charset="-122"/>
                <a:cs typeface="Meiryo UI" pitchFamily="34" charset="-120"/>
              </a:rPr>
              <a:t>受注データ自動作成</a:t>
            </a:r>
            <a:endParaRPr lang="en-US" sz="850" dirty="0"/>
          </a:p>
        </p:txBody>
      </p:sp>
      <p:sp>
        <p:nvSpPr>
          <p:cNvPr id="35" name="Shape 32"/>
          <p:cNvSpPr/>
          <p:nvPr/>
        </p:nvSpPr>
        <p:spPr>
          <a:xfrm>
            <a:off x="365760" y="2880360"/>
            <a:ext cx="4160520" cy="1755648"/>
          </a:xfrm>
          <a:prstGeom prst="rect">
            <a:avLst/>
          </a:prstGeom>
          <a:solidFill>
            <a:srgbClr val="FFFFFF"/>
          </a:solidFill>
          <a:ln w="12700">
            <a:solidFill>
              <a:srgbClr val="E2E8F0"/>
            </a:solidFill>
            <a:prstDash val="solid"/>
          </a:ln>
        </p:spPr>
      </p:sp>
      <p:sp>
        <p:nvSpPr>
          <p:cNvPr id="36" name="Text 33"/>
          <p:cNvSpPr/>
          <p:nvPr/>
        </p:nvSpPr>
        <p:spPr>
          <a:xfrm>
            <a:off x="457200" y="2953512"/>
            <a:ext cx="3931920" cy="274320"/>
          </a:xfrm>
          <a:prstGeom prst="rect">
            <a:avLst/>
          </a:prstGeom>
          <a:noFill/>
          <a:ln/>
        </p:spPr>
        <p:txBody>
          <a:bodyPr wrap="square" lIns="0" tIns="0" rIns="0" bIns="0" rtlCol="0" anchor="ctr"/>
          <a:lstStyle/>
          <a:p>
            <a:pPr marL="0" indent="0">
              <a:buNone/>
            </a:pPr>
            <a:r>
              <a:rPr lang="en-US" sz="1200" b="1" dirty="0">
                <a:solidFill>
                  <a:srgbClr val="2563EB"/>
                </a:solidFill>
                <a:latin typeface="Meiryo UI" pitchFamily="34" charset="0"/>
                <a:ea typeface="Meiryo UI" pitchFamily="34" charset="-122"/>
                <a:cs typeface="Meiryo UI" pitchFamily="34" charset="-120"/>
              </a:rPr>
              <a:t>主要機能</a:t>
            </a:r>
            <a:endParaRPr lang="en-US" sz="1200" dirty="0"/>
          </a:p>
        </p:txBody>
      </p:sp>
      <p:sp>
        <p:nvSpPr>
          <p:cNvPr id="37" name="Text 34"/>
          <p:cNvSpPr/>
          <p:nvPr/>
        </p:nvSpPr>
        <p:spPr>
          <a:xfrm>
            <a:off x="457200" y="3246120"/>
            <a:ext cx="3931920" cy="1325880"/>
          </a:xfrm>
          <a:prstGeom prst="rect">
            <a:avLst/>
          </a:prstGeom>
          <a:noFill/>
          <a:ln/>
        </p:spPr>
        <p:txBody>
          <a:bodyPr wrap="square" rtlCol="0" anchor="ctr"/>
          <a:lstStyle/>
          <a:p>
            <a:pPr marL="342900" indent="-342900">
              <a:spcAft>
                <a:spcPts val="200"/>
              </a:spcAft>
              <a:buSzPct val="100000"/>
              <a:buChar char="•"/>
            </a:pPr>
            <a:r>
              <a:rPr lang="en-US" sz="950" dirty="0">
                <a:solidFill>
                  <a:srgbClr val="1F2937"/>
                </a:solidFill>
                <a:latin typeface="Meiryo UI" pitchFamily="34" charset="0"/>
                <a:ea typeface="Meiryo UI" pitchFamily="34" charset="-122"/>
                <a:cs typeface="Meiryo UI" pitchFamily="34" charset="-120"/>
              </a:rPr>
              <a:t>多様なチャネル対応：FAX／PDF／メール／CSV／Excel／EDI／API</a:t>
            </a:r>
            <a:endParaRPr lang="en-US" sz="950" dirty="0"/>
          </a:p>
          <a:p>
            <a:pPr marL="342900" indent="-342900">
              <a:spcAft>
                <a:spcPts val="200"/>
              </a:spcAft>
              <a:buSzPct val="100000"/>
              <a:buChar char="•"/>
            </a:pPr>
            <a:r>
              <a:rPr lang="en-US" sz="950" dirty="0">
                <a:solidFill>
                  <a:srgbClr val="1F2937"/>
                </a:solidFill>
                <a:latin typeface="Meiryo UI" pitchFamily="34" charset="0"/>
                <a:ea typeface="Meiryo UI" pitchFamily="34" charset="-122"/>
                <a:cs typeface="Meiryo UI" pitchFamily="34" charset="-120"/>
              </a:rPr>
              <a:t>AI解析と自動データ化（OCR＋裏付け調査）</a:t>
            </a:r>
            <a:endParaRPr lang="en-US" sz="950" dirty="0"/>
          </a:p>
          <a:p>
            <a:pPr marL="342900" indent="-342900">
              <a:spcAft>
                <a:spcPts val="200"/>
              </a:spcAft>
              <a:buSzPct val="100000"/>
              <a:buChar char="•"/>
            </a:pPr>
            <a:r>
              <a:rPr lang="en-US" sz="950" dirty="0">
                <a:solidFill>
                  <a:srgbClr val="1F2937"/>
                </a:solidFill>
                <a:latin typeface="Meiryo UI" pitchFamily="34" charset="0"/>
                <a:ea typeface="Meiryo UI" pitchFamily="34" charset="-122"/>
                <a:cs typeface="Meiryo UI" pitchFamily="34" charset="-120"/>
              </a:rPr>
              <a:t>在庫・納期の自動照会（メーカーWebサイトから情報を取得し、問い合わせ作業を削減）</a:t>
            </a:r>
            <a:endParaRPr lang="en-US" sz="950" dirty="0"/>
          </a:p>
          <a:p>
            <a:pPr marL="342900" indent="-342900">
              <a:spcAft>
                <a:spcPts val="200"/>
              </a:spcAft>
              <a:buSzPct val="100000"/>
              <a:buChar char="•"/>
            </a:pPr>
            <a:r>
              <a:rPr lang="en-US" sz="950" dirty="0">
                <a:solidFill>
                  <a:srgbClr val="1F2937"/>
                </a:solidFill>
                <a:latin typeface="Meiryo UI" pitchFamily="34" charset="0"/>
                <a:ea typeface="Meiryo UI" pitchFamily="34" charset="-122"/>
                <a:cs typeface="Meiryo UI" pitchFamily="34" charset="-120"/>
              </a:rPr>
              <a:t>24時間365日の自動受付</a:t>
            </a:r>
            <a:endParaRPr lang="en-US" sz="950" dirty="0"/>
          </a:p>
          <a:p>
            <a:pPr marL="342900" indent="-342900">
              <a:spcAft>
                <a:spcPts val="200"/>
              </a:spcAft>
              <a:buSzPct val="100000"/>
              <a:buChar char="•"/>
            </a:pPr>
            <a:r>
              <a:rPr lang="en-US" sz="950" dirty="0">
                <a:solidFill>
                  <a:srgbClr val="1F2937"/>
                </a:solidFill>
                <a:latin typeface="Meiryo UI" pitchFamily="34" charset="0"/>
                <a:ea typeface="Meiryo UI" pitchFamily="34" charset="-122"/>
                <a:cs typeface="Meiryo UI" pitchFamily="34" charset="-120"/>
              </a:rPr>
              <a:t>「入力業務ゼロ」を目指す運用</a:t>
            </a:r>
            <a:endParaRPr lang="en-US" sz="950" dirty="0"/>
          </a:p>
        </p:txBody>
      </p:sp>
      <p:sp>
        <p:nvSpPr>
          <p:cNvPr id="38" name="Shape 35"/>
          <p:cNvSpPr/>
          <p:nvPr/>
        </p:nvSpPr>
        <p:spPr>
          <a:xfrm>
            <a:off x="4617720" y="2880360"/>
            <a:ext cx="4160520" cy="1755648"/>
          </a:xfrm>
          <a:prstGeom prst="rect">
            <a:avLst/>
          </a:prstGeom>
          <a:solidFill>
            <a:srgbClr val="FFFFFF"/>
          </a:solidFill>
          <a:ln w="12700">
            <a:solidFill>
              <a:srgbClr val="E2E8F0"/>
            </a:solidFill>
            <a:prstDash val="solid"/>
          </a:ln>
        </p:spPr>
      </p:sp>
      <p:sp>
        <p:nvSpPr>
          <p:cNvPr id="39" name="Text 36"/>
          <p:cNvSpPr/>
          <p:nvPr/>
        </p:nvSpPr>
        <p:spPr>
          <a:xfrm>
            <a:off x="4709160" y="2953512"/>
            <a:ext cx="3931920" cy="274320"/>
          </a:xfrm>
          <a:prstGeom prst="rect">
            <a:avLst/>
          </a:prstGeom>
          <a:noFill/>
          <a:ln/>
        </p:spPr>
        <p:txBody>
          <a:bodyPr wrap="square" lIns="0" tIns="0" rIns="0" bIns="0" rtlCol="0" anchor="ctr"/>
          <a:lstStyle/>
          <a:p>
            <a:pPr marL="0" indent="0">
              <a:buNone/>
            </a:pPr>
            <a:r>
              <a:rPr lang="en-US" sz="1200" b="1" dirty="0">
                <a:solidFill>
                  <a:srgbClr val="2563EB"/>
                </a:solidFill>
                <a:latin typeface="Meiryo UI" pitchFamily="34" charset="0"/>
                <a:ea typeface="Meiryo UI" pitchFamily="34" charset="-122"/>
                <a:cs typeface="Meiryo UI" pitchFamily="34" charset="-120"/>
              </a:rPr>
              <a:t>在庫・納期の自動照会</a:t>
            </a:r>
            <a:endParaRPr lang="en-US" sz="1200" dirty="0"/>
          </a:p>
        </p:txBody>
      </p:sp>
      <p:sp>
        <p:nvSpPr>
          <p:cNvPr id="40" name="Text 37"/>
          <p:cNvSpPr/>
          <p:nvPr/>
        </p:nvSpPr>
        <p:spPr>
          <a:xfrm>
            <a:off x="4709160" y="3227832"/>
            <a:ext cx="3931920" cy="201168"/>
          </a:xfrm>
          <a:prstGeom prst="rect">
            <a:avLst/>
          </a:prstGeom>
          <a:noFill/>
          <a:ln/>
        </p:spPr>
        <p:txBody>
          <a:bodyPr wrap="square" lIns="0" tIns="0" rIns="0" bIns="0" rtlCol="0" anchor="ctr"/>
          <a:lstStyle/>
          <a:p>
            <a:pPr marL="0" indent="0">
              <a:buNone/>
            </a:pPr>
            <a:r>
              <a:rPr lang="en-US" sz="900" i="1" dirty="0">
                <a:solidFill>
                  <a:srgbClr val="64748B"/>
                </a:solidFill>
                <a:latin typeface="Meiryo UI" pitchFamily="34" charset="0"/>
                <a:ea typeface="Meiryo UI" pitchFamily="34" charset="-122"/>
                <a:cs typeface="Meiryo UI" pitchFamily="34" charset="-120"/>
              </a:rPr>
              <a:t>仕入先サイト・在庫DBから自動取得し、問い合わせを削減</a:t>
            </a:r>
            <a:endParaRPr lang="en-US" sz="900" dirty="0"/>
          </a:p>
        </p:txBody>
      </p:sp>
      <p:sp>
        <p:nvSpPr>
          <p:cNvPr id="41" name="Text 38"/>
          <p:cNvSpPr/>
          <p:nvPr/>
        </p:nvSpPr>
        <p:spPr>
          <a:xfrm>
            <a:off x="4709160" y="3474720"/>
            <a:ext cx="3931920" cy="1143000"/>
          </a:xfrm>
          <a:prstGeom prst="rect">
            <a:avLst/>
          </a:prstGeom>
          <a:noFill/>
          <a:ln/>
        </p:spPr>
        <p:txBody>
          <a:bodyPr wrap="square" rtlCol="0" anchor="ctr"/>
          <a:lstStyle/>
          <a:p>
            <a:pPr marL="342900" indent="-342900">
              <a:spcAft>
                <a:spcPts val="200"/>
              </a:spcAft>
              <a:buSzPct val="100000"/>
              <a:buChar char="•"/>
            </a:pPr>
            <a:r>
              <a:rPr lang="en-US" sz="950" dirty="0">
                <a:solidFill>
                  <a:srgbClr val="1F2937"/>
                </a:solidFill>
                <a:latin typeface="Meiryo UI" pitchFamily="34" charset="0"/>
                <a:ea typeface="Meiryo UI" pitchFamily="34" charset="-122"/>
                <a:cs typeface="Meiryo UI" pitchFamily="34" charset="-120"/>
              </a:rPr>
              <a:t>仕入先Webサイト・在庫DBを品番で自動照会</a:t>
            </a:r>
            <a:endParaRPr lang="en-US" sz="950" dirty="0"/>
          </a:p>
          <a:p>
            <a:pPr marL="342900" indent="-342900">
              <a:spcAft>
                <a:spcPts val="200"/>
              </a:spcAft>
              <a:buSzPct val="100000"/>
              <a:buChar char="•"/>
            </a:pPr>
            <a:r>
              <a:rPr lang="en-US" sz="950" dirty="0">
                <a:solidFill>
                  <a:srgbClr val="1F2937"/>
                </a:solidFill>
                <a:latin typeface="Meiryo UI" pitchFamily="34" charset="0"/>
                <a:ea typeface="Meiryo UI" pitchFamily="34" charset="-122"/>
                <a:cs typeface="Meiryo UI" pitchFamily="34" charset="-120"/>
              </a:rPr>
              <a:t>在庫・出荷日を取得し、納期回答ドラフトを自動生成</a:t>
            </a:r>
            <a:endParaRPr lang="en-US" sz="950" dirty="0"/>
          </a:p>
          <a:p>
            <a:pPr marL="342900" indent="-342900">
              <a:spcAft>
                <a:spcPts val="200"/>
              </a:spcAft>
              <a:buSzPct val="100000"/>
              <a:buChar char="•"/>
            </a:pPr>
            <a:r>
              <a:rPr lang="en-US" sz="950" dirty="0">
                <a:solidFill>
                  <a:srgbClr val="1F2937"/>
                </a:solidFill>
                <a:latin typeface="Meiryo UI" pitchFamily="34" charset="0"/>
                <a:ea typeface="Meiryo UI" pitchFamily="34" charset="-122"/>
                <a:cs typeface="Meiryo UI" pitchFamily="34" charset="-120"/>
              </a:rPr>
              <a:t>問い合わせ・折り返しの手間を削減</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7132320" cy="502920"/>
          </a:xfrm>
          <a:prstGeom prst="rect">
            <a:avLst/>
          </a:prstGeom>
          <a:noFill/>
          <a:ln/>
        </p:spPr>
        <p:txBody>
          <a:bodyPr wrap="square" lIns="0" tIns="0" rIns="0" bIns="0" rtlCol="0" anchor="ctr"/>
          <a:lstStyle/>
          <a:p>
            <a:pPr marL="0" indent="0" algn="l">
              <a:buNone/>
            </a:pPr>
            <a:r>
              <a:rPr lang="en-US" sz="2200" b="1" dirty="0">
                <a:solidFill>
                  <a:srgbClr val="1E3A5F"/>
                </a:solidFill>
                <a:latin typeface="Meiryo UI" pitchFamily="34" charset="0"/>
                <a:ea typeface="Meiryo UI" pitchFamily="34" charset="-122"/>
                <a:cs typeface="Meiryo UI" pitchFamily="34" charset="-120"/>
              </a:rPr>
              <a:t>機能詳細：ORDIA 導入による効果</a:t>
            </a:r>
            <a:endParaRPr lang="en-US" sz="2200" dirty="0"/>
          </a:p>
        </p:txBody>
      </p:sp>
      <p:sp>
        <p:nvSpPr>
          <p:cNvPr id="3" name="Shape 1"/>
          <p:cNvSpPr/>
          <p:nvPr/>
        </p:nvSpPr>
        <p:spPr>
          <a:xfrm>
            <a:off x="365760" y="758952"/>
            <a:ext cx="8412480" cy="0"/>
          </a:xfrm>
          <a:prstGeom prst="line">
            <a:avLst/>
          </a:prstGeom>
          <a:noFill/>
          <a:ln w="6350">
            <a:solidFill>
              <a:srgbClr val="64748B"/>
            </a:solidFill>
            <a:prstDash val="solid"/>
          </a:ln>
        </p:spPr>
      </p:sp>
      <p:pic>
        <p:nvPicPr>
          <p:cNvPr id="4" name="Image 0" descr="preencoded.png"/>
          <p:cNvPicPr>
            <a:picLocks noChangeAspect="1"/>
          </p:cNvPicPr>
          <p:nvPr/>
        </p:nvPicPr>
        <p:blipFill>
          <a:blip r:embed="rId3"/>
          <a:stretch>
            <a:fillRect/>
          </a:stretch>
        </p:blipFill>
        <p:spPr>
          <a:xfrm>
            <a:off x="7680960" y="164592"/>
            <a:ext cx="1188720" cy="265176"/>
          </a:xfrm>
          <a:prstGeom prst="rect">
            <a:avLst/>
          </a:prstGeom>
        </p:spPr>
      </p:pic>
      <p:sp>
        <p:nvSpPr>
          <p:cNvPr id="5" name="Shape 2"/>
          <p:cNvSpPr/>
          <p:nvPr/>
        </p:nvSpPr>
        <p:spPr>
          <a:xfrm>
            <a:off x="0" y="4869180"/>
            <a:ext cx="9144000" cy="274320"/>
          </a:xfrm>
          <a:prstGeom prst="rect">
            <a:avLst/>
          </a:prstGeom>
          <a:solidFill>
            <a:srgbClr val="1CADE4"/>
          </a:solidFill>
          <a:ln/>
        </p:spPr>
      </p:sp>
      <p:sp>
        <p:nvSpPr>
          <p:cNvPr id="6" name="Text 3"/>
          <p:cNvSpPr/>
          <p:nvPr/>
        </p:nvSpPr>
        <p:spPr>
          <a:xfrm>
            <a:off x="457200" y="4869180"/>
            <a:ext cx="82296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Meiryo UI" pitchFamily="34" charset="0"/>
                <a:ea typeface="Meiryo UI" pitchFamily="34" charset="-122"/>
                <a:cs typeface="Meiryo UI" pitchFamily="34" charset="-120"/>
              </a:rPr>
              <a:t>Copyright© 2002-2026 SAGBRAIN Corp. All rights reserved.</a:t>
            </a:r>
            <a:endParaRPr lang="en-US" sz="900" dirty="0"/>
          </a:p>
        </p:txBody>
      </p:sp>
      <p:sp>
        <p:nvSpPr>
          <p:cNvPr id="7" name="Text 4"/>
          <p:cNvSpPr/>
          <p:nvPr/>
        </p:nvSpPr>
        <p:spPr>
          <a:xfrm>
            <a:off x="8503920" y="4869180"/>
            <a:ext cx="502920" cy="274320"/>
          </a:xfrm>
          <a:prstGeom prst="rect">
            <a:avLst/>
          </a:prstGeom>
          <a:noFill/>
          <a:ln/>
        </p:spPr>
        <p:txBody>
          <a:bodyPr wrap="square" lIns="0" tIns="0" rIns="0" bIns="0" rtlCol="0" anchor="ctr"/>
          <a:lstStyle/>
          <a:p>
            <a:pPr marL="0" indent="0" algn="r">
              <a:buNone/>
            </a:pPr>
            <a:r>
              <a:rPr lang="en-US" sz="1000" b="1" dirty="0">
                <a:solidFill>
                  <a:srgbClr val="FFFFFF"/>
                </a:solidFill>
                <a:latin typeface="Meiryo UI" pitchFamily="34" charset="0"/>
                <a:ea typeface="Meiryo UI" pitchFamily="34" charset="-122"/>
                <a:cs typeface="Meiryo UI" pitchFamily="34" charset="-120"/>
              </a:rPr>
              <a:t>5</a:t>
            </a:r>
            <a:endParaRPr lang="en-US" sz="1000" dirty="0"/>
          </a:p>
        </p:txBody>
      </p:sp>
      <p:sp>
        <p:nvSpPr>
          <p:cNvPr id="8" name="Text 5"/>
          <p:cNvSpPr/>
          <p:nvPr/>
        </p:nvSpPr>
        <p:spPr>
          <a:xfrm>
            <a:off x="365760" y="1097280"/>
            <a:ext cx="8412480" cy="292608"/>
          </a:xfrm>
          <a:prstGeom prst="rect">
            <a:avLst/>
          </a:prstGeom>
          <a:noFill/>
          <a:ln/>
        </p:spPr>
        <p:txBody>
          <a:bodyPr wrap="square" lIns="0" tIns="0" rIns="0" bIns="0" rtlCol="0" anchor="ctr"/>
          <a:lstStyle/>
          <a:p>
            <a:pPr marL="0" indent="0">
              <a:buNone/>
            </a:pPr>
            <a:r>
              <a:rPr lang="en-US" sz="1300" b="1" dirty="0">
                <a:solidFill>
                  <a:srgbClr val="1E3A5F"/>
                </a:solidFill>
                <a:latin typeface="Meiryo UI" pitchFamily="34" charset="0"/>
                <a:ea typeface="Meiryo UI" pitchFamily="34" charset="-122"/>
                <a:cs typeface="Meiryo UI" pitchFamily="34" charset="-120"/>
              </a:rPr>
              <a:t>「AIが処理し、人が確認する」運用で、現実的かつ大きな効果。</a:t>
            </a:r>
            <a:endParaRPr lang="en-US" sz="1300" dirty="0"/>
          </a:p>
        </p:txBody>
      </p:sp>
      <p:sp>
        <p:nvSpPr>
          <p:cNvPr id="9" name="Shape 6"/>
          <p:cNvSpPr/>
          <p:nvPr/>
        </p:nvSpPr>
        <p:spPr>
          <a:xfrm>
            <a:off x="365760" y="1508760"/>
            <a:ext cx="2743200" cy="1645920"/>
          </a:xfrm>
          <a:prstGeom prst="rect">
            <a:avLst/>
          </a:prstGeom>
          <a:solidFill>
            <a:srgbClr val="FFFFFF"/>
          </a:solidFill>
          <a:ln w="25400">
            <a:solidFill>
              <a:srgbClr val="2563EB"/>
            </a:solidFill>
            <a:prstDash val="solid"/>
          </a:ln>
        </p:spPr>
      </p:sp>
      <p:sp>
        <p:nvSpPr>
          <p:cNvPr id="10" name="Text 7"/>
          <p:cNvSpPr/>
          <p:nvPr/>
        </p:nvSpPr>
        <p:spPr>
          <a:xfrm>
            <a:off x="365760" y="1645920"/>
            <a:ext cx="2743200" cy="777240"/>
          </a:xfrm>
          <a:prstGeom prst="rect">
            <a:avLst/>
          </a:prstGeom>
          <a:noFill/>
          <a:ln/>
        </p:spPr>
        <p:txBody>
          <a:bodyPr wrap="square" lIns="0" tIns="0" rIns="0" bIns="0" rtlCol="0" anchor="ctr"/>
          <a:lstStyle/>
          <a:p>
            <a:pPr marL="0" indent="0" algn="ctr">
              <a:buNone/>
            </a:pPr>
            <a:r>
              <a:rPr lang="en-US" sz="4400" b="1" dirty="0">
                <a:solidFill>
                  <a:srgbClr val="2563EB"/>
                </a:solidFill>
                <a:latin typeface="Meiryo UI" pitchFamily="34" charset="0"/>
                <a:ea typeface="Meiryo UI" pitchFamily="34" charset="-122"/>
                <a:cs typeface="Meiryo UI" pitchFamily="34" charset="-120"/>
              </a:rPr>
              <a:t>約 38%</a:t>
            </a:r>
            <a:endParaRPr lang="en-US" sz="4400" dirty="0"/>
          </a:p>
        </p:txBody>
      </p:sp>
      <p:sp>
        <p:nvSpPr>
          <p:cNvPr id="11" name="Text 8"/>
          <p:cNvSpPr/>
          <p:nvPr/>
        </p:nvSpPr>
        <p:spPr>
          <a:xfrm>
            <a:off x="365760" y="2423160"/>
            <a:ext cx="2743200" cy="274320"/>
          </a:xfrm>
          <a:prstGeom prst="rect">
            <a:avLst/>
          </a:prstGeom>
          <a:noFill/>
          <a:ln/>
        </p:spPr>
        <p:txBody>
          <a:bodyPr wrap="square" lIns="0" tIns="0" rIns="0" bIns="0" rtlCol="0" anchor="ctr"/>
          <a:lstStyle/>
          <a:p>
            <a:pPr marL="0" indent="0" algn="ctr">
              <a:buNone/>
            </a:pPr>
            <a:r>
              <a:rPr lang="en-US" sz="1300" dirty="0">
                <a:solidFill>
                  <a:srgbClr val="2563EB"/>
                </a:solidFill>
                <a:latin typeface="Meiryo UI" pitchFamily="34" charset="0"/>
                <a:ea typeface="Meiryo UI" pitchFamily="34" charset="-122"/>
                <a:cs typeface="Meiryo UI" pitchFamily="34" charset="-120"/>
              </a:rPr>
              <a:t>削減</a:t>
            </a:r>
            <a:endParaRPr lang="en-US" sz="1300" dirty="0"/>
          </a:p>
        </p:txBody>
      </p:sp>
      <p:sp>
        <p:nvSpPr>
          <p:cNvPr id="12" name="Text 9"/>
          <p:cNvSpPr/>
          <p:nvPr/>
        </p:nvSpPr>
        <p:spPr>
          <a:xfrm>
            <a:off x="502920" y="2679192"/>
            <a:ext cx="2468880" cy="457200"/>
          </a:xfrm>
          <a:prstGeom prst="rect">
            <a:avLst/>
          </a:prstGeom>
          <a:noFill/>
          <a:ln/>
        </p:spPr>
        <p:txBody>
          <a:bodyPr wrap="square" lIns="0" tIns="0" rIns="0" bIns="0" rtlCol="0" anchor="ctr"/>
          <a:lstStyle/>
          <a:p>
            <a:pPr marL="0" indent="0" algn="ctr">
              <a:buNone/>
            </a:pPr>
            <a:r>
              <a:rPr lang="en-US" altLang="ja-JP" sz="1000">
                <a:solidFill>
                  <a:srgbClr val="1F2937"/>
                </a:solidFill>
                <a:latin typeface="Meiryo UI" pitchFamily="34" charset="0"/>
                <a:ea typeface="Meiryo UI" pitchFamily="34" charset="-122"/>
                <a:cs typeface="Meiryo UI" pitchFamily="34" charset="-120"/>
              </a:rPr>
              <a:t>1</a:t>
            </a:r>
            <a:r>
              <a:rPr lang="ja-JP" altLang="en-US" sz="1000">
                <a:solidFill>
                  <a:srgbClr val="1F2937"/>
                </a:solidFill>
                <a:latin typeface="Meiryo UI" pitchFamily="34" charset="0"/>
                <a:ea typeface="Meiryo UI" pitchFamily="34" charset="-122"/>
                <a:cs typeface="Meiryo UI" pitchFamily="34" charset="-120"/>
              </a:rPr>
              <a:t>注文あたりの人件費 </a:t>
            </a:r>
            <a:r>
              <a:rPr lang="en-US" altLang="ja-JP" sz="1000">
                <a:solidFill>
                  <a:srgbClr val="1F2937"/>
                </a:solidFill>
                <a:latin typeface="Meiryo UI" pitchFamily="34" charset="0"/>
                <a:ea typeface="Meiryo UI" pitchFamily="34" charset="-122"/>
                <a:cs typeface="Meiryo UI" pitchFamily="34" charset="-120"/>
              </a:rPr>
              <a:t>※</a:t>
            </a:r>
            <a:r>
              <a:rPr lang="ja-JP" altLang="en-US" sz="1000">
                <a:solidFill>
                  <a:srgbClr val="1F2937"/>
                </a:solidFill>
                <a:latin typeface="Meiryo UI" pitchFamily="34" charset="0"/>
                <a:ea typeface="Meiryo UI" pitchFamily="34" charset="-122"/>
                <a:cs typeface="Meiryo UI" pitchFamily="34" charset="-120"/>
              </a:rPr>
              <a:t>当社試算</a:t>
            </a:r>
            <a:endParaRPr lang="en-US" sz="1000" dirty="0"/>
          </a:p>
          <a:p>
            <a:pPr marL="0" indent="0" algn="ctr">
              <a:buNone/>
            </a:pPr>
            <a:r>
              <a:rPr lang="en-US" sz="1000" dirty="0">
                <a:solidFill>
                  <a:srgbClr val="1F2937"/>
                </a:solidFill>
                <a:latin typeface="Meiryo UI" pitchFamily="34" charset="0"/>
                <a:ea typeface="Meiryo UI" pitchFamily="34" charset="-122"/>
                <a:cs typeface="Meiryo UI" pitchFamily="34" charset="-120"/>
              </a:rPr>
              <a:t>（120円 → 74円）</a:t>
            </a:r>
            <a:endParaRPr lang="en-US" sz="1000" dirty="0"/>
          </a:p>
        </p:txBody>
      </p:sp>
      <p:sp>
        <p:nvSpPr>
          <p:cNvPr id="13" name="Shape 10"/>
          <p:cNvSpPr/>
          <p:nvPr/>
        </p:nvSpPr>
        <p:spPr>
          <a:xfrm>
            <a:off x="3200400" y="1508760"/>
            <a:ext cx="2743200" cy="1645920"/>
          </a:xfrm>
          <a:prstGeom prst="rect">
            <a:avLst/>
          </a:prstGeom>
          <a:solidFill>
            <a:srgbClr val="FFFFFF"/>
          </a:solidFill>
          <a:ln w="25400">
            <a:solidFill>
              <a:srgbClr val="2563EB"/>
            </a:solidFill>
            <a:prstDash val="solid"/>
          </a:ln>
        </p:spPr>
      </p:sp>
      <p:sp>
        <p:nvSpPr>
          <p:cNvPr id="14" name="Text 11"/>
          <p:cNvSpPr/>
          <p:nvPr/>
        </p:nvSpPr>
        <p:spPr>
          <a:xfrm>
            <a:off x="3200400" y="1645920"/>
            <a:ext cx="2743200" cy="777240"/>
          </a:xfrm>
          <a:prstGeom prst="rect">
            <a:avLst/>
          </a:prstGeom>
          <a:noFill/>
          <a:ln/>
        </p:spPr>
        <p:txBody>
          <a:bodyPr wrap="square" lIns="0" tIns="0" rIns="0" bIns="0" rtlCol="0" anchor="ctr"/>
          <a:lstStyle/>
          <a:p>
            <a:pPr marL="0" indent="0" algn="ctr">
              <a:buNone/>
            </a:pPr>
            <a:r>
              <a:rPr lang="en-US" sz="4400" b="1" dirty="0">
                <a:solidFill>
                  <a:srgbClr val="2563EB"/>
                </a:solidFill>
                <a:latin typeface="Meiryo UI" pitchFamily="34" charset="0"/>
                <a:ea typeface="Meiryo UI" pitchFamily="34" charset="-122"/>
                <a:cs typeface="Meiryo UI" pitchFamily="34" charset="-120"/>
              </a:rPr>
              <a:t>80%</a:t>
            </a:r>
            <a:endParaRPr lang="en-US" sz="4400" dirty="0"/>
          </a:p>
        </p:txBody>
      </p:sp>
      <p:sp>
        <p:nvSpPr>
          <p:cNvPr id="15" name="Text 12"/>
          <p:cNvSpPr/>
          <p:nvPr/>
        </p:nvSpPr>
        <p:spPr>
          <a:xfrm>
            <a:off x="3200400" y="2423160"/>
            <a:ext cx="2743200" cy="274320"/>
          </a:xfrm>
          <a:prstGeom prst="rect">
            <a:avLst/>
          </a:prstGeom>
          <a:noFill/>
          <a:ln/>
        </p:spPr>
        <p:txBody>
          <a:bodyPr wrap="square" lIns="0" tIns="0" rIns="0" bIns="0" rtlCol="0" anchor="ctr"/>
          <a:lstStyle/>
          <a:p>
            <a:pPr marL="0" indent="0" algn="ctr">
              <a:buNone/>
            </a:pPr>
            <a:r>
              <a:rPr lang="en-US" sz="1300" dirty="0">
                <a:solidFill>
                  <a:srgbClr val="2563EB"/>
                </a:solidFill>
                <a:latin typeface="Meiryo UI" pitchFamily="34" charset="0"/>
                <a:ea typeface="Meiryo UI" pitchFamily="34" charset="-122"/>
                <a:cs typeface="Meiryo UI" pitchFamily="34" charset="-120"/>
              </a:rPr>
              <a:t>削減</a:t>
            </a:r>
            <a:endParaRPr lang="en-US" sz="1300" dirty="0"/>
          </a:p>
        </p:txBody>
      </p:sp>
      <p:sp>
        <p:nvSpPr>
          <p:cNvPr id="16" name="Text 13"/>
          <p:cNvSpPr/>
          <p:nvPr/>
        </p:nvSpPr>
        <p:spPr>
          <a:xfrm>
            <a:off x="3337560" y="2679192"/>
            <a:ext cx="2468880" cy="457200"/>
          </a:xfrm>
          <a:prstGeom prst="rect">
            <a:avLst/>
          </a:prstGeom>
          <a:noFill/>
          <a:ln/>
        </p:spPr>
        <p:txBody>
          <a:bodyPr wrap="square" lIns="0" tIns="0" rIns="0" bIns="0" rtlCol="0" anchor="ctr"/>
          <a:lstStyle/>
          <a:p>
            <a:pPr marL="0" indent="0" algn="ctr">
              <a:buNone/>
            </a:pPr>
            <a:r>
              <a:rPr lang="ja-JP" altLang="en-US" sz="1000">
                <a:solidFill>
                  <a:srgbClr val="1F2937"/>
                </a:solidFill>
                <a:latin typeface="Meiryo UI" pitchFamily="34" charset="0"/>
                <a:ea typeface="Meiryo UI" pitchFamily="34" charset="-122"/>
                <a:cs typeface="Meiryo UI" pitchFamily="34" charset="-120"/>
              </a:rPr>
              <a:t>担当者の拘束時間 </a:t>
            </a:r>
            <a:r>
              <a:rPr lang="en-US" altLang="ja-JP" sz="1000">
                <a:solidFill>
                  <a:srgbClr val="1F2937"/>
                </a:solidFill>
                <a:latin typeface="Meiryo UI" pitchFamily="34" charset="0"/>
                <a:ea typeface="Meiryo UI" pitchFamily="34" charset="-122"/>
                <a:cs typeface="Meiryo UI" pitchFamily="34" charset="-120"/>
              </a:rPr>
              <a:t>※</a:t>
            </a:r>
            <a:r>
              <a:rPr lang="ja-JP" altLang="en-US" sz="1000">
                <a:solidFill>
                  <a:srgbClr val="1F2937"/>
                </a:solidFill>
                <a:latin typeface="Meiryo UI" pitchFamily="34" charset="0"/>
                <a:ea typeface="Meiryo UI" pitchFamily="34" charset="-122"/>
                <a:cs typeface="Meiryo UI" pitchFamily="34" charset="-120"/>
              </a:rPr>
              <a:t>当社試算</a:t>
            </a:r>
            <a:endParaRPr lang="en-US" sz="1000" dirty="0"/>
          </a:p>
          <a:p>
            <a:pPr marL="0" indent="0" algn="ctr">
              <a:buNone/>
            </a:pPr>
            <a:r>
              <a:rPr lang="en-US" sz="1000" dirty="0">
                <a:solidFill>
                  <a:srgbClr val="1F2937"/>
                </a:solidFill>
                <a:latin typeface="Meiryo UI" pitchFamily="34" charset="0"/>
                <a:ea typeface="Meiryo UI" pitchFamily="34" charset="-122"/>
                <a:cs typeface="Meiryo UI" pitchFamily="34" charset="-120"/>
              </a:rPr>
              <a:t>（5分 → 確認1分）</a:t>
            </a:r>
            <a:endParaRPr lang="en-US" sz="1000" dirty="0"/>
          </a:p>
        </p:txBody>
      </p:sp>
      <p:sp>
        <p:nvSpPr>
          <p:cNvPr id="17" name="Shape 14"/>
          <p:cNvSpPr/>
          <p:nvPr/>
        </p:nvSpPr>
        <p:spPr>
          <a:xfrm>
            <a:off x="6035040" y="1508760"/>
            <a:ext cx="2743200" cy="1645920"/>
          </a:xfrm>
          <a:prstGeom prst="rect">
            <a:avLst/>
          </a:prstGeom>
          <a:solidFill>
            <a:srgbClr val="FFFFFF"/>
          </a:solidFill>
          <a:ln w="25400">
            <a:solidFill>
              <a:srgbClr val="F59E0B"/>
            </a:solidFill>
            <a:prstDash val="solid"/>
          </a:ln>
        </p:spPr>
      </p:sp>
      <p:sp>
        <p:nvSpPr>
          <p:cNvPr id="18" name="Text 15"/>
          <p:cNvSpPr/>
          <p:nvPr/>
        </p:nvSpPr>
        <p:spPr>
          <a:xfrm>
            <a:off x="6035040" y="1645920"/>
            <a:ext cx="2743200" cy="777240"/>
          </a:xfrm>
          <a:prstGeom prst="rect">
            <a:avLst/>
          </a:prstGeom>
          <a:noFill/>
          <a:ln/>
        </p:spPr>
        <p:txBody>
          <a:bodyPr wrap="square" lIns="0" tIns="0" rIns="0" bIns="0" rtlCol="0" anchor="ctr"/>
          <a:lstStyle/>
          <a:p>
            <a:pPr marL="0" indent="0" algn="ctr">
              <a:buNone/>
            </a:pPr>
            <a:r>
              <a:rPr lang="en-US" sz="4400" b="1" dirty="0">
                <a:solidFill>
                  <a:srgbClr val="F59E0B"/>
                </a:solidFill>
                <a:latin typeface="Meiryo UI" pitchFamily="34" charset="0"/>
                <a:ea typeface="Meiryo UI" pitchFamily="34" charset="-122"/>
                <a:cs typeface="Meiryo UI" pitchFamily="34" charset="-120"/>
              </a:rPr>
              <a:t>0円</a:t>
            </a:r>
            <a:endParaRPr lang="en-US" sz="4400" dirty="0"/>
          </a:p>
        </p:txBody>
      </p:sp>
      <p:sp>
        <p:nvSpPr>
          <p:cNvPr id="19" name="Text 16"/>
          <p:cNvSpPr/>
          <p:nvPr/>
        </p:nvSpPr>
        <p:spPr>
          <a:xfrm>
            <a:off x="6035040" y="2423160"/>
            <a:ext cx="2743200" cy="274320"/>
          </a:xfrm>
          <a:prstGeom prst="rect">
            <a:avLst/>
          </a:prstGeom>
          <a:noFill/>
          <a:ln/>
        </p:spPr>
        <p:txBody>
          <a:bodyPr wrap="square" lIns="0" tIns="0" rIns="0" bIns="0" rtlCol="0" anchor="ctr"/>
          <a:lstStyle/>
          <a:p>
            <a:pPr marL="0" indent="0" algn="ctr">
              <a:buNone/>
            </a:pPr>
            <a:r>
              <a:rPr lang="en-US" sz="1300" dirty="0">
                <a:solidFill>
                  <a:srgbClr val="F59E0B"/>
                </a:solidFill>
                <a:latin typeface="Meiryo UI" pitchFamily="34" charset="0"/>
                <a:ea typeface="Meiryo UI" pitchFamily="34" charset="-122"/>
                <a:cs typeface="Meiryo UI" pitchFamily="34" charset="-120"/>
              </a:rPr>
              <a:t>基本月額</a:t>
            </a:r>
            <a:endParaRPr lang="en-US" sz="1300" dirty="0"/>
          </a:p>
        </p:txBody>
      </p:sp>
      <p:sp>
        <p:nvSpPr>
          <p:cNvPr id="20" name="Text 17"/>
          <p:cNvSpPr/>
          <p:nvPr/>
        </p:nvSpPr>
        <p:spPr>
          <a:xfrm>
            <a:off x="6172200" y="2679192"/>
            <a:ext cx="2468880" cy="457200"/>
          </a:xfrm>
          <a:prstGeom prst="rect">
            <a:avLst/>
          </a:prstGeom>
          <a:noFill/>
          <a:ln/>
        </p:spPr>
        <p:txBody>
          <a:bodyPr wrap="square" lIns="0" tIns="0" rIns="0" bIns="0" rtlCol="0" anchor="ctr"/>
          <a:lstStyle/>
          <a:p>
            <a:pPr marL="0" indent="0" algn="ctr">
              <a:buNone/>
            </a:pPr>
            <a:r>
              <a:rPr lang="en-US" sz="1000" dirty="0">
                <a:solidFill>
                  <a:srgbClr val="1F2937"/>
                </a:solidFill>
                <a:latin typeface="Meiryo UI" pitchFamily="34" charset="0"/>
                <a:ea typeface="Meiryo UI" pitchFamily="34" charset="-122"/>
                <a:cs typeface="Meiryo UI" pitchFamily="34" charset="-120"/>
              </a:rPr>
              <a:t>使った分だけ（1ファイル単位）</a:t>
            </a:r>
            <a:endParaRPr lang="en-US" sz="1000" dirty="0"/>
          </a:p>
        </p:txBody>
      </p:sp>
      <p:sp>
        <p:nvSpPr>
          <p:cNvPr id="21" name="Shape 18"/>
          <p:cNvSpPr/>
          <p:nvPr/>
        </p:nvSpPr>
        <p:spPr>
          <a:xfrm>
            <a:off x="365760" y="3310128"/>
            <a:ext cx="4160520" cy="1371600"/>
          </a:xfrm>
          <a:prstGeom prst="rect">
            <a:avLst/>
          </a:prstGeom>
          <a:solidFill>
            <a:srgbClr val="EFF6FF"/>
          </a:solidFill>
          <a:ln w="6350">
            <a:solidFill>
              <a:srgbClr val="E2E8F0"/>
            </a:solidFill>
            <a:prstDash val="solid"/>
          </a:ln>
        </p:spPr>
      </p:sp>
      <p:sp>
        <p:nvSpPr>
          <p:cNvPr id="22" name="Text 19"/>
          <p:cNvSpPr/>
          <p:nvPr/>
        </p:nvSpPr>
        <p:spPr>
          <a:xfrm>
            <a:off x="457200" y="3383280"/>
            <a:ext cx="3977640" cy="228600"/>
          </a:xfrm>
          <a:prstGeom prst="rect">
            <a:avLst/>
          </a:prstGeom>
          <a:noFill/>
          <a:ln/>
        </p:spPr>
        <p:txBody>
          <a:bodyPr wrap="square" lIns="0" tIns="0" rIns="0" bIns="0" rtlCol="0" anchor="ctr"/>
          <a:lstStyle/>
          <a:p>
            <a:pPr marL="0" indent="0">
              <a:buNone/>
            </a:pPr>
            <a:r>
              <a:rPr lang="en-US" sz="1000" b="1" dirty="0">
                <a:solidFill>
                  <a:srgbClr val="2563EB"/>
                </a:solidFill>
                <a:latin typeface="Meiryo UI" pitchFamily="34" charset="0"/>
                <a:ea typeface="Meiryo UI" pitchFamily="34" charset="-122"/>
                <a:cs typeface="Meiryo UI" pitchFamily="34" charset="-120"/>
              </a:rPr>
              <a:t>算出根拠</a:t>
            </a:r>
            <a:endParaRPr lang="en-US" sz="1000" dirty="0"/>
          </a:p>
        </p:txBody>
      </p:sp>
      <p:sp>
        <p:nvSpPr>
          <p:cNvPr id="23" name="Text 20"/>
          <p:cNvSpPr/>
          <p:nvPr/>
        </p:nvSpPr>
        <p:spPr>
          <a:xfrm>
            <a:off x="502920" y="3611880"/>
            <a:ext cx="3931920" cy="1051560"/>
          </a:xfrm>
          <a:prstGeom prst="rect">
            <a:avLst/>
          </a:prstGeom>
          <a:noFill/>
          <a:ln/>
        </p:spPr>
        <p:txBody>
          <a:bodyPr wrap="square" rtlCol="0" anchor="ctr"/>
          <a:lstStyle/>
          <a:p>
            <a:pPr marL="342900" indent="-342900">
              <a:spcAft>
                <a:spcPts val="200"/>
              </a:spcAft>
              <a:buSzPct val="100000"/>
              <a:buChar char="•"/>
            </a:pPr>
            <a:r>
              <a:rPr lang="en-US" sz="900" dirty="0">
                <a:solidFill>
                  <a:srgbClr val="1F2937"/>
                </a:solidFill>
                <a:latin typeface="Meiryo UI" pitchFamily="34" charset="0"/>
                <a:ea typeface="Meiryo UI" pitchFamily="34" charset="-122"/>
                <a:cs typeface="Meiryo UI" pitchFamily="34" charset="-120"/>
              </a:rPr>
              <a:t>時給1,200円 × 1.20（法定福利費等）= 24円／分</a:t>
            </a:r>
            <a:endParaRPr lang="en-US" sz="900" dirty="0"/>
          </a:p>
          <a:p>
            <a:pPr marL="342900" indent="-342900">
              <a:spcAft>
                <a:spcPts val="200"/>
              </a:spcAft>
              <a:buSzPct val="100000"/>
              <a:buChar char="•"/>
            </a:pPr>
            <a:r>
              <a:rPr lang="en-US" sz="900" dirty="0">
                <a:solidFill>
                  <a:srgbClr val="1F2937"/>
                </a:solidFill>
                <a:latin typeface="Meiryo UI" pitchFamily="34" charset="0"/>
                <a:ea typeface="Meiryo UI" pitchFamily="34" charset="-122"/>
                <a:cs typeface="Meiryo UI" pitchFamily="34" charset="-120"/>
              </a:rPr>
              <a:t>従来：5分／件 × 24円 = 120円／件</a:t>
            </a:r>
            <a:endParaRPr lang="en-US" sz="900" dirty="0"/>
          </a:p>
          <a:p>
            <a:pPr marL="342900" indent="-342900">
              <a:spcAft>
                <a:spcPts val="200"/>
              </a:spcAft>
              <a:buSzPct val="100000"/>
              <a:buChar char="•"/>
            </a:pPr>
            <a:r>
              <a:rPr lang="en-US" sz="900" dirty="0">
                <a:solidFill>
                  <a:srgbClr val="1F2937"/>
                </a:solidFill>
                <a:latin typeface="Meiryo UI" pitchFamily="34" charset="0"/>
                <a:ea typeface="Meiryo UI" pitchFamily="34" charset="-122"/>
                <a:cs typeface="Meiryo UI" pitchFamily="34" charset="-120"/>
              </a:rPr>
              <a:t>ORDIA：システム利用50円＋確認1分（24円）= 74円／件</a:t>
            </a:r>
            <a:endParaRPr lang="en-US" sz="900" dirty="0"/>
          </a:p>
          <a:p>
            <a:pPr marL="342900" indent="-342900">
              <a:spcAft>
                <a:spcPts val="200"/>
              </a:spcAft>
              <a:buSzPct val="100000"/>
              <a:buChar char="•"/>
            </a:pPr>
            <a:r>
              <a:rPr lang="ja-JP" altLang="en-US" sz="900">
                <a:solidFill>
                  <a:srgbClr val="1F2937"/>
                </a:solidFill>
                <a:latin typeface="Meiryo UI" pitchFamily="34" charset="0"/>
                <a:ea typeface="Meiryo UI" pitchFamily="34" charset="-122"/>
                <a:cs typeface="Meiryo UI" pitchFamily="34" charset="-120"/>
              </a:rPr>
              <a:t>注文書</a:t>
            </a:r>
            <a:r>
              <a:rPr lang="en-US" altLang="ja-JP" sz="900">
                <a:solidFill>
                  <a:srgbClr val="1F2937"/>
                </a:solidFill>
                <a:latin typeface="Meiryo UI" pitchFamily="34" charset="0"/>
                <a:ea typeface="Meiryo UI" pitchFamily="34" charset="-122"/>
                <a:cs typeface="Meiryo UI" pitchFamily="34" charset="-120"/>
              </a:rPr>
              <a:t>1</a:t>
            </a:r>
            <a:r>
              <a:rPr lang="ja-JP" altLang="en-US" sz="900">
                <a:solidFill>
                  <a:srgbClr val="1F2937"/>
                </a:solidFill>
                <a:latin typeface="Meiryo UI" pitchFamily="34" charset="0"/>
                <a:ea typeface="Meiryo UI" pitchFamily="34" charset="-122"/>
                <a:cs typeface="Meiryo UI" pitchFamily="34" charset="-120"/>
              </a:rPr>
              <a:t>ファイル（</a:t>
            </a:r>
            <a:r>
              <a:rPr lang="en-US" altLang="ja-JP" sz="900">
                <a:solidFill>
                  <a:srgbClr val="1F2937"/>
                </a:solidFill>
                <a:latin typeface="Meiryo UI" pitchFamily="34" charset="0"/>
                <a:ea typeface="Meiryo UI" pitchFamily="34" charset="-122"/>
                <a:cs typeface="Meiryo UI" pitchFamily="34" charset="-120"/>
              </a:rPr>
              <a:t>1</a:t>
            </a:r>
            <a:r>
              <a:rPr lang="ja-JP" altLang="en-US" sz="900">
                <a:solidFill>
                  <a:srgbClr val="1F2937"/>
                </a:solidFill>
                <a:latin typeface="Meiryo UI" pitchFamily="34" charset="0"/>
                <a:ea typeface="Meiryo UI" pitchFamily="34" charset="-122"/>
                <a:cs typeface="Meiryo UI" pitchFamily="34" charset="-120"/>
              </a:rPr>
              <a:t>通）あたりの料金のため、明細が何行でも料金は変わりません。</a:t>
            </a:r>
            <a:endParaRPr lang="en-US" sz="900" dirty="0"/>
          </a:p>
        </p:txBody>
      </p:sp>
      <p:sp>
        <p:nvSpPr>
          <p:cNvPr id="24" name="Shape 21"/>
          <p:cNvSpPr/>
          <p:nvPr/>
        </p:nvSpPr>
        <p:spPr>
          <a:xfrm>
            <a:off x="4617720" y="3310128"/>
            <a:ext cx="4160520" cy="1371600"/>
          </a:xfrm>
          <a:prstGeom prst="rect">
            <a:avLst/>
          </a:prstGeom>
          <a:solidFill>
            <a:srgbClr val="1E3A5F"/>
          </a:solidFill>
          <a:ln/>
        </p:spPr>
      </p:sp>
      <p:sp>
        <p:nvSpPr>
          <p:cNvPr id="25" name="Text 22"/>
          <p:cNvSpPr/>
          <p:nvPr/>
        </p:nvSpPr>
        <p:spPr>
          <a:xfrm>
            <a:off x="4709160" y="3383280"/>
            <a:ext cx="3931920" cy="228600"/>
          </a:xfrm>
          <a:prstGeom prst="rect">
            <a:avLst/>
          </a:prstGeom>
          <a:noFill/>
          <a:ln/>
        </p:spPr>
        <p:txBody>
          <a:bodyPr wrap="square" lIns="0" tIns="0" rIns="0" bIns="0" rtlCol="0" anchor="ctr"/>
          <a:lstStyle/>
          <a:p>
            <a:pPr marL="0" indent="0">
              <a:buNone/>
            </a:pPr>
            <a:r>
              <a:rPr lang="en-US" sz="1000" b="1" dirty="0">
                <a:solidFill>
                  <a:srgbClr val="F59E0B"/>
                </a:solidFill>
                <a:latin typeface="Meiryo UI" pitchFamily="34" charset="0"/>
                <a:ea typeface="Meiryo UI" pitchFamily="34" charset="-122"/>
                <a:cs typeface="Meiryo UI" pitchFamily="34" charset="-120"/>
              </a:rPr>
              <a:t>「見えないコスト」の構造</a:t>
            </a:r>
            <a:endParaRPr lang="en-US" sz="1000" dirty="0"/>
          </a:p>
        </p:txBody>
      </p:sp>
      <p:sp>
        <p:nvSpPr>
          <p:cNvPr id="26" name="Text 23"/>
          <p:cNvSpPr/>
          <p:nvPr/>
        </p:nvSpPr>
        <p:spPr>
          <a:xfrm>
            <a:off x="4709160" y="3611880"/>
            <a:ext cx="3931920" cy="228600"/>
          </a:xfrm>
          <a:prstGeom prst="rect">
            <a:avLst/>
          </a:prstGeom>
          <a:noFill/>
          <a:ln/>
        </p:spPr>
        <p:txBody>
          <a:bodyPr wrap="square" lIns="0" tIns="0" rIns="0" bIns="0" rtlCol="0" anchor="ctr"/>
          <a:lstStyle/>
          <a:p>
            <a:pPr marL="0" indent="0">
              <a:buNone/>
            </a:pPr>
            <a:r>
              <a:rPr lang="en-US" sz="1000" dirty="0">
                <a:solidFill>
                  <a:srgbClr val="FFFFFF"/>
                </a:solidFill>
                <a:latin typeface="Meiryo UI" pitchFamily="34" charset="0"/>
                <a:ea typeface="Meiryo UI" pitchFamily="34" charset="-122"/>
                <a:cs typeface="Meiryo UI" pitchFamily="34" charset="-120"/>
              </a:rPr>
              <a:t>利益を圧迫するのは、入力作業ではなく</a:t>
            </a:r>
            <a:endParaRPr lang="en-US" sz="1000" dirty="0"/>
          </a:p>
        </p:txBody>
      </p:sp>
      <p:sp>
        <p:nvSpPr>
          <p:cNvPr id="27" name="Text 24"/>
          <p:cNvSpPr/>
          <p:nvPr/>
        </p:nvSpPr>
        <p:spPr>
          <a:xfrm>
            <a:off x="4709160" y="3822192"/>
            <a:ext cx="3931920" cy="274320"/>
          </a:xfrm>
          <a:prstGeom prst="rect">
            <a:avLst/>
          </a:prstGeom>
          <a:noFill/>
          <a:ln/>
        </p:spPr>
        <p:txBody>
          <a:bodyPr wrap="square" lIns="0" tIns="0" rIns="0" bIns="0" rtlCol="0" anchor="ctr"/>
          <a:lstStyle/>
          <a:p>
            <a:pPr marL="0" indent="0">
              <a:buNone/>
            </a:pPr>
            <a:r>
              <a:rPr lang="en-US" sz="1400" b="1" dirty="0">
                <a:solidFill>
                  <a:srgbClr val="F59E0B"/>
                </a:solidFill>
                <a:latin typeface="Meiryo UI" pitchFamily="34" charset="0"/>
                <a:ea typeface="Meiryo UI" pitchFamily="34" charset="-122"/>
                <a:cs typeface="Meiryo UI" pitchFamily="34" charset="-120"/>
              </a:rPr>
              <a:t>「準備（調査・探索）」の80%。</a:t>
            </a:r>
            <a:endParaRPr lang="en-US" sz="1400" dirty="0"/>
          </a:p>
        </p:txBody>
      </p:sp>
      <p:sp>
        <p:nvSpPr>
          <p:cNvPr id="28" name="Shape 25"/>
          <p:cNvSpPr/>
          <p:nvPr/>
        </p:nvSpPr>
        <p:spPr>
          <a:xfrm>
            <a:off x="4709160" y="4160520"/>
            <a:ext cx="3108960" cy="201168"/>
          </a:xfrm>
          <a:prstGeom prst="rect">
            <a:avLst/>
          </a:prstGeom>
          <a:solidFill>
            <a:srgbClr val="F59E0B"/>
          </a:solidFill>
          <a:ln/>
        </p:spPr>
      </p:sp>
      <p:sp>
        <p:nvSpPr>
          <p:cNvPr id="29" name="Shape 26"/>
          <p:cNvSpPr/>
          <p:nvPr/>
        </p:nvSpPr>
        <p:spPr>
          <a:xfrm>
            <a:off x="7818120" y="4160520"/>
            <a:ext cx="777240" cy="201168"/>
          </a:xfrm>
          <a:prstGeom prst="rect">
            <a:avLst/>
          </a:prstGeom>
          <a:solidFill>
            <a:srgbClr val="3B82F6"/>
          </a:solidFill>
          <a:ln/>
        </p:spPr>
      </p:sp>
      <p:sp>
        <p:nvSpPr>
          <p:cNvPr id="30" name="Text 27"/>
          <p:cNvSpPr/>
          <p:nvPr/>
        </p:nvSpPr>
        <p:spPr>
          <a:xfrm>
            <a:off x="4709160" y="4160520"/>
            <a:ext cx="310896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Meiryo UI" pitchFamily="34" charset="0"/>
                <a:ea typeface="Meiryo UI" pitchFamily="34" charset="-122"/>
                <a:cs typeface="Meiryo UI" pitchFamily="34" charset="-120"/>
              </a:rPr>
              <a:t>準備（調査・探索）80%</a:t>
            </a:r>
            <a:endParaRPr lang="en-US" sz="850" dirty="0"/>
          </a:p>
        </p:txBody>
      </p:sp>
      <p:sp>
        <p:nvSpPr>
          <p:cNvPr id="31" name="Text 28"/>
          <p:cNvSpPr/>
          <p:nvPr/>
        </p:nvSpPr>
        <p:spPr>
          <a:xfrm>
            <a:off x="7818120" y="4160520"/>
            <a:ext cx="77724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Meiryo UI" pitchFamily="34" charset="0"/>
                <a:ea typeface="Meiryo UI" pitchFamily="34" charset="-122"/>
                <a:cs typeface="Meiryo UI" pitchFamily="34" charset="-120"/>
              </a:rPr>
              <a:t>入力 20%</a:t>
            </a:r>
            <a:endParaRPr lang="en-US" sz="850" dirty="0"/>
          </a:p>
        </p:txBody>
      </p:sp>
      <p:sp>
        <p:nvSpPr>
          <p:cNvPr id="32" name="Text 29"/>
          <p:cNvSpPr/>
          <p:nvPr/>
        </p:nvSpPr>
        <p:spPr>
          <a:xfrm>
            <a:off x="4709160" y="4434840"/>
            <a:ext cx="3931920" cy="201168"/>
          </a:xfrm>
          <a:prstGeom prst="rect">
            <a:avLst/>
          </a:prstGeom>
          <a:noFill/>
          <a:ln/>
        </p:spPr>
        <p:txBody>
          <a:bodyPr wrap="square" lIns="0" tIns="0" rIns="0" bIns="0" rtlCol="0" anchor="ctr"/>
          <a:lstStyle/>
          <a:p>
            <a:pPr marL="0" indent="0">
              <a:buNone/>
            </a:pPr>
            <a:r>
              <a:rPr lang="en-US" sz="950" i="1" dirty="0">
                <a:solidFill>
                  <a:srgbClr val="DBEAFE"/>
                </a:solidFill>
                <a:latin typeface="Meiryo UI" pitchFamily="34" charset="0"/>
                <a:ea typeface="Meiryo UI" pitchFamily="34" charset="-122"/>
                <a:cs typeface="Meiryo UI" pitchFamily="34" charset="-120"/>
              </a:rPr>
              <a:t>ORDIAは、この「見えない80%」を削減する。</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7132320" cy="502920"/>
          </a:xfrm>
          <a:prstGeom prst="rect">
            <a:avLst/>
          </a:prstGeom>
          <a:noFill/>
          <a:ln/>
        </p:spPr>
        <p:txBody>
          <a:bodyPr wrap="square" lIns="0" tIns="0" rIns="0" bIns="0" rtlCol="0" anchor="ctr"/>
          <a:lstStyle/>
          <a:p>
            <a:pPr marL="0" indent="0" algn="l">
              <a:buNone/>
            </a:pPr>
            <a:r>
              <a:rPr lang="en-US" sz="2200" b="1" dirty="0">
                <a:solidFill>
                  <a:srgbClr val="1E3A5F"/>
                </a:solidFill>
                <a:latin typeface="Meiryo UI" pitchFamily="34" charset="0"/>
                <a:ea typeface="Meiryo UI" pitchFamily="34" charset="-122"/>
                <a:cs typeface="Meiryo UI" pitchFamily="34" charset="-120"/>
              </a:rPr>
              <a:t>賢くなるAI：貴社専用ルールで精度が上がり続ける</a:t>
            </a:r>
            <a:endParaRPr lang="en-US" sz="2200" dirty="0"/>
          </a:p>
        </p:txBody>
      </p:sp>
      <p:sp>
        <p:nvSpPr>
          <p:cNvPr id="3" name="Shape 1"/>
          <p:cNvSpPr/>
          <p:nvPr/>
        </p:nvSpPr>
        <p:spPr>
          <a:xfrm>
            <a:off x="365760" y="758952"/>
            <a:ext cx="8412480" cy="0"/>
          </a:xfrm>
          <a:prstGeom prst="line">
            <a:avLst/>
          </a:prstGeom>
          <a:noFill/>
          <a:ln w="6350">
            <a:solidFill>
              <a:srgbClr val="64748B"/>
            </a:solidFill>
            <a:prstDash val="solid"/>
          </a:ln>
        </p:spPr>
      </p:sp>
      <p:pic>
        <p:nvPicPr>
          <p:cNvPr id="4" name="Image 0" descr="preencoded.png"/>
          <p:cNvPicPr>
            <a:picLocks noChangeAspect="1"/>
          </p:cNvPicPr>
          <p:nvPr/>
        </p:nvPicPr>
        <p:blipFill>
          <a:blip r:embed="rId3"/>
          <a:stretch>
            <a:fillRect/>
          </a:stretch>
        </p:blipFill>
        <p:spPr>
          <a:xfrm>
            <a:off x="7680960" y="164592"/>
            <a:ext cx="1188720" cy="265176"/>
          </a:xfrm>
          <a:prstGeom prst="rect">
            <a:avLst/>
          </a:prstGeom>
        </p:spPr>
      </p:pic>
      <p:sp>
        <p:nvSpPr>
          <p:cNvPr id="5" name="Shape 2"/>
          <p:cNvSpPr/>
          <p:nvPr/>
        </p:nvSpPr>
        <p:spPr>
          <a:xfrm>
            <a:off x="0" y="4869180"/>
            <a:ext cx="9144000" cy="274320"/>
          </a:xfrm>
          <a:prstGeom prst="rect">
            <a:avLst/>
          </a:prstGeom>
          <a:solidFill>
            <a:srgbClr val="1CADE4"/>
          </a:solidFill>
          <a:ln/>
        </p:spPr>
      </p:sp>
      <p:sp>
        <p:nvSpPr>
          <p:cNvPr id="6" name="Text 3"/>
          <p:cNvSpPr/>
          <p:nvPr/>
        </p:nvSpPr>
        <p:spPr>
          <a:xfrm>
            <a:off x="457200" y="4869180"/>
            <a:ext cx="82296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Meiryo UI" pitchFamily="34" charset="0"/>
                <a:ea typeface="Meiryo UI" pitchFamily="34" charset="-122"/>
                <a:cs typeface="Meiryo UI" pitchFamily="34" charset="-120"/>
              </a:rPr>
              <a:t>Copyright© 2002-2026 SAGBRAIN Corp. All rights reserved.</a:t>
            </a:r>
            <a:endParaRPr lang="en-US" sz="900" dirty="0"/>
          </a:p>
        </p:txBody>
      </p:sp>
      <p:sp>
        <p:nvSpPr>
          <p:cNvPr id="7" name="Text 4"/>
          <p:cNvSpPr/>
          <p:nvPr/>
        </p:nvSpPr>
        <p:spPr>
          <a:xfrm>
            <a:off x="8503920" y="4869180"/>
            <a:ext cx="502920" cy="274320"/>
          </a:xfrm>
          <a:prstGeom prst="rect">
            <a:avLst/>
          </a:prstGeom>
          <a:noFill/>
          <a:ln/>
        </p:spPr>
        <p:txBody>
          <a:bodyPr wrap="square" lIns="0" tIns="0" rIns="0" bIns="0" rtlCol="0" anchor="ctr"/>
          <a:lstStyle/>
          <a:p>
            <a:pPr marL="0" indent="0" algn="r">
              <a:buNone/>
            </a:pPr>
            <a:r>
              <a:rPr lang="en-US" sz="1000" b="1" dirty="0">
                <a:solidFill>
                  <a:srgbClr val="FFFFFF"/>
                </a:solidFill>
                <a:latin typeface="Meiryo UI" pitchFamily="34" charset="0"/>
                <a:ea typeface="Meiryo UI" pitchFamily="34" charset="-122"/>
                <a:cs typeface="Meiryo UI" pitchFamily="34" charset="-120"/>
              </a:rPr>
              <a:t>6</a:t>
            </a:r>
            <a:endParaRPr lang="en-US" sz="1000" dirty="0"/>
          </a:p>
        </p:txBody>
      </p:sp>
      <p:sp>
        <p:nvSpPr>
          <p:cNvPr id="8" name="Text 5"/>
          <p:cNvSpPr/>
          <p:nvPr/>
        </p:nvSpPr>
        <p:spPr>
          <a:xfrm>
            <a:off x="365760" y="1097280"/>
            <a:ext cx="8412480" cy="292608"/>
          </a:xfrm>
          <a:prstGeom prst="rect">
            <a:avLst/>
          </a:prstGeom>
          <a:noFill/>
          <a:ln/>
        </p:spPr>
        <p:txBody>
          <a:bodyPr wrap="square" lIns="0" tIns="0" rIns="0" bIns="0" rtlCol="0" anchor="ctr"/>
          <a:lstStyle/>
          <a:p>
            <a:pPr marL="0" indent="0">
              <a:buNone/>
            </a:pPr>
            <a:r>
              <a:rPr lang="en-US" sz="1300" dirty="0">
                <a:solidFill>
                  <a:srgbClr val="1F2937"/>
                </a:solidFill>
                <a:latin typeface="Meiryo UI" pitchFamily="34" charset="0"/>
                <a:ea typeface="Meiryo UI" pitchFamily="34" charset="-122"/>
                <a:cs typeface="Meiryo UI" pitchFamily="34" charset="-120"/>
              </a:rPr>
              <a:t>汎用のAI-OCRと違い、ORDIAは貴社専用の読み取りルールを蓄積し、使うほど精度が上がる。</a:t>
            </a:r>
            <a:endParaRPr lang="en-US" sz="1300" dirty="0"/>
          </a:p>
        </p:txBody>
      </p:sp>
      <p:sp>
        <p:nvSpPr>
          <p:cNvPr id="9" name="Shape 6"/>
          <p:cNvSpPr/>
          <p:nvPr/>
        </p:nvSpPr>
        <p:spPr>
          <a:xfrm>
            <a:off x="365760" y="1508760"/>
            <a:ext cx="4160520" cy="1417320"/>
          </a:xfrm>
          <a:prstGeom prst="rect">
            <a:avLst/>
          </a:prstGeom>
          <a:solidFill>
            <a:srgbClr val="FFFFFF"/>
          </a:solidFill>
          <a:ln w="12700">
            <a:solidFill>
              <a:srgbClr val="E2E8F0"/>
            </a:solidFill>
            <a:prstDash val="solid"/>
          </a:ln>
        </p:spPr>
      </p:sp>
      <p:sp>
        <p:nvSpPr>
          <p:cNvPr id="10" name="Shape 7"/>
          <p:cNvSpPr/>
          <p:nvPr/>
        </p:nvSpPr>
        <p:spPr>
          <a:xfrm>
            <a:off x="365760" y="1508760"/>
            <a:ext cx="4160520" cy="411480"/>
          </a:xfrm>
          <a:prstGeom prst="rect">
            <a:avLst/>
          </a:prstGeom>
          <a:solidFill>
            <a:srgbClr val="2563EB"/>
          </a:solidFill>
          <a:ln/>
        </p:spPr>
      </p:sp>
      <p:pic>
        <p:nvPicPr>
          <p:cNvPr id="11" name="Image 1" descr="preencoded.png"/>
          <p:cNvPicPr>
            <a:picLocks noChangeAspect="1"/>
          </p:cNvPicPr>
          <p:nvPr/>
        </p:nvPicPr>
        <p:blipFill>
          <a:blip r:embed="rId4"/>
          <a:stretch>
            <a:fillRect/>
          </a:stretch>
        </p:blipFill>
        <p:spPr>
          <a:xfrm>
            <a:off x="457200" y="1572768"/>
            <a:ext cx="274320" cy="274320"/>
          </a:xfrm>
          <a:prstGeom prst="rect">
            <a:avLst/>
          </a:prstGeom>
        </p:spPr>
      </p:pic>
      <p:sp>
        <p:nvSpPr>
          <p:cNvPr id="12" name="Text 8"/>
          <p:cNvSpPr/>
          <p:nvPr/>
        </p:nvSpPr>
        <p:spPr>
          <a:xfrm>
            <a:off x="822960" y="1554480"/>
            <a:ext cx="3566160" cy="329184"/>
          </a:xfrm>
          <a:prstGeom prst="rect">
            <a:avLst/>
          </a:prstGeom>
          <a:noFill/>
          <a:ln/>
        </p:spPr>
        <p:txBody>
          <a:bodyPr wrap="square" lIns="0" tIns="0" rIns="0" bIns="0" rtlCol="0" anchor="ctr"/>
          <a:lstStyle/>
          <a:p>
            <a:pPr marL="0" indent="0">
              <a:buNone/>
            </a:pPr>
            <a:r>
              <a:rPr lang="en-US" sz="1400" b="1" dirty="0">
                <a:solidFill>
                  <a:srgbClr val="FFFFFF"/>
                </a:solidFill>
                <a:latin typeface="Meiryo UI" pitchFamily="34" charset="0"/>
                <a:ea typeface="Meiryo UI" pitchFamily="34" charset="-122"/>
                <a:cs typeface="Meiryo UI" pitchFamily="34" charset="-120"/>
              </a:rPr>
              <a:t>業務知識がAIに移転</a:t>
            </a:r>
            <a:endParaRPr lang="en-US" sz="1400" dirty="0"/>
          </a:p>
        </p:txBody>
      </p:sp>
      <p:sp>
        <p:nvSpPr>
          <p:cNvPr id="13" name="Text 9"/>
          <p:cNvSpPr/>
          <p:nvPr/>
        </p:nvSpPr>
        <p:spPr>
          <a:xfrm>
            <a:off x="548640" y="2011680"/>
            <a:ext cx="3840480" cy="822960"/>
          </a:xfrm>
          <a:prstGeom prst="rect">
            <a:avLst/>
          </a:prstGeom>
          <a:noFill/>
          <a:ln/>
        </p:spPr>
        <p:txBody>
          <a:bodyPr wrap="square" lIns="0" tIns="0" rIns="0" bIns="0" rtlCol="0" anchor="t"/>
          <a:lstStyle/>
          <a:p>
            <a:pPr marL="0" indent="0">
              <a:buNone/>
            </a:pPr>
            <a:r>
              <a:rPr lang="en-US" sz="1100" dirty="0">
                <a:solidFill>
                  <a:srgbClr val="1F2937"/>
                </a:solidFill>
                <a:latin typeface="Meiryo UI" pitchFamily="34" charset="0"/>
                <a:ea typeface="Meiryo UI" pitchFamily="34" charset="-122"/>
                <a:cs typeface="Meiryo UI" pitchFamily="34" charset="-120"/>
              </a:rPr>
              <a:t>「この品番はうちの商品」「自社名は宛先でメーカーではない」等の業務知識をAIに登録。担当者が変わっても同じ知識で動く。</a:t>
            </a:r>
            <a:endParaRPr lang="en-US" sz="1100" dirty="0"/>
          </a:p>
        </p:txBody>
      </p:sp>
      <p:sp>
        <p:nvSpPr>
          <p:cNvPr id="14" name="Shape 10"/>
          <p:cNvSpPr/>
          <p:nvPr/>
        </p:nvSpPr>
        <p:spPr>
          <a:xfrm>
            <a:off x="4617720" y="1508760"/>
            <a:ext cx="4160520" cy="1417320"/>
          </a:xfrm>
          <a:prstGeom prst="rect">
            <a:avLst/>
          </a:prstGeom>
          <a:solidFill>
            <a:srgbClr val="FFFFFF"/>
          </a:solidFill>
          <a:ln w="12700">
            <a:solidFill>
              <a:srgbClr val="E2E8F0"/>
            </a:solidFill>
            <a:prstDash val="solid"/>
          </a:ln>
        </p:spPr>
      </p:sp>
      <p:sp>
        <p:nvSpPr>
          <p:cNvPr id="15" name="Shape 11"/>
          <p:cNvSpPr/>
          <p:nvPr/>
        </p:nvSpPr>
        <p:spPr>
          <a:xfrm>
            <a:off x="4617720" y="1508760"/>
            <a:ext cx="4160520" cy="411480"/>
          </a:xfrm>
          <a:prstGeom prst="rect">
            <a:avLst/>
          </a:prstGeom>
          <a:solidFill>
            <a:srgbClr val="0D9488"/>
          </a:solidFill>
          <a:ln/>
        </p:spPr>
      </p:sp>
      <p:pic>
        <p:nvPicPr>
          <p:cNvPr id="16" name="Image 2" descr="preencoded.png"/>
          <p:cNvPicPr>
            <a:picLocks noChangeAspect="1"/>
          </p:cNvPicPr>
          <p:nvPr/>
        </p:nvPicPr>
        <p:blipFill>
          <a:blip r:embed="rId5"/>
          <a:stretch>
            <a:fillRect/>
          </a:stretch>
        </p:blipFill>
        <p:spPr>
          <a:xfrm>
            <a:off x="4709160" y="1572768"/>
            <a:ext cx="274320" cy="274320"/>
          </a:xfrm>
          <a:prstGeom prst="rect">
            <a:avLst/>
          </a:prstGeom>
        </p:spPr>
      </p:pic>
      <p:sp>
        <p:nvSpPr>
          <p:cNvPr id="17" name="Text 12"/>
          <p:cNvSpPr/>
          <p:nvPr/>
        </p:nvSpPr>
        <p:spPr>
          <a:xfrm>
            <a:off x="5074920" y="1554480"/>
            <a:ext cx="3566160" cy="329184"/>
          </a:xfrm>
          <a:prstGeom prst="rect">
            <a:avLst/>
          </a:prstGeom>
          <a:noFill/>
          <a:ln/>
        </p:spPr>
        <p:txBody>
          <a:bodyPr wrap="square" lIns="0" tIns="0" rIns="0" bIns="0" rtlCol="0" anchor="ctr"/>
          <a:lstStyle/>
          <a:p>
            <a:pPr marL="0" indent="0">
              <a:buNone/>
            </a:pPr>
            <a:r>
              <a:rPr lang="en-US" sz="1400" b="1" dirty="0">
                <a:solidFill>
                  <a:srgbClr val="FFFFFF"/>
                </a:solidFill>
                <a:latin typeface="Meiryo UI" pitchFamily="34" charset="0"/>
                <a:ea typeface="Meiryo UI" pitchFamily="34" charset="-122"/>
                <a:cs typeface="Meiryo UI" pitchFamily="34" charset="-120"/>
              </a:rPr>
              <a:t>指摘するたびに賢くなる</a:t>
            </a:r>
            <a:endParaRPr lang="en-US" sz="1400" dirty="0"/>
          </a:p>
        </p:txBody>
      </p:sp>
      <p:sp>
        <p:nvSpPr>
          <p:cNvPr id="18" name="Text 13"/>
          <p:cNvSpPr/>
          <p:nvPr/>
        </p:nvSpPr>
        <p:spPr>
          <a:xfrm>
            <a:off x="4800600" y="2011680"/>
            <a:ext cx="3840480" cy="822960"/>
          </a:xfrm>
          <a:prstGeom prst="rect">
            <a:avLst/>
          </a:prstGeom>
          <a:noFill/>
          <a:ln/>
        </p:spPr>
        <p:txBody>
          <a:bodyPr wrap="square" lIns="0" tIns="0" rIns="0" bIns="0" rtlCol="0" anchor="t"/>
          <a:lstStyle/>
          <a:p>
            <a:pPr marL="0" indent="0">
              <a:buNone/>
            </a:pPr>
            <a:r>
              <a:rPr lang="en-US" sz="1100" dirty="0">
                <a:solidFill>
                  <a:srgbClr val="1F2937"/>
                </a:solidFill>
                <a:latin typeface="Meiryo UI" pitchFamily="34" charset="0"/>
                <a:ea typeface="Meiryo UI" pitchFamily="34" charset="-122"/>
                <a:cs typeface="Meiryo UI" pitchFamily="34" charset="-120"/>
              </a:rPr>
              <a:t>修正やフィードバックをルールに反映（最長2週間）。未知の書式や例外も順次カバーされ、自動化率が高まり続ける。</a:t>
            </a:r>
            <a:endParaRPr lang="en-US" sz="1100" dirty="0"/>
          </a:p>
        </p:txBody>
      </p:sp>
      <p:sp>
        <p:nvSpPr>
          <p:cNvPr id="19" name="Shape 14"/>
          <p:cNvSpPr/>
          <p:nvPr/>
        </p:nvSpPr>
        <p:spPr>
          <a:xfrm>
            <a:off x="365760" y="3063240"/>
            <a:ext cx="4160520" cy="1417320"/>
          </a:xfrm>
          <a:prstGeom prst="rect">
            <a:avLst/>
          </a:prstGeom>
          <a:solidFill>
            <a:srgbClr val="FFFFFF"/>
          </a:solidFill>
          <a:ln w="12700">
            <a:solidFill>
              <a:srgbClr val="E2E8F0"/>
            </a:solidFill>
            <a:prstDash val="solid"/>
          </a:ln>
        </p:spPr>
      </p:sp>
      <p:sp>
        <p:nvSpPr>
          <p:cNvPr id="20" name="Shape 15"/>
          <p:cNvSpPr/>
          <p:nvPr/>
        </p:nvSpPr>
        <p:spPr>
          <a:xfrm>
            <a:off x="365760" y="3063240"/>
            <a:ext cx="4160520" cy="411480"/>
          </a:xfrm>
          <a:prstGeom prst="rect">
            <a:avLst/>
          </a:prstGeom>
          <a:solidFill>
            <a:srgbClr val="7C3AED"/>
          </a:solidFill>
          <a:ln/>
        </p:spPr>
      </p:sp>
      <p:pic>
        <p:nvPicPr>
          <p:cNvPr id="21" name="Image 3" descr="preencoded.png"/>
          <p:cNvPicPr>
            <a:picLocks noChangeAspect="1"/>
          </p:cNvPicPr>
          <p:nvPr/>
        </p:nvPicPr>
        <p:blipFill>
          <a:blip r:embed="rId6"/>
          <a:stretch>
            <a:fillRect/>
          </a:stretch>
        </p:blipFill>
        <p:spPr>
          <a:xfrm>
            <a:off x="457200" y="3127248"/>
            <a:ext cx="274320" cy="274320"/>
          </a:xfrm>
          <a:prstGeom prst="rect">
            <a:avLst/>
          </a:prstGeom>
        </p:spPr>
      </p:pic>
      <p:sp>
        <p:nvSpPr>
          <p:cNvPr id="22" name="Text 16"/>
          <p:cNvSpPr/>
          <p:nvPr/>
        </p:nvSpPr>
        <p:spPr>
          <a:xfrm>
            <a:off x="822960" y="3108960"/>
            <a:ext cx="3566160" cy="329184"/>
          </a:xfrm>
          <a:prstGeom prst="rect">
            <a:avLst/>
          </a:prstGeom>
          <a:noFill/>
          <a:ln/>
        </p:spPr>
        <p:txBody>
          <a:bodyPr wrap="square" lIns="0" tIns="0" rIns="0" bIns="0" rtlCol="0" anchor="ctr"/>
          <a:lstStyle/>
          <a:p>
            <a:pPr marL="0" indent="0">
              <a:buNone/>
            </a:pPr>
            <a:r>
              <a:rPr lang="en-US" sz="1400" b="1" dirty="0">
                <a:solidFill>
                  <a:srgbClr val="FFFFFF"/>
                </a:solidFill>
                <a:latin typeface="Meiryo UI" pitchFamily="34" charset="0"/>
                <a:ea typeface="Meiryo UI" pitchFamily="34" charset="-122"/>
                <a:cs typeface="Meiryo UI" pitchFamily="34" charset="-120"/>
              </a:rPr>
              <a:t>透明で信頼できるAI</a:t>
            </a:r>
            <a:endParaRPr lang="en-US" sz="1400" dirty="0"/>
          </a:p>
        </p:txBody>
      </p:sp>
      <p:sp>
        <p:nvSpPr>
          <p:cNvPr id="23" name="Text 17"/>
          <p:cNvSpPr/>
          <p:nvPr/>
        </p:nvSpPr>
        <p:spPr>
          <a:xfrm>
            <a:off x="548640" y="3566160"/>
            <a:ext cx="3840480" cy="822960"/>
          </a:xfrm>
          <a:prstGeom prst="rect">
            <a:avLst/>
          </a:prstGeom>
          <a:noFill/>
          <a:ln/>
        </p:spPr>
        <p:txBody>
          <a:bodyPr wrap="square" lIns="0" tIns="0" rIns="0" bIns="0" rtlCol="0" anchor="t"/>
          <a:lstStyle/>
          <a:p>
            <a:pPr marL="0" indent="0">
              <a:buNone/>
            </a:pPr>
            <a:r>
              <a:rPr lang="en-US" sz="1100" dirty="0">
                <a:solidFill>
                  <a:srgbClr val="1F2937"/>
                </a:solidFill>
                <a:latin typeface="Meiryo UI" pitchFamily="34" charset="0"/>
                <a:ea typeface="Meiryo UI" pitchFamily="34" charset="-122"/>
                <a:cs typeface="Meiryo UI" pitchFamily="34" charset="-120"/>
              </a:rPr>
              <a:t>どの注文書にルールが効いたかをバッジ表示。登録ルールも閲覧可能。「中身が見えない」という不安を解消。</a:t>
            </a:r>
            <a:endParaRPr lang="en-US" sz="1100" dirty="0"/>
          </a:p>
        </p:txBody>
      </p:sp>
      <p:sp>
        <p:nvSpPr>
          <p:cNvPr id="24" name="Shape 18"/>
          <p:cNvSpPr/>
          <p:nvPr/>
        </p:nvSpPr>
        <p:spPr>
          <a:xfrm>
            <a:off x="4617720" y="3063240"/>
            <a:ext cx="4160520" cy="1417320"/>
          </a:xfrm>
          <a:prstGeom prst="rect">
            <a:avLst/>
          </a:prstGeom>
          <a:solidFill>
            <a:srgbClr val="FFFFFF"/>
          </a:solidFill>
          <a:ln w="12700">
            <a:solidFill>
              <a:srgbClr val="E2E8F0"/>
            </a:solidFill>
            <a:prstDash val="solid"/>
          </a:ln>
        </p:spPr>
      </p:sp>
      <p:sp>
        <p:nvSpPr>
          <p:cNvPr id="25" name="Shape 19"/>
          <p:cNvSpPr/>
          <p:nvPr/>
        </p:nvSpPr>
        <p:spPr>
          <a:xfrm>
            <a:off x="4617720" y="3063240"/>
            <a:ext cx="4160520" cy="411480"/>
          </a:xfrm>
          <a:prstGeom prst="rect">
            <a:avLst/>
          </a:prstGeom>
          <a:solidFill>
            <a:srgbClr val="F59E0B"/>
          </a:solidFill>
          <a:ln/>
        </p:spPr>
      </p:sp>
      <p:pic>
        <p:nvPicPr>
          <p:cNvPr id="26" name="Image 4" descr="preencoded.png"/>
          <p:cNvPicPr>
            <a:picLocks noChangeAspect="1"/>
          </p:cNvPicPr>
          <p:nvPr/>
        </p:nvPicPr>
        <p:blipFill>
          <a:blip r:embed="rId7"/>
          <a:stretch>
            <a:fillRect/>
          </a:stretch>
        </p:blipFill>
        <p:spPr>
          <a:xfrm>
            <a:off x="4709160" y="3127248"/>
            <a:ext cx="274320" cy="274320"/>
          </a:xfrm>
          <a:prstGeom prst="rect">
            <a:avLst/>
          </a:prstGeom>
        </p:spPr>
      </p:pic>
      <p:sp>
        <p:nvSpPr>
          <p:cNvPr id="27" name="Text 20"/>
          <p:cNvSpPr/>
          <p:nvPr/>
        </p:nvSpPr>
        <p:spPr>
          <a:xfrm>
            <a:off x="5074920" y="3108960"/>
            <a:ext cx="3566160" cy="329184"/>
          </a:xfrm>
          <a:prstGeom prst="rect">
            <a:avLst/>
          </a:prstGeom>
          <a:noFill/>
          <a:ln/>
        </p:spPr>
        <p:txBody>
          <a:bodyPr wrap="square" lIns="0" tIns="0" rIns="0" bIns="0" rtlCol="0" anchor="ctr"/>
          <a:lstStyle/>
          <a:p>
            <a:pPr marL="0" indent="0">
              <a:buNone/>
            </a:pPr>
            <a:r>
              <a:rPr lang="en-US" sz="1400" b="1" dirty="0">
                <a:solidFill>
                  <a:srgbClr val="FFFFFF"/>
                </a:solidFill>
                <a:latin typeface="Meiryo UI" pitchFamily="34" charset="0"/>
                <a:ea typeface="Meiryo UI" pitchFamily="34" charset="-122"/>
                <a:cs typeface="Meiryo UI" pitchFamily="34" charset="-120"/>
              </a:rPr>
              <a:t>貴社の作業はゼロ</a:t>
            </a:r>
            <a:endParaRPr lang="en-US" sz="1400" dirty="0"/>
          </a:p>
        </p:txBody>
      </p:sp>
      <p:sp>
        <p:nvSpPr>
          <p:cNvPr id="28" name="Text 21"/>
          <p:cNvSpPr/>
          <p:nvPr/>
        </p:nvSpPr>
        <p:spPr>
          <a:xfrm>
            <a:off x="4800600" y="3566160"/>
            <a:ext cx="3840480" cy="822960"/>
          </a:xfrm>
          <a:prstGeom prst="rect">
            <a:avLst/>
          </a:prstGeom>
          <a:noFill/>
          <a:ln/>
        </p:spPr>
        <p:txBody>
          <a:bodyPr wrap="square" lIns="0" tIns="0" rIns="0" bIns="0" rtlCol="0" anchor="t"/>
          <a:lstStyle/>
          <a:p>
            <a:pPr marL="0" indent="0">
              <a:buNone/>
            </a:pPr>
            <a:r>
              <a:rPr lang="en-US" sz="1100" dirty="0">
                <a:solidFill>
                  <a:srgbClr val="1F2937"/>
                </a:solidFill>
                <a:latin typeface="Meiryo UI" pitchFamily="34" charset="0"/>
                <a:ea typeface="Meiryo UI" pitchFamily="34" charset="-122"/>
                <a:cs typeface="Meiryo UI" pitchFamily="34" charset="-120"/>
              </a:rPr>
              <a:t>ルールの設計・テスト・登録・改善はすべてサグブレインが担当。普段の修正がそのままAIの改善につながる。</a:t>
            </a:r>
            <a:endParaRPr lang="en-US" sz="1100" dirty="0"/>
          </a:p>
        </p:txBody>
      </p:sp>
      <p:sp>
        <p:nvSpPr>
          <p:cNvPr id="29" name="Shape 22"/>
          <p:cNvSpPr/>
          <p:nvPr/>
        </p:nvSpPr>
        <p:spPr>
          <a:xfrm>
            <a:off x="365760" y="4480560"/>
            <a:ext cx="8412480" cy="274320"/>
          </a:xfrm>
          <a:prstGeom prst="rect">
            <a:avLst/>
          </a:prstGeom>
          <a:solidFill>
            <a:srgbClr val="EFF6FF"/>
          </a:solidFill>
          <a:ln w="6350">
            <a:solidFill>
              <a:srgbClr val="E2E8F0"/>
            </a:solidFill>
            <a:prstDash val="solid"/>
          </a:ln>
        </p:spPr>
      </p:sp>
      <p:sp>
        <p:nvSpPr>
          <p:cNvPr id="30" name="Text 23"/>
          <p:cNvSpPr/>
          <p:nvPr/>
        </p:nvSpPr>
        <p:spPr>
          <a:xfrm>
            <a:off x="502920" y="4480560"/>
            <a:ext cx="8275320" cy="274320"/>
          </a:xfrm>
          <a:prstGeom prst="rect">
            <a:avLst/>
          </a:prstGeom>
          <a:noFill/>
          <a:ln/>
        </p:spPr>
        <p:txBody>
          <a:bodyPr wrap="square" lIns="0" tIns="0" rIns="0" bIns="0" rtlCol="0" anchor="ctr"/>
          <a:lstStyle/>
          <a:p>
            <a:pPr marL="0" indent="0" algn="l">
              <a:buNone/>
            </a:pPr>
            <a:r>
              <a:rPr lang="en-US" sz="1000" dirty="0">
                <a:solidFill>
                  <a:srgbClr val="1E3A5F"/>
                </a:solidFill>
                <a:latin typeface="Meiryo UI" pitchFamily="34" charset="0"/>
                <a:ea typeface="Meiryo UI" pitchFamily="34" charset="-122"/>
                <a:cs typeface="Meiryo UI" pitchFamily="34" charset="-120"/>
              </a:rPr>
              <a:t>取引先が増えるほど・使う期間が長いほど、自動化率は高まり、手作業による修正は減っていく。</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7132320" cy="502920"/>
          </a:xfrm>
          <a:prstGeom prst="rect">
            <a:avLst/>
          </a:prstGeom>
          <a:noFill/>
          <a:ln/>
        </p:spPr>
        <p:txBody>
          <a:bodyPr wrap="square" lIns="0" tIns="0" rIns="0" bIns="0" rtlCol="0" anchor="ctr"/>
          <a:lstStyle/>
          <a:p>
            <a:pPr marL="0" indent="0" algn="l">
              <a:buNone/>
            </a:pPr>
            <a:r>
              <a:rPr lang="en-US" sz="2200" b="1" dirty="0">
                <a:solidFill>
                  <a:srgbClr val="1E3A5F"/>
                </a:solidFill>
                <a:latin typeface="Meiryo UI" pitchFamily="34" charset="0"/>
                <a:ea typeface="Meiryo UI" pitchFamily="34" charset="-122"/>
                <a:cs typeface="Meiryo UI" pitchFamily="34" charset="-120"/>
              </a:rPr>
              <a:t>差別化</a:t>
            </a:r>
            <a:r>
              <a:rPr lang="en-US" sz="2200" b="1">
                <a:solidFill>
                  <a:srgbClr val="1E3A5F"/>
                </a:solidFill>
                <a:latin typeface="Meiryo UI" pitchFamily="34" charset="0"/>
                <a:ea typeface="Meiryo UI" pitchFamily="34" charset="-122"/>
                <a:cs typeface="Meiryo UI" pitchFamily="34" charset="-120"/>
              </a:rPr>
              <a:t>：マスター</a:t>
            </a:r>
            <a:r>
              <a:rPr lang="ja-JP" altLang="en-US" sz="2200" b="1">
                <a:solidFill>
                  <a:srgbClr val="1E3A5F"/>
                </a:solidFill>
                <a:latin typeface="Meiryo UI" pitchFamily="34" charset="0"/>
                <a:ea typeface="Meiryo UI" pitchFamily="34" charset="-122"/>
                <a:cs typeface="Meiryo UI" pitchFamily="34" charset="-120"/>
              </a:rPr>
              <a:t>突合と基幹システム連携</a:t>
            </a:r>
            <a:endParaRPr lang="en-US" sz="2200" dirty="0"/>
          </a:p>
        </p:txBody>
      </p:sp>
      <p:sp>
        <p:nvSpPr>
          <p:cNvPr id="3" name="Shape 1"/>
          <p:cNvSpPr/>
          <p:nvPr/>
        </p:nvSpPr>
        <p:spPr>
          <a:xfrm>
            <a:off x="365760" y="758952"/>
            <a:ext cx="8412480" cy="0"/>
          </a:xfrm>
          <a:prstGeom prst="line">
            <a:avLst/>
          </a:prstGeom>
          <a:noFill/>
          <a:ln w="6350">
            <a:solidFill>
              <a:srgbClr val="64748B"/>
            </a:solidFill>
            <a:prstDash val="solid"/>
          </a:ln>
        </p:spPr>
      </p:sp>
      <p:sp>
        <p:nvSpPr>
          <p:cNvPr id="4" name="Text 2"/>
          <p:cNvSpPr/>
          <p:nvPr/>
        </p:nvSpPr>
        <p:spPr>
          <a:xfrm>
            <a:off x="365760" y="786384"/>
            <a:ext cx="6858000" cy="237744"/>
          </a:xfrm>
          <a:prstGeom prst="rect">
            <a:avLst/>
          </a:prstGeom>
          <a:noFill/>
          <a:ln/>
        </p:spPr>
        <p:txBody>
          <a:bodyPr wrap="square" lIns="0" tIns="0" rIns="0" bIns="0" rtlCol="0" anchor="ctr"/>
          <a:lstStyle/>
          <a:p>
            <a:pPr marL="0" indent="0" algn="l">
              <a:buNone/>
            </a:pPr>
            <a:r>
              <a:rPr lang="en-US" sz="900" i="1" dirty="0">
                <a:solidFill>
                  <a:srgbClr val="64748B"/>
                </a:solidFill>
                <a:latin typeface="Meiryo UI" pitchFamily="34" charset="0"/>
                <a:ea typeface="Meiryo UI" pitchFamily="34" charset="-122"/>
                <a:cs typeface="Meiryo UI" pitchFamily="34" charset="-120"/>
              </a:rPr>
              <a:t>AI読み取りで終わらない理由</a:t>
            </a:r>
            <a:endParaRPr lang="en-US" sz="900" dirty="0"/>
          </a:p>
        </p:txBody>
      </p:sp>
      <p:pic>
        <p:nvPicPr>
          <p:cNvPr id="5" name="Image 0" descr="preencoded.png"/>
          <p:cNvPicPr>
            <a:picLocks noChangeAspect="1"/>
          </p:cNvPicPr>
          <p:nvPr/>
        </p:nvPicPr>
        <p:blipFill>
          <a:blip r:embed="rId3"/>
          <a:stretch>
            <a:fillRect/>
          </a:stretch>
        </p:blipFill>
        <p:spPr>
          <a:xfrm>
            <a:off x="7680960" y="164592"/>
            <a:ext cx="1188720" cy="265176"/>
          </a:xfrm>
          <a:prstGeom prst="rect">
            <a:avLst/>
          </a:prstGeom>
        </p:spPr>
      </p:pic>
      <p:sp>
        <p:nvSpPr>
          <p:cNvPr id="6" name="Shape 3"/>
          <p:cNvSpPr/>
          <p:nvPr/>
        </p:nvSpPr>
        <p:spPr>
          <a:xfrm>
            <a:off x="0" y="4869180"/>
            <a:ext cx="9144000" cy="274320"/>
          </a:xfrm>
          <a:prstGeom prst="rect">
            <a:avLst/>
          </a:prstGeom>
          <a:solidFill>
            <a:srgbClr val="1CADE4"/>
          </a:solidFill>
          <a:ln/>
        </p:spPr>
      </p:sp>
      <p:sp>
        <p:nvSpPr>
          <p:cNvPr id="7" name="Text 4"/>
          <p:cNvSpPr/>
          <p:nvPr/>
        </p:nvSpPr>
        <p:spPr>
          <a:xfrm>
            <a:off x="457200" y="4869180"/>
            <a:ext cx="82296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Meiryo UI" pitchFamily="34" charset="0"/>
                <a:ea typeface="Meiryo UI" pitchFamily="34" charset="-122"/>
                <a:cs typeface="Meiryo UI" pitchFamily="34" charset="-120"/>
              </a:rPr>
              <a:t>Copyright© 2002-2026 SAGBRAIN Corp. All rights reserved.</a:t>
            </a:r>
            <a:endParaRPr lang="en-US" sz="900" dirty="0"/>
          </a:p>
        </p:txBody>
      </p:sp>
      <p:sp>
        <p:nvSpPr>
          <p:cNvPr id="8" name="Text 5"/>
          <p:cNvSpPr/>
          <p:nvPr/>
        </p:nvSpPr>
        <p:spPr>
          <a:xfrm>
            <a:off x="8503920" y="4869180"/>
            <a:ext cx="502920" cy="274320"/>
          </a:xfrm>
          <a:prstGeom prst="rect">
            <a:avLst/>
          </a:prstGeom>
          <a:noFill/>
          <a:ln/>
        </p:spPr>
        <p:txBody>
          <a:bodyPr wrap="square" lIns="0" tIns="0" rIns="0" bIns="0" rtlCol="0" anchor="ctr"/>
          <a:lstStyle/>
          <a:p>
            <a:pPr marL="0" indent="0" algn="r">
              <a:buNone/>
            </a:pPr>
            <a:r>
              <a:rPr lang="en-US" sz="1000" b="1" dirty="0">
                <a:solidFill>
                  <a:srgbClr val="FFFFFF"/>
                </a:solidFill>
                <a:latin typeface="Meiryo UI" pitchFamily="34" charset="0"/>
                <a:ea typeface="Meiryo UI" pitchFamily="34" charset="-122"/>
                <a:cs typeface="Meiryo UI" pitchFamily="34" charset="-120"/>
              </a:rPr>
              <a:t>7</a:t>
            </a:r>
            <a:endParaRPr lang="en-US" sz="1000" dirty="0"/>
          </a:p>
        </p:txBody>
      </p:sp>
      <p:sp>
        <p:nvSpPr>
          <p:cNvPr id="9" name="Text 6"/>
          <p:cNvSpPr/>
          <p:nvPr/>
        </p:nvSpPr>
        <p:spPr>
          <a:xfrm>
            <a:off x="365760" y="1097280"/>
            <a:ext cx="8412480" cy="292608"/>
          </a:xfrm>
          <a:prstGeom prst="rect">
            <a:avLst/>
          </a:prstGeom>
          <a:noFill/>
          <a:ln/>
        </p:spPr>
        <p:txBody>
          <a:bodyPr wrap="square" lIns="0" tIns="0" rIns="0" bIns="0" rtlCol="0" anchor="ctr"/>
          <a:lstStyle/>
          <a:p>
            <a:pPr marL="0" indent="0">
              <a:buNone/>
            </a:pPr>
            <a:r>
              <a:rPr lang="en-US" sz="1300" dirty="0">
                <a:solidFill>
                  <a:srgbClr val="1F2937"/>
                </a:solidFill>
                <a:latin typeface="Meiryo UI" pitchFamily="34" charset="0"/>
                <a:ea typeface="Meiryo UI" pitchFamily="34" charset="-122"/>
                <a:cs typeface="Meiryo UI" pitchFamily="34" charset="-120"/>
              </a:rPr>
              <a:t>商品</a:t>
            </a:r>
            <a:r>
              <a:rPr lang="en-US" sz="1300">
                <a:solidFill>
                  <a:srgbClr val="1F2937"/>
                </a:solidFill>
                <a:latin typeface="Meiryo UI" pitchFamily="34" charset="0"/>
                <a:ea typeface="Meiryo UI" pitchFamily="34" charset="-122"/>
                <a:cs typeface="Meiryo UI" pitchFamily="34" charset="-120"/>
              </a:rPr>
              <a:t>・顧客</a:t>
            </a:r>
            <a:r>
              <a:rPr lang="ja-JP" altLang="en-US" sz="1300">
                <a:solidFill>
                  <a:srgbClr val="1F2937"/>
                </a:solidFill>
                <a:latin typeface="Meiryo UI" pitchFamily="34" charset="0"/>
                <a:ea typeface="Meiryo UI" pitchFamily="34" charset="-122"/>
                <a:cs typeface="Meiryo UI" pitchFamily="34" charset="-120"/>
              </a:rPr>
              <a:t>マスターの突合</a:t>
            </a:r>
            <a:r>
              <a:rPr lang="en-US" sz="1300">
                <a:solidFill>
                  <a:srgbClr val="1F2937"/>
                </a:solidFill>
                <a:latin typeface="Meiryo UI" pitchFamily="34" charset="0"/>
                <a:ea typeface="Meiryo UI" pitchFamily="34" charset="-122"/>
                <a:cs typeface="Meiryo UI" pitchFamily="34" charset="-120"/>
              </a:rPr>
              <a:t>と</a:t>
            </a:r>
            <a:r>
              <a:rPr lang="en-US" sz="1300" dirty="0">
                <a:solidFill>
                  <a:srgbClr val="1F2937"/>
                </a:solidFill>
                <a:latin typeface="Meiryo UI" pitchFamily="34" charset="0"/>
                <a:ea typeface="Meiryo UI" pitchFamily="34" charset="-122"/>
                <a:cs typeface="Meiryo UI" pitchFamily="34" charset="-120"/>
              </a:rPr>
              <a:t>、既存の基幹システムとの連携。だから受注業務をまるごと自動化できる。</a:t>
            </a:r>
            <a:endParaRPr lang="en-US" sz="1300" dirty="0"/>
          </a:p>
        </p:txBody>
      </p:sp>
      <p:sp>
        <p:nvSpPr>
          <p:cNvPr id="10" name="Shape 7"/>
          <p:cNvSpPr/>
          <p:nvPr/>
        </p:nvSpPr>
        <p:spPr>
          <a:xfrm>
            <a:off x="365760" y="1481328"/>
            <a:ext cx="4160520" cy="2788920"/>
          </a:xfrm>
          <a:prstGeom prst="rect">
            <a:avLst/>
          </a:prstGeom>
          <a:solidFill>
            <a:srgbClr val="FFFFFF"/>
          </a:solidFill>
          <a:ln w="12700">
            <a:solidFill>
              <a:srgbClr val="E2E8F0"/>
            </a:solidFill>
            <a:prstDash val="solid"/>
          </a:ln>
        </p:spPr>
      </p:sp>
      <p:sp>
        <p:nvSpPr>
          <p:cNvPr id="11" name="Shape 8"/>
          <p:cNvSpPr/>
          <p:nvPr/>
        </p:nvSpPr>
        <p:spPr>
          <a:xfrm>
            <a:off x="365760" y="1481328"/>
            <a:ext cx="4160520" cy="594360"/>
          </a:xfrm>
          <a:prstGeom prst="rect">
            <a:avLst/>
          </a:prstGeom>
          <a:solidFill>
            <a:srgbClr val="2563EB"/>
          </a:solidFill>
          <a:ln/>
        </p:spPr>
      </p:sp>
      <p:sp>
        <p:nvSpPr>
          <p:cNvPr id="12" name="Text 9"/>
          <p:cNvSpPr/>
          <p:nvPr/>
        </p:nvSpPr>
        <p:spPr>
          <a:xfrm>
            <a:off x="502920" y="1536192"/>
            <a:ext cx="3886200" cy="274320"/>
          </a:xfrm>
          <a:prstGeom prst="rect">
            <a:avLst/>
          </a:prstGeom>
          <a:noFill/>
          <a:ln/>
        </p:spPr>
        <p:txBody>
          <a:bodyPr wrap="square" lIns="0" tIns="0" rIns="0" bIns="0" rtlCol="0" anchor="ctr"/>
          <a:lstStyle/>
          <a:p>
            <a:pPr marL="0" indent="0">
              <a:buNone/>
            </a:pPr>
            <a:r>
              <a:rPr lang="en-US" sz="1600" b="1" dirty="0">
                <a:solidFill>
                  <a:srgbClr val="FFFFFF"/>
                </a:solidFill>
                <a:latin typeface="Meiryo UI" pitchFamily="34" charset="0"/>
                <a:ea typeface="Meiryo UI" pitchFamily="34" charset="-122"/>
                <a:cs typeface="Meiryo UI" pitchFamily="34" charset="-120"/>
              </a:rPr>
              <a:t>商品</a:t>
            </a:r>
            <a:r>
              <a:rPr lang="en-US" sz="1600" b="1">
                <a:solidFill>
                  <a:srgbClr val="FFFFFF"/>
                </a:solidFill>
                <a:latin typeface="Meiryo UI" pitchFamily="34" charset="0"/>
                <a:ea typeface="Meiryo UI" pitchFamily="34" charset="-122"/>
                <a:cs typeface="Meiryo UI" pitchFamily="34" charset="-120"/>
              </a:rPr>
              <a:t>・顧客</a:t>
            </a:r>
            <a:r>
              <a:rPr lang="ja-JP" altLang="en-US" sz="1600" b="1">
                <a:solidFill>
                  <a:srgbClr val="FFFFFF"/>
                </a:solidFill>
                <a:latin typeface="Meiryo UI" pitchFamily="34" charset="0"/>
                <a:ea typeface="Meiryo UI" pitchFamily="34" charset="-122"/>
                <a:cs typeface="Meiryo UI" pitchFamily="34" charset="-120"/>
              </a:rPr>
              <a:t>マスターの突合</a:t>
            </a:r>
            <a:endParaRPr lang="en-US" sz="1600" dirty="0"/>
          </a:p>
        </p:txBody>
      </p:sp>
      <p:sp>
        <p:nvSpPr>
          <p:cNvPr id="13" name="Text 10"/>
          <p:cNvSpPr/>
          <p:nvPr/>
        </p:nvSpPr>
        <p:spPr>
          <a:xfrm>
            <a:off x="502920" y="1810512"/>
            <a:ext cx="3886200" cy="246888"/>
          </a:xfrm>
          <a:prstGeom prst="rect">
            <a:avLst/>
          </a:prstGeom>
          <a:noFill/>
          <a:ln/>
        </p:spPr>
        <p:txBody>
          <a:bodyPr wrap="square" lIns="0" tIns="0" rIns="0" bIns="0" rtlCol="0" anchor="ctr"/>
          <a:lstStyle/>
          <a:p>
            <a:pPr marL="0" indent="0">
              <a:buNone/>
            </a:pPr>
            <a:r>
              <a:rPr lang="en-US" sz="1000" dirty="0">
                <a:solidFill>
                  <a:srgbClr val="DBEAFE"/>
                </a:solidFill>
                <a:latin typeface="Meiryo UI" pitchFamily="34" charset="0"/>
                <a:ea typeface="Meiryo UI" pitchFamily="34" charset="-122"/>
                <a:cs typeface="Meiryo UI" pitchFamily="34" charset="-120"/>
              </a:rPr>
              <a:t>受注を、正しい品目・取引条件に結びつける</a:t>
            </a:r>
            <a:endParaRPr lang="en-US" sz="1000" dirty="0"/>
          </a:p>
        </p:txBody>
      </p:sp>
      <p:sp>
        <p:nvSpPr>
          <p:cNvPr id="14" name="Text 11"/>
          <p:cNvSpPr/>
          <p:nvPr/>
        </p:nvSpPr>
        <p:spPr>
          <a:xfrm>
            <a:off x="502920" y="2194560"/>
            <a:ext cx="1097280" cy="365760"/>
          </a:xfrm>
          <a:prstGeom prst="rect">
            <a:avLst/>
          </a:prstGeom>
          <a:noFill/>
          <a:ln/>
        </p:spPr>
        <p:txBody>
          <a:bodyPr wrap="square" lIns="0" tIns="0" rIns="0" bIns="0" rtlCol="0" anchor="t"/>
          <a:lstStyle/>
          <a:p>
            <a:pPr marL="0" indent="0">
              <a:buNone/>
            </a:pPr>
            <a:r>
              <a:rPr lang="ja-JP" altLang="en-US" sz="900" b="1">
                <a:solidFill>
                  <a:srgbClr val="2563EB"/>
                </a:solidFill>
                <a:latin typeface="Meiryo UI" pitchFamily="34" charset="0"/>
                <a:ea typeface="Meiryo UI" pitchFamily="34" charset="-122"/>
                <a:cs typeface="Meiryo UI" pitchFamily="34" charset="-120"/>
              </a:rPr>
              <a:t>突合する対象</a:t>
            </a:r>
            <a:endParaRPr lang="en-US" sz="900" dirty="0"/>
          </a:p>
        </p:txBody>
      </p:sp>
      <p:sp>
        <p:nvSpPr>
          <p:cNvPr id="15" name="Text 12"/>
          <p:cNvSpPr/>
          <p:nvPr/>
        </p:nvSpPr>
        <p:spPr>
          <a:xfrm>
            <a:off x="1645920" y="2194560"/>
            <a:ext cx="2743200" cy="365760"/>
          </a:xfrm>
          <a:prstGeom prst="rect">
            <a:avLst/>
          </a:prstGeom>
          <a:noFill/>
          <a:ln/>
        </p:spPr>
        <p:txBody>
          <a:bodyPr wrap="square" lIns="0" tIns="0" rIns="0" bIns="0" rtlCol="0" anchor="t"/>
          <a:lstStyle/>
          <a:p>
            <a:pPr marL="0" indent="0">
              <a:buNone/>
            </a:pPr>
            <a:r>
              <a:rPr lang="en-US" sz="950" dirty="0">
                <a:solidFill>
                  <a:srgbClr val="1F2937"/>
                </a:solidFill>
                <a:latin typeface="Meiryo UI" pitchFamily="34" charset="0"/>
                <a:ea typeface="Meiryo UI" pitchFamily="34" charset="-122"/>
                <a:cs typeface="Meiryo UI" pitchFamily="34" charset="-120"/>
              </a:rPr>
              <a:t>商品・顧客・取引条件（単価・掛率）</a:t>
            </a:r>
            <a:endParaRPr lang="en-US" sz="950" dirty="0"/>
          </a:p>
        </p:txBody>
      </p:sp>
      <p:sp>
        <p:nvSpPr>
          <p:cNvPr id="16" name="Text 13"/>
          <p:cNvSpPr/>
          <p:nvPr/>
        </p:nvSpPr>
        <p:spPr>
          <a:xfrm>
            <a:off x="502920" y="2587752"/>
            <a:ext cx="1097280" cy="365760"/>
          </a:xfrm>
          <a:prstGeom prst="rect">
            <a:avLst/>
          </a:prstGeom>
          <a:noFill/>
          <a:ln/>
        </p:spPr>
        <p:txBody>
          <a:bodyPr wrap="square" lIns="0" tIns="0" rIns="0" bIns="0" rtlCol="0" anchor="t"/>
          <a:lstStyle/>
          <a:p>
            <a:pPr marL="0" indent="0">
              <a:buNone/>
            </a:pPr>
            <a:r>
              <a:rPr lang="en-US" sz="900" b="1" dirty="0">
                <a:solidFill>
                  <a:srgbClr val="2563EB"/>
                </a:solidFill>
                <a:latin typeface="Meiryo UI" pitchFamily="34" charset="0"/>
                <a:ea typeface="Meiryo UI" pitchFamily="34" charset="-122"/>
                <a:cs typeface="Meiryo UI" pitchFamily="34" charset="-120"/>
              </a:rPr>
              <a:t>仕組み</a:t>
            </a:r>
            <a:endParaRPr lang="en-US" sz="900" dirty="0"/>
          </a:p>
        </p:txBody>
      </p:sp>
      <p:sp>
        <p:nvSpPr>
          <p:cNvPr id="17" name="Text 14"/>
          <p:cNvSpPr/>
          <p:nvPr/>
        </p:nvSpPr>
        <p:spPr>
          <a:xfrm>
            <a:off x="1645920" y="2587752"/>
            <a:ext cx="2743200" cy="365760"/>
          </a:xfrm>
          <a:prstGeom prst="rect">
            <a:avLst/>
          </a:prstGeom>
          <a:noFill/>
          <a:ln/>
        </p:spPr>
        <p:txBody>
          <a:bodyPr wrap="square" lIns="0" tIns="0" rIns="0" bIns="0" rtlCol="0" anchor="t"/>
          <a:lstStyle/>
          <a:p>
            <a:pPr marL="0" indent="0">
              <a:buNone/>
            </a:pPr>
            <a:r>
              <a:rPr lang="en-US" sz="950">
                <a:solidFill>
                  <a:srgbClr val="1F2937"/>
                </a:solidFill>
                <a:latin typeface="Meiryo UI" pitchFamily="34" charset="0"/>
                <a:ea typeface="Meiryo UI" pitchFamily="34" charset="-122"/>
                <a:cs typeface="Meiryo UI" pitchFamily="34" charset="-120"/>
              </a:rPr>
              <a:t>AIが受注内容を</a:t>
            </a:r>
            <a:r>
              <a:rPr lang="ja-JP" altLang="en-US" sz="950">
                <a:solidFill>
                  <a:srgbClr val="1F2937"/>
                </a:solidFill>
                <a:latin typeface="Meiryo UI" pitchFamily="34" charset="0"/>
                <a:ea typeface="Meiryo UI" pitchFamily="34" charset="-122"/>
                <a:cs typeface="Meiryo UI" pitchFamily="34" charset="-120"/>
              </a:rPr>
              <a:t>マスターに自動で突合</a:t>
            </a:r>
            <a:endParaRPr lang="en-US" sz="950" dirty="0"/>
          </a:p>
        </p:txBody>
      </p:sp>
      <p:sp>
        <p:nvSpPr>
          <p:cNvPr id="18" name="Text 15"/>
          <p:cNvSpPr/>
          <p:nvPr/>
        </p:nvSpPr>
        <p:spPr>
          <a:xfrm>
            <a:off x="502920" y="2980944"/>
            <a:ext cx="1097280" cy="365760"/>
          </a:xfrm>
          <a:prstGeom prst="rect">
            <a:avLst/>
          </a:prstGeom>
          <a:noFill/>
          <a:ln/>
        </p:spPr>
        <p:txBody>
          <a:bodyPr wrap="square" lIns="0" tIns="0" rIns="0" bIns="0" rtlCol="0" anchor="t"/>
          <a:lstStyle/>
          <a:p>
            <a:pPr marL="0" indent="0">
              <a:buNone/>
            </a:pPr>
            <a:r>
              <a:rPr lang="en-US" sz="900" b="1" dirty="0">
                <a:solidFill>
                  <a:srgbClr val="2563EB"/>
                </a:solidFill>
                <a:latin typeface="Meiryo UI" pitchFamily="34" charset="0"/>
                <a:ea typeface="Meiryo UI" pitchFamily="34" charset="-122"/>
                <a:cs typeface="Meiryo UI" pitchFamily="34" charset="-120"/>
              </a:rPr>
              <a:t>解決する課題</a:t>
            </a:r>
            <a:endParaRPr lang="en-US" sz="900" dirty="0"/>
          </a:p>
        </p:txBody>
      </p:sp>
      <p:sp>
        <p:nvSpPr>
          <p:cNvPr id="19" name="Text 16"/>
          <p:cNvSpPr/>
          <p:nvPr/>
        </p:nvSpPr>
        <p:spPr>
          <a:xfrm>
            <a:off x="1645920" y="2980944"/>
            <a:ext cx="2743200" cy="365760"/>
          </a:xfrm>
          <a:prstGeom prst="rect">
            <a:avLst/>
          </a:prstGeom>
          <a:noFill/>
          <a:ln/>
        </p:spPr>
        <p:txBody>
          <a:bodyPr wrap="square" lIns="0" tIns="0" rIns="0" bIns="0" rtlCol="0" anchor="t"/>
          <a:lstStyle/>
          <a:p>
            <a:pPr marL="0" indent="0">
              <a:buNone/>
            </a:pPr>
            <a:r>
              <a:rPr lang="en-US" sz="950" dirty="0">
                <a:solidFill>
                  <a:srgbClr val="1F2937"/>
                </a:solidFill>
                <a:latin typeface="Meiryo UI" pitchFamily="34" charset="0"/>
                <a:ea typeface="Meiryo UI" pitchFamily="34" charset="-122"/>
                <a:cs typeface="Meiryo UI" pitchFamily="34" charset="-120"/>
              </a:rPr>
              <a:t>表記ゆれ・重複・二重メンテ</a:t>
            </a:r>
            <a:endParaRPr lang="en-US" sz="950" dirty="0"/>
          </a:p>
        </p:txBody>
      </p:sp>
      <p:sp>
        <p:nvSpPr>
          <p:cNvPr id="20" name="Text 17"/>
          <p:cNvSpPr/>
          <p:nvPr/>
        </p:nvSpPr>
        <p:spPr>
          <a:xfrm>
            <a:off x="502920" y="3374136"/>
            <a:ext cx="1097280" cy="365760"/>
          </a:xfrm>
          <a:prstGeom prst="rect">
            <a:avLst/>
          </a:prstGeom>
          <a:noFill/>
          <a:ln/>
        </p:spPr>
        <p:txBody>
          <a:bodyPr wrap="square" lIns="0" tIns="0" rIns="0" bIns="0" rtlCol="0" anchor="t"/>
          <a:lstStyle/>
          <a:p>
            <a:pPr marL="0" indent="0">
              <a:buNone/>
            </a:pPr>
            <a:r>
              <a:rPr lang="en-US" sz="900" b="1" dirty="0">
                <a:solidFill>
                  <a:srgbClr val="2563EB"/>
                </a:solidFill>
                <a:latin typeface="Meiryo UI" pitchFamily="34" charset="0"/>
                <a:ea typeface="Meiryo UI" pitchFamily="34" charset="-122"/>
                <a:cs typeface="Meiryo UI" pitchFamily="34" charset="-120"/>
              </a:rPr>
              <a:t>効果</a:t>
            </a:r>
            <a:endParaRPr lang="en-US" sz="900" dirty="0"/>
          </a:p>
        </p:txBody>
      </p:sp>
      <p:sp>
        <p:nvSpPr>
          <p:cNvPr id="21" name="Text 18"/>
          <p:cNvSpPr/>
          <p:nvPr/>
        </p:nvSpPr>
        <p:spPr>
          <a:xfrm>
            <a:off x="1645920" y="3374136"/>
            <a:ext cx="2743200" cy="365760"/>
          </a:xfrm>
          <a:prstGeom prst="rect">
            <a:avLst/>
          </a:prstGeom>
          <a:noFill/>
          <a:ln/>
        </p:spPr>
        <p:txBody>
          <a:bodyPr wrap="square" lIns="0" tIns="0" rIns="0" bIns="0" rtlCol="0" anchor="t"/>
          <a:lstStyle/>
          <a:p>
            <a:pPr marL="0" indent="0">
              <a:buNone/>
            </a:pPr>
            <a:r>
              <a:rPr lang="en-US" sz="950" dirty="0">
                <a:solidFill>
                  <a:srgbClr val="1F2937"/>
                </a:solidFill>
                <a:latin typeface="Meiryo UI" pitchFamily="34" charset="0"/>
                <a:ea typeface="Meiryo UI" pitchFamily="34" charset="-122"/>
                <a:cs typeface="Meiryo UI" pitchFamily="34" charset="-120"/>
              </a:rPr>
              <a:t>正しい品目・単価で受注データ化、属人化を解消</a:t>
            </a:r>
            <a:endParaRPr lang="en-US" sz="950" dirty="0"/>
          </a:p>
        </p:txBody>
      </p:sp>
      <p:sp>
        <p:nvSpPr>
          <p:cNvPr id="22" name="Text 19"/>
          <p:cNvSpPr/>
          <p:nvPr/>
        </p:nvSpPr>
        <p:spPr>
          <a:xfrm>
            <a:off x="502920" y="3767328"/>
            <a:ext cx="1097280" cy="365760"/>
          </a:xfrm>
          <a:prstGeom prst="rect">
            <a:avLst/>
          </a:prstGeom>
          <a:noFill/>
          <a:ln/>
        </p:spPr>
        <p:txBody>
          <a:bodyPr wrap="square" lIns="0" tIns="0" rIns="0" bIns="0" rtlCol="0" anchor="t"/>
          <a:lstStyle/>
          <a:p>
            <a:pPr marL="0" indent="0">
              <a:buNone/>
            </a:pPr>
            <a:r>
              <a:rPr lang="en-US" sz="900" b="1" dirty="0">
                <a:solidFill>
                  <a:srgbClr val="2563EB"/>
                </a:solidFill>
                <a:latin typeface="Meiryo UI" pitchFamily="34" charset="0"/>
                <a:ea typeface="Meiryo UI" pitchFamily="34" charset="-122"/>
                <a:cs typeface="Meiryo UI" pitchFamily="34" charset="-120"/>
              </a:rPr>
              <a:t>導入</a:t>
            </a:r>
            <a:endParaRPr lang="en-US" sz="900" dirty="0"/>
          </a:p>
        </p:txBody>
      </p:sp>
      <p:sp>
        <p:nvSpPr>
          <p:cNvPr id="23" name="Text 20"/>
          <p:cNvSpPr/>
          <p:nvPr/>
        </p:nvSpPr>
        <p:spPr>
          <a:xfrm>
            <a:off x="1645920" y="3767328"/>
            <a:ext cx="2743200" cy="365760"/>
          </a:xfrm>
          <a:prstGeom prst="rect">
            <a:avLst/>
          </a:prstGeom>
          <a:noFill/>
          <a:ln/>
        </p:spPr>
        <p:txBody>
          <a:bodyPr wrap="square" lIns="0" tIns="0" rIns="0" bIns="0" rtlCol="0" anchor="t"/>
          <a:lstStyle/>
          <a:p>
            <a:pPr marL="0" indent="0">
              <a:buNone/>
            </a:pPr>
            <a:r>
              <a:rPr lang="en-US" sz="950" dirty="0">
                <a:solidFill>
                  <a:srgbClr val="1F2937"/>
                </a:solidFill>
                <a:latin typeface="Meiryo UI" pitchFamily="34" charset="0"/>
                <a:ea typeface="Meiryo UI" pitchFamily="34" charset="-122"/>
                <a:cs typeface="Meiryo UI" pitchFamily="34" charset="-120"/>
              </a:rPr>
              <a:t>既存マスターを取り込み、段階的に整備</a:t>
            </a:r>
            <a:endParaRPr lang="en-US" sz="950" dirty="0"/>
          </a:p>
        </p:txBody>
      </p:sp>
      <p:sp>
        <p:nvSpPr>
          <p:cNvPr id="24" name="Shape 21"/>
          <p:cNvSpPr/>
          <p:nvPr/>
        </p:nvSpPr>
        <p:spPr>
          <a:xfrm>
            <a:off x="4617720" y="1481328"/>
            <a:ext cx="4160520" cy="2788920"/>
          </a:xfrm>
          <a:prstGeom prst="rect">
            <a:avLst/>
          </a:prstGeom>
          <a:solidFill>
            <a:srgbClr val="FFFFFF"/>
          </a:solidFill>
          <a:ln w="12700">
            <a:solidFill>
              <a:srgbClr val="E2E8F0"/>
            </a:solidFill>
            <a:prstDash val="solid"/>
          </a:ln>
        </p:spPr>
      </p:sp>
      <p:sp>
        <p:nvSpPr>
          <p:cNvPr id="25" name="Shape 22"/>
          <p:cNvSpPr/>
          <p:nvPr/>
        </p:nvSpPr>
        <p:spPr>
          <a:xfrm>
            <a:off x="4617720" y="1481328"/>
            <a:ext cx="4160520" cy="594360"/>
          </a:xfrm>
          <a:prstGeom prst="rect">
            <a:avLst/>
          </a:prstGeom>
          <a:solidFill>
            <a:srgbClr val="F59E0B"/>
          </a:solidFill>
          <a:ln/>
        </p:spPr>
      </p:sp>
      <p:sp>
        <p:nvSpPr>
          <p:cNvPr id="26" name="Text 23"/>
          <p:cNvSpPr/>
          <p:nvPr/>
        </p:nvSpPr>
        <p:spPr>
          <a:xfrm>
            <a:off x="4754880" y="1536192"/>
            <a:ext cx="3886200" cy="274320"/>
          </a:xfrm>
          <a:prstGeom prst="rect">
            <a:avLst/>
          </a:prstGeom>
          <a:noFill/>
          <a:ln/>
        </p:spPr>
        <p:txBody>
          <a:bodyPr wrap="square" lIns="0" tIns="0" rIns="0" bIns="0" rtlCol="0" anchor="ctr"/>
          <a:lstStyle/>
          <a:p>
            <a:pPr marL="0" indent="0">
              <a:buNone/>
            </a:pPr>
            <a:r>
              <a:rPr lang="en-US" sz="1600" b="1" dirty="0">
                <a:solidFill>
                  <a:srgbClr val="FFFFFF"/>
                </a:solidFill>
                <a:latin typeface="Meiryo UI" pitchFamily="34" charset="0"/>
                <a:ea typeface="Meiryo UI" pitchFamily="34" charset="-122"/>
                <a:cs typeface="Meiryo UI" pitchFamily="34" charset="-120"/>
              </a:rPr>
              <a:t>基幹システムとの連携</a:t>
            </a:r>
            <a:endParaRPr lang="en-US" sz="1600" dirty="0"/>
          </a:p>
        </p:txBody>
      </p:sp>
      <p:sp>
        <p:nvSpPr>
          <p:cNvPr id="27" name="Text 24"/>
          <p:cNvSpPr/>
          <p:nvPr/>
        </p:nvSpPr>
        <p:spPr>
          <a:xfrm>
            <a:off x="4754880" y="1810512"/>
            <a:ext cx="3886200" cy="246888"/>
          </a:xfrm>
          <a:prstGeom prst="rect">
            <a:avLst/>
          </a:prstGeom>
          <a:noFill/>
          <a:ln/>
        </p:spPr>
        <p:txBody>
          <a:bodyPr wrap="square" lIns="0" tIns="0" rIns="0" bIns="0" rtlCol="0" anchor="ctr"/>
          <a:lstStyle/>
          <a:p>
            <a:pPr marL="0" indent="0">
              <a:buNone/>
            </a:pPr>
            <a:r>
              <a:rPr lang="en-US" sz="1000" dirty="0">
                <a:solidFill>
                  <a:srgbClr val="DBEAFE"/>
                </a:solidFill>
                <a:latin typeface="Meiryo UI" pitchFamily="34" charset="0"/>
                <a:ea typeface="Meiryo UI" pitchFamily="34" charset="-122"/>
                <a:cs typeface="Meiryo UI" pitchFamily="34" charset="-120"/>
              </a:rPr>
              <a:t>既存システムは載せ替え不要。受注データを自動連携</a:t>
            </a:r>
            <a:endParaRPr lang="en-US" sz="1000" dirty="0"/>
          </a:p>
        </p:txBody>
      </p:sp>
      <p:sp>
        <p:nvSpPr>
          <p:cNvPr id="28" name="Text 25"/>
          <p:cNvSpPr/>
          <p:nvPr/>
        </p:nvSpPr>
        <p:spPr>
          <a:xfrm>
            <a:off x="4754880" y="2194560"/>
            <a:ext cx="1097280" cy="365760"/>
          </a:xfrm>
          <a:prstGeom prst="rect">
            <a:avLst/>
          </a:prstGeom>
          <a:noFill/>
          <a:ln/>
        </p:spPr>
        <p:txBody>
          <a:bodyPr wrap="square" lIns="0" tIns="0" rIns="0" bIns="0" rtlCol="0" anchor="t"/>
          <a:lstStyle/>
          <a:p>
            <a:pPr marL="0" indent="0">
              <a:buNone/>
            </a:pPr>
            <a:r>
              <a:rPr lang="en-US" sz="900" b="1" dirty="0">
                <a:solidFill>
                  <a:srgbClr val="2563EB"/>
                </a:solidFill>
                <a:latin typeface="Meiryo UI" pitchFamily="34" charset="0"/>
                <a:ea typeface="Meiryo UI" pitchFamily="34" charset="-122"/>
                <a:cs typeface="Meiryo UI" pitchFamily="34" charset="-120"/>
              </a:rPr>
              <a:t>連携対象</a:t>
            </a:r>
            <a:endParaRPr lang="en-US" sz="900" dirty="0"/>
          </a:p>
        </p:txBody>
      </p:sp>
      <p:sp>
        <p:nvSpPr>
          <p:cNvPr id="29" name="Text 26"/>
          <p:cNvSpPr/>
          <p:nvPr/>
        </p:nvSpPr>
        <p:spPr>
          <a:xfrm>
            <a:off x="5897880" y="2194560"/>
            <a:ext cx="2743200" cy="365760"/>
          </a:xfrm>
          <a:prstGeom prst="rect">
            <a:avLst/>
          </a:prstGeom>
          <a:noFill/>
          <a:ln/>
        </p:spPr>
        <p:txBody>
          <a:bodyPr wrap="square" lIns="0" tIns="0" rIns="0" bIns="0" rtlCol="0" anchor="t"/>
          <a:lstStyle/>
          <a:p>
            <a:pPr marL="0" indent="0">
              <a:buNone/>
            </a:pPr>
            <a:r>
              <a:rPr lang="en-US" sz="950" dirty="0">
                <a:solidFill>
                  <a:srgbClr val="1F2937"/>
                </a:solidFill>
                <a:latin typeface="Meiryo UI" pitchFamily="34" charset="0"/>
                <a:ea typeface="Meiryo UI" pitchFamily="34" charset="-122"/>
                <a:cs typeface="Meiryo UI" pitchFamily="34" charset="-120"/>
              </a:rPr>
              <a:t>既存の販売・基幹システム</a:t>
            </a:r>
            <a:endParaRPr lang="en-US" sz="950" dirty="0"/>
          </a:p>
        </p:txBody>
      </p:sp>
      <p:sp>
        <p:nvSpPr>
          <p:cNvPr id="30" name="Text 27"/>
          <p:cNvSpPr/>
          <p:nvPr/>
        </p:nvSpPr>
        <p:spPr>
          <a:xfrm>
            <a:off x="4754880" y="2587752"/>
            <a:ext cx="1097280" cy="365760"/>
          </a:xfrm>
          <a:prstGeom prst="rect">
            <a:avLst/>
          </a:prstGeom>
          <a:noFill/>
          <a:ln/>
        </p:spPr>
        <p:txBody>
          <a:bodyPr wrap="square" lIns="0" tIns="0" rIns="0" bIns="0" rtlCol="0" anchor="t"/>
          <a:lstStyle/>
          <a:p>
            <a:pPr marL="0" indent="0">
              <a:buNone/>
            </a:pPr>
            <a:r>
              <a:rPr lang="en-US" sz="900" b="1" dirty="0">
                <a:solidFill>
                  <a:srgbClr val="2563EB"/>
                </a:solidFill>
                <a:latin typeface="Meiryo UI" pitchFamily="34" charset="0"/>
                <a:ea typeface="Meiryo UI" pitchFamily="34" charset="-122"/>
                <a:cs typeface="Meiryo UI" pitchFamily="34" charset="-120"/>
              </a:rPr>
              <a:t>連携方式</a:t>
            </a:r>
            <a:endParaRPr lang="en-US" sz="900" dirty="0"/>
          </a:p>
        </p:txBody>
      </p:sp>
      <p:sp>
        <p:nvSpPr>
          <p:cNvPr id="31" name="Text 28"/>
          <p:cNvSpPr/>
          <p:nvPr/>
        </p:nvSpPr>
        <p:spPr>
          <a:xfrm>
            <a:off x="5897880" y="2587752"/>
            <a:ext cx="2743200" cy="365760"/>
          </a:xfrm>
          <a:prstGeom prst="rect">
            <a:avLst/>
          </a:prstGeom>
          <a:noFill/>
          <a:ln/>
        </p:spPr>
        <p:txBody>
          <a:bodyPr wrap="square" lIns="0" tIns="0" rIns="0" bIns="0" rtlCol="0" anchor="t"/>
          <a:lstStyle/>
          <a:p>
            <a:pPr marL="0" indent="0">
              <a:buNone/>
            </a:pPr>
            <a:r>
              <a:rPr lang="en-US" sz="950" dirty="0">
                <a:solidFill>
                  <a:srgbClr val="1F2937"/>
                </a:solidFill>
                <a:latin typeface="Meiryo UI" pitchFamily="34" charset="0"/>
                <a:ea typeface="Meiryo UI" pitchFamily="34" charset="-122"/>
                <a:cs typeface="Meiryo UI" pitchFamily="34" charset="-120"/>
              </a:rPr>
              <a:t>受注データをCSV／API／SFTPで自動連携</a:t>
            </a:r>
            <a:endParaRPr lang="en-US" sz="950" dirty="0"/>
          </a:p>
        </p:txBody>
      </p:sp>
      <p:sp>
        <p:nvSpPr>
          <p:cNvPr id="32" name="Text 29"/>
          <p:cNvSpPr/>
          <p:nvPr/>
        </p:nvSpPr>
        <p:spPr>
          <a:xfrm>
            <a:off x="4754880" y="2980944"/>
            <a:ext cx="1097280" cy="365760"/>
          </a:xfrm>
          <a:prstGeom prst="rect">
            <a:avLst/>
          </a:prstGeom>
          <a:noFill/>
          <a:ln/>
        </p:spPr>
        <p:txBody>
          <a:bodyPr wrap="square" lIns="0" tIns="0" rIns="0" bIns="0" rtlCol="0" anchor="t"/>
          <a:lstStyle/>
          <a:p>
            <a:pPr marL="0" indent="0">
              <a:buNone/>
            </a:pPr>
            <a:r>
              <a:rPr lang="en-US" sz="900" b="1" dirty="0">
                <a:solidFill>
                  <a:srgbClr val="2563EB"/>
                </a:solidFill>
                <a:latin typeface="Meiryo UI" pitchFamily="34" charset="0"/>
                <a:ea typeface="Meiryo UI" pitchFamily="34" charset="-122"/>
                <a:cs typeface="Meiryo UI" pitchFamily="34" charset="-120"/>
              </a:rPr>
              <a:t>解決する課題</a:t>
            </a:r>
            <a:endParaRPr lang="en-US" sz="900" dirty="0"/>
          </a:p>
        </p:txBody>
      </p:sp>
      <p:sp>
        <p:nvSpPr>
          <p:cNvPr id="33" name="Text 30"/>
          <p:cNvSpPr/>
          <p:nvPr/>
        </p:nvSpPr>
        <p:spPr>
          <a:xfrm>
            <a:off x="5897880" y="2980944"/>
            <a:ext cx="2743200" cy="365760"/>
          </a:xfrm>
          <a:prstGeom prst="rect">
            <a:avLst/>
          </a:prstGeom>
          <a:noFill/>
          <a:ln/>
        </p:spPr>
        <p:txBody>
          <a:bodyPr wrap="square" lIns="0" tIns="0" rIns="0" bIns="0" rtlCol="0" anchor="t"/>
          <a:lstStyle/>
          <a:p>
            <a:pPr marL="0" indent="0">
              <a:buNone/>
            </a:pPr>
            <a:r>
              <a:rPr lang="en-US" sz="950" dirty="0">
                <a:solidFill>
                  <a:srgbClr val="1F2937"/>
                </a:solidFill>
                <a:latin typeface="Meiryo UI" pitchFamily="34" charset="0"/>
                <a:ea typeface="Meiryo UI" pitchFamily="34" charset="-122"/>
                <a:cs typeface="Meiryo UI" pitchFamily="34" charset="-120"/>
              </a:rPr>
              <a:t>受注の再入力・転記ミス</a:t>
            </a:r>
            <a:endParaRPr lang="en-US" sz="950" dirty="0"/>
          </a:p>
        </p:txBody>
      </p:sp>
      <p:sp>
        <p:nvSpPr>
          <p:cNvPr id="34" name="Text 31"/>
          <p:cNvSpPr/>
          <p:nvPr/>
        </p:nvSpPr>
        <p:spPr>
          <a:xfrm>
            <a:off x="4754880" y="3374136"/>
            <a:ext cx="1097280" cy="365760"/>
          </a:xfrm>
          <a:prstGeom prst="rect">
            <a:avLst/>
          </a:prstGeom>
          <a:noFill/>
          <a:ln/>
        </p:spPr>
        <p:txBody>
          <a:bodyPr wrap="square" lIns="0" tIns="0" rIns="0" bIns="0" rtlCol="0" anchor="t"/>
          <a:lstStyle/>
          <a:p>
            <a:pPr marL="0" indent="0">
              <a:buNone/>
            </a:pPr>
            <a:r>
              <a:rPr lang="en-US" sz="900" b="1" dirty="0">
                <a:solidFill>
                  <a:srgbClr val="2563EB"/>
                </a:solidFill>
                <a:latin typeface="Meiryo UI" pitchFamily="34" charset="0"/>
                <a:ea typeface="Meiryo UI" pitchFamily="34" charset="-122"/>
                <a:cs typeface="Meiryo UI" pitchFamily="34" charset="-120"/>
              </a:rPr>
              <a:t>効果</a:t>
            </a:r>
            <a:endParaRPr lang="en-US" sz="900" dirty="0"/>
          </a:p>
        </p:txBody>
      </p:sp>
      <p:sp>
        <p:nvSpPr>
          <p:cNvPr id="35" name="Text 32"/>
          <p:cNvSpPr/>
          <p:nvPr/>
        </p:nvSpPr>
        <p:spPr>
          <a:xfrm>
            <a:off x="5897880" y="3374136"/>
            <a:ext cx="2743200" cy="365760"/>
          </a:xfrm>
          <a:prstGeom prst="rect">
            <a:avLst/>
          </a:prstGeom>
          <a:noFill/>
          <a:ln/>
        </p:spPr>
        <p:txBody>
          <a:bodyPr wrap="square" lIns="0" tIns="0" rIns="0" bIns="0" rtlCol="0" anchor="t"/>
          <a:lstStyle/>
          <a:p>
            <a:pPr marL="0" indent="0">
              <a:buNone/>
            </a:pPr>
            <a:r>
              <a:rPr lang="en-US" sz="950" dirty="0">
                <a:solidFill>
                  <a:srgbClr val="1F2937"/>
                </a:solidFill>
                <a:latin typeface="Meiryo UI" pitchFamily="34" charset="0"/>
                <a:ea typeface="Meiryo UI" pitchFamily="34" charset="-122"/>
                <a:cs typeface="Meiryo UI" pitchFamily="34" charset="-120"/>
              </a:rPr>
              <a:t>二重入力ゼロ、受注〜計上のリードタイムを短縮</a:t>
            </a:r>
            <a:endParaRPr lang="en-US" sz="950" dirty="0"/>
          </a:p>
        </p:txBody>
      </p:sp>
      <p:sp>
        <p:nvSpPr>
          <p:cNvPr id="36" name="Text 33"/>
          <p:cNvSpPr/>
          <p:nvPr/>
        </p:nvSpPr>
        <p:spPr>
          <a:xfrm>
            <a:off x="4754880" y="3767328"/>
            <a:ext cx="1097280" cy="365760"/>
          </a:xfrm>
          <a:prstGeom prst="rect">
            <a:avLst/>
          </a:prstGeom>
          <a:noFill/>
          <a:ln/>
        </p:spPr>
        <p:txBody>
          <a:bodyPr wrap="square" lIns="0" tIns="0" rIns="0" bIns="0" rtlCol="0" anchor="t"/>
          <a:lstStyle/>
          <a:p>
            <a:pPr marL="0" indent="0">
              <a:buNone/>
            </a:pPr>
            <a:r>
              <a:rPr lang="en-US" sz="900" b="1" dirty="0">
                <a:solidFill>
                  <a:srgbClr val="2563EB"/>
                </a:solidFill>
                <a:latin typeface="Meiryo UI" pitchFamily="34" charset="0"/>
                <a:ea typeface="Meiryo UI" pitchFamily="34" charset="-122"/>
                <a:cs typeface="Meiryo UI" pitchFamily="34" charset="-120"/>
              </a:rPr>
              <a:t>導入</a:t>
            </a:r>
            <a:endParaRPr lang="en-US" sz="900" dirty="0"/>
          </a:p>
        </p:txBody>
      </p:sp>
      <p:sp>
        <p:nvSpPr>
          <p:cNvPr id="37" name="Text 34"/>
          <p:cNvSpPr/>
          <p:nvPr/>
        </p:nvSpPr>
        <p:spPr>
          <a:xfrm>
            <a:off x="5897880" y="3767328"/>
            <a:ext cx="2743200" cy="365760"/>
          </a:xfrm>
          <a:prstGeom prst="rect">
            <a:avLst/>
          </a:prstGeom>
          <a:noFill/>
          <a:ln/>
        </p:spPr>
        <p:txBody>
          <a:bodyPr wrap="square" lIns="0" tIns="0" rIns="0" bIns="0" rtlCol="0" anchor="t"/>
          <a:lstStyle/>
          <a:p>
            <a:pPr marL="0" indent="0">
              <a:buNone/>
            </a:pPr>
            <a:r>
              <a:rPr lang="en-US" sz="950" dirty="0">
                <a:solidFill>
                  <a:srgbClr val="1F2937"/>
                </a:solidFill>
                <a:latin typeface="Meiryo UI" pitchFamily="34" charset="0"/>
                <a:ea typeface="Meiryo UI" pitchFamily="34" charset="-122"/>
                <a:cs typeface="Meiryo UI" pitchFamily="34" charset="-120"/>
              </a:rPr>
              <a:t>基幹は載せ替え不要、そのまま連携</a:t>
            </a:r>
            <a:endParaRPr lang="en-US" sz="950" dirty="0"/>
          </a:p>
        </p:txBody>
      </p:sp>
      <p:sp>
        <p:nvSpPr>
          <p:cNvPr id="38" name="Shape 35"/>
          <p:cNvSpPr/>
          <p:nvPr/>
        </p:nvSpPr>
        <p:spPr>
          <a:xfrm>
            <a:off x="365760" y="4241800"/>
            <a:ext cx="8412480" cy="381000"/>
          </a:xfrm>
          <a:prstGeom prst="rect">
            <a:avLst/>
          </a:prstGeom>
          <a:solidFill>
            <a:srgbClr val="EFF6FF"/>
          </a:solidFill>
          <a:ln w="9525">
            <a:solidFill>
              <a:srgbClr val="2563EB"/>
            </a:solidFill>
            <a:prstDash val="solid"/>
          </a:ln>
        </p:spPr>
      </p:sp>
      <p:sp>
        <p:nvSpPr>
          <p:cNvPr id="41" name="テキスト ボックス 40">
            <a:extLst>
              <a:ext uri="{FF2B5EF4-FFF2-40B4-BE49-F238E27FC236}">
                <a16:creationId xmlns:a16="http://schemas.microsoft.com/office/drawing/2014/main" id="{E2D4EE2D-2C81-2597-AB5A-3CB41239ED17}"/>
              </a:ext>
            </a:extLst>
          </p:cNvPr>
          <p:cNvSpPr txBox="1"/>
          <p:nvPr/>
        </p:nvSpPr>
        <p:spPr>
          <a:xfrm>
            <a:off x="551180" y="4365583"/>
            <a:ext cx="8407400" cy="169277"/>
          </a:xfrm>
          <a:prstGeom prst="rect">
            <a:avLst/>
          </a:prstGeom>
          <a:noFill/>
        </p:spPr>
        <p:txBody>
          <a:bodyPr vert="horz" wrap="square" tIns="0" bIns="0" rtlCol="0">
            <a:spAutoFit/>
          </a:bodyPr>
          <a:lstStyle/>
          <a:p>
            <a:r>
              <a:rPr kumimoji="1" lang="en-US" altLang="ja-JP" sz="1100" b="1" dirty="0">
                <a:solidFill>
                  <a:srgbClr val="757575"/>
                </a:solidFill>
                <a:latin typeface="Meiryo" panose="020B0604030504040204" pitchFamily="50" charset="-128"/>
              </a:rPr>
              <a:t>※</a:t>
            </a:r>
            <a:r>
              <a:rPr kumimoji="1" lang="ja-JP" altLang="en-US" sz="1100" b="1" dirty="0">
                <a:solidFill>
                  <a:srgbClr val="757575"/>
                </a:solidFill>
                <a:latin typeface="Meiryo" panose="020B0604030504040204" pitchFamily="50" charset="-128"/>
              </a:rPr>
              <a:t>基幹システムとの連携は別途お見積りになりますので、お問い合わせください。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7132320" cy="502920"/>
          </a:xfrm>
          <a:prstGeom prst="rect">
            <a:avLst/>
          </a:prstGeom>
          <a:noFill/>
          <a:ln/>
        </p:spPr>
        <p:txBody>
          <a:bodyPr wrap="square" lIns="0" tIns="0" rIns="0" bIns="0" rtlCol="0" anchor="ctr"/>
          <a:lstStyle/>
          <a:p>
            <a:pPr marL="0" indent="0" algn="l">
              <a:buNone/>
            </a:pPr>
            <a:r>
              <a:rPr lang="en-US" sz="2200" b="1" dirty="0">
                <a:solidFill>
                  <a:srgbClr val="1E3A5F"/>
                </a:solidFill>
                <a:latin typeface="Meiryo UI" pitchFamily="34" charset="0"/>
                <a:ea typeface="Meiryo UI" pitchFamily="34" charset="-122"/>
                <a:cs typeface="Meiryo UI" pitchFamily="34" charset="-120"/>
              </a:rPr>
              <a:t>価格モデル：受注効率化・AI自動化</a:t>
            </a:r>
            <a:endParaRPr lang="en-US" sz="2200" dirty="0"/>
          </a:p>
        </p:txBody>
      </p:sp>
      <p:sp>
        <p:nvSpPr>
          <p:cNvPr id="3" name="Shape 1"/>
          <p:cNvSpPr/>
          <p:nvPr/>
        </p:nvSpPr>
        <p:spPr>
          <a:xfrm>
            <a:off x="365760" y="758952"/>
            <a:ext cx="8412480" cy="0"/>
          </a:xfrm>
          <a:prstGeom prst="line">
            <a:avLst/>
          </a:prstGeom>
          <a:noFill/>
          <a:ln w="6350">
            <a:solidFill>
              <a:srgbClr val="64748B"/>
            </a:solidFill>
            <a:prstDash val="solid"/>
          </a:ln>
        </p:spPr>
      </p:sp>
      <p:pic>
        <p:nvPicPr>
          <p:cNvPr id="4" name="Image 0" descr="preencoded.png"/>
          <p:cNvPicPr>
            <a:picLocks noChangeAspect="1"/>
          </p:cNvPicPr>
          <p:nvPr/>
        </p:nvPicPr>
        <p:blipFill>
          <a:blip r:embed="rId3"/>
          <a:stretch>
            <a:fillRect/>
          </a:stretch>
        </p:blipFill>
        <p:spPr>
          <a:xfrm>
            <a:off x="7680960" y="164592"/>
            <a:ext cx="1188720" cy="265176"/>
          </a:xfrm>
          <a:prstGeom prst="rect">
            <a:avLst/>
          </a:prstGeom>
        </p:spPr>
      </p:pic>
      <p:sp>
        <p:nvSpPr>
          <p:cNvPr id="5" name="Shape 2"/>
          <p:cNvSpPr/>
          <p:nvPr/>
        </p:nvSpPr>
        <p:spPr>
          <a:xfrm>
            <a:off x="0" y="4869180"/>
            <a:ext cx="9144000" cy="274320"/>
          </a:xfrm>
          <a:prstGeom prst="rect">
            <a:avLst/>
          </a:prstGeom>
          <a:solidFill>
            <a:srgbClr val="1CADE4"/>
          </a:solidFill>
          <a:ln/>
        </p:spPr>
      </p:sp>
      <p:sp>
        <p:nvSpPr>
          <p:cNvPr id="6" name="Text 3"/>
          <p:cNvSpPr/>
          <p:nvPr/>
        </p:nvSpPr>
        <p:spPr>
          <a:xfrm>
            <a:off x="457200" y="4869180"/>
            <a:ext cx="82296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Meiryo UI" pitchFamily="34" charset="0"/>
                <a:ea typeface="Meiryo UI" pitchFamily="34" charset="-122"/>
                <a:cs typeface="Meiryo UI" pitchFamily="34" charset="-120"/>
              </a:rPr>
              <a:t>Copyright© 2002-2026 SAGBRAIN Corp. All rights reserved.</a:t>
            </a:r>
            <a:endParaRPr lang="en-US" sz="900" dirty="0"/>
          </a:p>
        </p:txBody>
      </p:sp>
      <p:sp>
        <p:nvSpPr>
          <p:cNvPr id="7" name="Text 4"/>
          <p:cNvSpPr/>
          <p:nvPr/>
        </p:nvSpPr>
        <p:spPr>
          <a:xfrm>
            <a:off x="8503920" y="4869180"/>
            <a:ext cx="502920" cy="274320"/>
          </a:xfrm>
          <a:prstGeom prst="rect">
            <a:avLst/>
          </a:prstGeom>
          <a:noFill/>
          <a:ln/>
        </p:spPr>
        <p:txBody>
          <a:bodyPr wrap="square" lIns="0" tIns="0" rIns="0" bIns="0" rtlCol="0" anchor="ctr"/>
          <a:lstStyle/>
          <a:p>
            <a:pPr marL="0" indent="0" algn="r">
              <a:buNone/>
            </a:pPr>
            <a:r>
              <a:rPr lang="en-US" sz="1000" b="1" dirty="0">
                <a:solidFill>
                  <a:srgbClr val="FFFFFF"/>
                </a:solidFill>
                <a:latin typeface="Meiryo UI" pitchFamily="34" charset="0"/>
                <a:ea typeface="Meiryo UI" pitchFamily="34" charset="-122"/>
                <a:cs typeface="Meiryo UI" pitchFamily="34" charset="-120"/>
              </a:rPr>
              <a:t>8</a:t>
            </a:r>
            <a:endParaRPr lang="en-US" sz="1000" dirty="0"/>
          </a:p>
        </p:txBody>
      </p:sp>
      <p:sp>
        <p:nvSpPr>
          <p:cNvPr id="8" name="Text 5"/>
          <p:cNvSpPr/>
          <p:nvPr/>
        </p:nvSpPr>
        <p:spPr>
          <a:xfrm>
            <a:off x="365760" y="1097280"/>
            <a:ext cx="8412480" cy="256032"/>
          </a:xfrm>
          <a:prstGeom prst="rect">
            <a:avLst/>
          </a:prstGeom>
          <a:noFill/>
          <a:ln/>
        </p:spPr>
        <p:txBody>
          <a:bodyPr wrap="square" lIns="0" tIns="0" rIns="0" bIns="0" rtlCol="0" anchor="ctr"/>
          <a:lstStyle/>
          <a:p>
            <a:pPr marL="0" indent="0">
              <a:buNone/>
            </a:pPr>
            <a:r>
              <a:rPr lang="en-US" sz="1100" dirty="0">
                <a:solidFill>
                  <a:srgbClr val="1F2937"/>
                </a:solidFill>
                <a:latin typeface="Meiryo UI" pitchFamily="34" charset="0"/>
                <a:ea typeface="Meiryo UI" pitchFamily="34" charset="-122"/>
                <a:cs typeface="Meiryo UI" pitchFamily="34" charset="-120"/>
              </a:rPr>
              <a:t>ORDIA（AI受注自動化）の価格体系。</a:t>
            </a:r>
            <a:endParaRPr lang="en-US" sz="1100" dirty="0"/>
          </a:p>
        </p:txBody>
      </p:sp>
      <p:sp>
        <p:nvSpPr>
          <p:cNvPr id="9" name="Text 6"/>
          <p:cNvSpPr/>
          <p:nvPr/>
        </p:nvSpPr>
        <p:spPr>
          <a:xfrm>
            <a:off x="365760" y="1371600"/>
            <a:ext cx="8412480" cy="237744"/>
          </a:xfrm>
          <a:prstGeom prst="rect">
            <a:avLst/>
          </a:prstGeom>
          <a:noFill/>
          <a:ln/>
        </p:spPr>
        <p:txBody>
          <a:bodyPr wrap="square" lIns="0" tIns="0" rIns="0" bIns="0" rtlCol="0" anchor="ctr"/>
          <a:lstStyle/>
          <a:p>
            <a:pPr marL="0" indent="0">
              <a:buNone/>
            </a:pPr>
            <a:r>
              <a:rPr lang="en-US" sz="1050" b="1" dirty="0">
                <a:solidFill>
                  <a:srgbClr val="2563EB"/>
                </a:solidFill>
                <a:latin typeface="Meiryo UI" pitchFamily="34" charset="0"/>
                <a:ea typeface="Meiryo UI" pitchFamily="34" charset="-122"/>
                <a:cs typeface="Meiryo UI" pitchFamily="34" charset="-120"/>
              </a:rPr>
              <a:t>ORDIA（AI受注自動化）  ※2026年8月リリース予定／個別見積／基本月額 0</a:t>
            </a:r>
            <a:r>
              <a:rPr lang="en-US" sz="1050" b="1">
                <a:solidFill>
                  <a:srgbClr val="2563EB"/>
                </a:solidFill>
                <a:latin typeface="Meiryo UI" pitchFamily="34" charset="0"/>
                <a:ea typeface="Meiryo UI" pitchFamily="34" charset="-122"/>
                <a:cs typeface="Meiryo UI" pitchFamily="34" charset="-120"/>
              </a:rPr>
              <a:t>円／</a:t>
            </a:r>
            <a:r>
              <a:rPr lang="ja-JP" altLang="en-US" sz="1050" b="1">
                <a:solidFill>
                  <a:srgbClr val="2563EB"/>
                </a:solidFill>
                <a:latin typeface="Meiryo UI" pitchFamily="34" charset="0"/>
                <a:ea typeface="Meiryo UI" pitchFamily="34" charset="-122"/>
                <a:cs typeface="Meiryo UI" pitchFamily="34" charset="-120"/>
              </a:rPr>
              <a:t>全チャネル一律・注文書</a:t>
            </a:r>
            <a:r>
              <a:rPr lang="en-US" altLang="ja-JP" sz="1050" b="1">
                <a:solidFill>
                  <a:srgbClr val="2563EB"/>
                </a:solidFill>
                <a:latin typeface="Meiryo UI" pitchFamily="34" charset="0"/>
                <a:ea typeface="Meiryo UI" pitchFamily="34" charset="-122"/>
                <a:cs typeface="Meiryo UI" pitchFamily="34" charset="-120"/>
              </a:rPr>
              <a:t>1</a:t>
            </a:r>
            <a:r>
              <a:rPr lang="ja-JP" altLang="en-US" sz="1050" b="1">
                <a:solidFill>
                  <a:srgbClr val="2563EB"/>
                </a:solidFill>
                <a:latin typeface="Meiryo UI" pitchFamily="34" charset="0"/>
                <a:ea typeface="Meiryo UI" pitchFamily="34" charset="-122"/>
                <a:cs typeface="Meiryo UI" pitchFamily="34" charset="-120"/>
              </a:rPr>
              <a:t>ファイル </a:t>
            </a:r>
            <a:r>
              <a:rPr lang="en-US" altLang="ja-JP" sz="1050" b="1">
                <a:solidFill>
                  <a:srgbClr val="2563EB"/>
                </a:solidFill>
                <a:latin typeface="Meiryo UI" pitchFamily="34" charset="0"/>
                <a:ea typeface="Meiryo UI" pitchFamily="34" charset="-122"/>
                <a:cs typeface="Meiryo UI" pitchFamily="34" charset="-120"/>
              </a:rPr>
              <a:t>50</a:t>
            </a:r>
            <a:r>
              <a:rPr lang="ja-JP" altLang="en-US" sz="1050" b="1">
                <a:solidFill>
                  <a:srgbClr val="2563EB"/>
                </a:solidFill>
                <a:latin typeface="Meiryo UI" pitchFamily="34" charset="0"/>
                <a:ea typeface="Meiryo UI" pitchFamily="34" charset="-122"/>
                <a:cs typeface="Meiryo UI" pitchFamily="34" charset="-120"/>
              </a:rPr>
              <a:t>円（税別）</a:t>
            </a:r>
            <a:endParaRPr lang="en-US" sz="1050" dirty="0"/>
          </a:p>
        </p:txBody>
      </p:sp>
      <p:graphicFrame>
        <p:nvGraphicFramePr>
          <p:cNvPr id="33" name="Table 0"/>
          <p:cNvGraphicFramePr>
            <a:graphicFrameLocks noGrp="1"/>
          </p:cNvGraphicFramePr>
          <p:nvPr>
            <p:extLst>
              <p:ext uri="{D42A27DB-BD31-4B8C-83A1-F6EECF244321}">
                <p14:modId xmlns:p14="http://schemas.microsoft.com/office/powerpoint/2010/main" val="3041932380"/>
              </p:ext>
            </p:extLst>
          </p:nvPr>
        </p:nvGraphicFramePr>
        <p:xfrm>
          <a:off x="365760" y="1627632"/>
          <a:ext cx="8412480" cy="957072"/>
        </p:xfrm>
        <a:graphic>
          <a:graphicData uri="http://schemas.openxmlformats.org/drawingml/2006/table">
            <a:tbl>
              <a:tblPr/>
              <a:tblGrid>
                <a:gridCol w="1600200">
                  <a:extLst>
                    <a:ext uri="{9D8B030D-6E8A-4147-A177-3AD203B41FA5}">
                      <a16:colId xmlns:a16="http://schemas.microsoft.com/office/drawing/2014/main" val="20000"/>
                    </a:ext>
                  </a:extLst>
                </a:gridCol>
                <a:gridCol w="2806080">
                  <a:extLst>
                    <a:ext uri="{9D8B030D-6E8A-4147-A177-3AD203B41FA5}">
                      <a16:colId xmlns:a16="http://schemas.microsoft.com/office/drawing/2014/main" val="20001"/>
                    </a:ext>
                  </a:extLst>
                </a:gridCol>
                <a:gridCol w="4006200">
                  <a:extLst>
                    <a:ext uri="{9D8B030D-6E8A-4147-A177-3AD203B41FA5}">
                      <a16:colId xmlns:a16="http://schemas.microsoft.com/office/drawing/2014/main" val="20003"/>
                    </a:ext>
                  </a:extLst>
                </a:gridCol>
              </a:tblGrid>
              <a:tr h="237744">
                <a:tc>
                  <a:txBody>
                    <a:bodyPr/>
                    <a:lstStyle/>
                    <a:p>
                      <a:pPr marL="0" indent="0" algn="ctr">
                        <a:buNone/>
                      </a:pPr>
                      <a:r>
                        <a:rPr lang="en-US" sz="1000" b="1" dirty="0">
                          <a:solidFill>
                            <a:srgbClr val="FFFFFF"/>
                          </a:solidFill>
                          <a:latin typeface="Meiryo UI" pitchFamily="34" charset="0"/>
                          <a:ea typeface="Meiryo UI" pitchFamily="34" charset="-122"/>
                          <a:cs typeface="Meiryo UI" pitchFamily="34" charset="-120"/>
                        </a:rPr>
                        <a:t>プラン</a:t>
                      </a:r>
                      <a:endParaRPr lang="en-US" sz="100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marL="0" indent="0" algn="ctr">
                        <a:buNone/>
                      </a:pPr>
                      <a:r>
                        <a:rPr lang="en-US" sz="1000" b="1" dirty="0">
                          <a:solidFill>
                            <a:srgbClr val="FFFFFF"/>
                          </a:solidFill>
                          <a:latin typeface="Meiryo UI" pitchFamily="34" charset="0"/>
                          <a:ea typeface="Meiryo UI" pitchFamily="34" charset="-122"/>
                          <a:cs typeface="Meiryo UI" pitchFamily="34" charset="-120"/>
                        </a:rPr>
                        <a:t>対象</a:t>
                      </a:r>
                      <a:endParaRPr lang="en-US" sz="100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marL="0" indent="0" algn="ctr">
                        <a:buNone/>
                      </a:pPr>
                      <a:r>
                        <a:rPr lang="en-US" sz="1000" b="1" dirty="0">
                          <a:solidFill>
                            <a:srgbClr val="FFFFFF"/>
                          </a:solidFill>
                          <a:latin typeface="Meiryo UI" pitchFamily="34" charset="0"/>
                          <a:ea typeface="Meiryo UI" pitchFamily="34" charset="-122"/>
                          <a:cs typeface="Meiryo UI" pitchFamily="34" charset="-120"/>
                        </a:rPr>
                        <a:t>単価 / 1ファイル</a:t>
                      </a:r>
                      <a:endParaRPr lang="en-US" sz="100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237744">
                <a:tc>
                  <a:txBody>
                    <a:bodyPr/>
                    <a:lstStyle/>
                    <a:p>
                      <a:pPr marL="0" indent="0">
                        <a:buNone/>
                      </a:pPr>
                      <a:r>
                        <a:rPr lang="en-US" sz="950" dirty="0">
                          <a:solidFill>
                            <a:srgbClr val="1F2937"/>
                          </a:solidFill>
                          <a:latin typeface="Meiryo UI" pitchFamily="34" charset="0"/>
                          <a:ea typeface="Meiryo UI" pitchFamily="34" charset="-122"/>
                          <a:cs typeface="Meiryo UI" pitchFamily="34" charset="-120"/>
                        </a:rPr>
                        <a:t>標準解析</a:t>
                      </a:r>
                      <a:endParaRPr lang="en-US" sz="95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1F2937"/>
                          </a:solidFill>
                          <a:latin typeface="Meiryo UI" pitchFamily="34" charset="0"/>
                          <a:ea typeface="Meiryo UI" pitchFamily="34" charset="-122"/>
                          <a:cs typeface="Meiryo UI" pitchFamily="34" charset="-120"/>
                        </a:rPr>
                        <a:t>Excel／PDF</a:t>
                      </a:r>
                      <a:endParaRPr lang="en-US" sz="95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altLang="ja-JP" sz="950">
                          <a:solidFill>
                            <a:srgbClr val="1F2937"/>
                          </a:solidFill>
                          <a:latin typeface="Meiryo UI" pitchFamily="34" charset="0"/>
                          <a:ea typeface="Meiryo UI" pitchFamily="34" charset="-122"/>
                          <a:cs typeface="Meiryo UI" pitchFamily="34" charset="-120"/>
                        </a:rPr>
                        <a:t>50</a:t>
                      </a:r>
                      <a:r>
                        <a:rPr lang="ja-JP" altLang="en-US" sz="950">
                          <a:solidFill>
                            <a:srgbClr val="1F2937"/>
                          </a:solidFill>
                          <a:latin typeface="Meiryo UI" pitchFamily="34" charset="0"/>
                          <a:ea typeface="Meiryo UI" pitchFamily="34" charset="-122"/>
                          <a:cs typeface="Meiryo UI" pitchFamily="34" charset="-120"/>
                        </a:rPr>
                        <a:t>円</a:t>
                      </a:r>
                      <a:endParaRPr lang="en-US" sz="95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marL="0" indent="0">
                        <a:buNone/>
                      </a:pPr>
                      <a:r>
                        <a:rPr lang="en-US" sz="950" dirty="0">
                          <a:solidFill>
                            <a:srgbClr val="1F2937"/>
                          </a:solidFill>
                          <a:latin typeface="Meiryo UI" pitchFamily="34" charset="0"/>
                          <a:ea typeface="Meiryo UI" pitchFamily="34" charset="-122"/>
                          <a:cs typeface="Meiryo UI" pitchFamily="34" charset="-120"/>
                        </a:rPr>
                        <a:t>高度解析</a:t>
                      </a:r>
                      <a:endParaRPr lang="en-US" sz="95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1F2937"/>
                          </a:solidFill>
                          <a:latin typeface="Meiryo UI" pitchFamily="34" charset="0"/>
                          <a:ea typeface="Meiryo UI" pitchFamily="34" charset="-122"/>
                          <a:cs typeface="Meiryo UI" pitchFamily="34" charset="-120"/>
                        </a:rPr>
                        <a:t>FAX／画像</a:t>
                      </a:r>
                      <a:endParaRPr lang="en-US" sz="95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altLang="ja-JP" sz="950">
                          <a:solidFill>
                            <a:srgbClr val="1F2937"/>
                          </a:solidFill>
                          <a:latin typeface="Meiryo UI" pitchFamily="34" charset="0"/>
                          <a:ea typeface="Meiryo UI" pitchFamily="34" charset="-122"/>
                          <a:cs typeface="Meiryo UI" pitchFamily="34" charset="-120"/>
                        </a:rPr>
                        <a:t>50</a:t>
                      </a:r>
                      <a:r>
                        <a:rPr lang="ja-JP" altLang="en-US" sz="950">
                          <a:solidFill>
                            <a:srgbClr val="1F2937"/>
                          </a:solidFill>
                          <a:latin typeface="Meiryo UI" pitchFamily="34" charset="0"/>
                          <a:ea typeface="Meiryo UI" pitchFamily="34" charset="-122"/>
                          <a:cs typeface="Meiryo UI" pitchFamily="34" charset="-120"/>
                        </a:rPr>
                        <a:t>円</a:t>
                      </a:r>
                      <a:endParaRPr lang="en-US" sz="95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marL="0" indent="0">
                        <a:buNone/>
                      </a:pPr>
                      <a:r>
                        <a:rPr lang="en-US" sz="950" dirty="0">
                          <a:solidFill>
                            <a:srgbClr val="1F2937"/>
                          </a:solidFill>
                          <a:latin typeface="Meiryo UI" pitchFamily="34" charset="0"/>
                          <a:ea typeface="Meiryo UI" pitchFamily="34" charset="-122"/>
                          <a:cs typeface="Meiryo UI" pitchFamily="34" charset="-120"/>
                        </a:rPr>
                        <a:t>データ連携</a:t>
                      </a:r>
                      <a:endParaRPr lang="en-US" sz="95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1F2937"/>
                          </a:solidFill>
                          <a:latin typeface="Meiryo UI" pitchFamily="34" charset="0"/>
                          <a:ea typeface="Meiryo UI" pitchFamily="34" charset="-122"/>
                          <a:cs typeface="Meiryo UI" pitchFamily="34" charset="-120"/>
                        </a:rPr>
                        <a:t>他社ECサイト</a:t>
                      </a:r>
                      <a:endParaRPr lang="en-US" sz="95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altLang="ja-JP" sz="950">
                          <a:solidFill>
                            <a:srgbClr val="1F2937"/>
                          </a:solidFill>
                          <a:latin typeface="Meiryo UI" pitchFamily="34" charset="0"/>
                          <a:ea typeface="Meiryo UI" pitchFamily="34" charset="-122"/>
                          <a:cs typeface="Meiryo UI" pitchFamily="34" charset="-120"/>
                        </a:rPr>
                        <a:t>50</a:t>
                      </a:r>
                      <a:r>
                        <a:rPr lang="ja-JP" altLang="en-US" sz="950">
                          <a:solidFill>
                            <a:srgbClr val="1F2937"/>
                          </a:solidFill>
                          <a:latin typeface="Meiryo UI" pitchFamily="34" charset="0"/>
                          <a:ea typeface="Meiryo UI" pitchFamily="34" charset="-122"/>
                          <a:cs typeface="Meiryo UI" pitchFamily="34" charset="-120"/>
                        </a:rPr>
                        <a:t>円</a:t>
                      </a:r>
                      <a:endParaRPr lang="en-US" sz="95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テキスト ボックス 10">
            <a:extLst>
              <a:ext uri="{FF2B5EF4-FFF2-40B4-BE49-F238E27FC236}">
                <a16:creationId xmlns:a16="http://schemas.microsoft.com/office/drawing/2014/main" id="{93C5B16B-824E-8501-E1B3-FBD61647643B}"/>
              </a:ext>
            </a:extLst>
          </p:cNvPr>
          <p:cNvSpPr txBox="1"/>
          <p:nvPr/>
        </p:nvSpPr>
        <p:spPr>
          <a:xfrm>
            <a:off x="462280" y="4490037"/>
            <a:ext cx="8407400" cy="169277"/>
          </a:xfrm>
          <a:prstGeom prst="rect">
            <a:avLst/>
          </a:prstGeom>
          <a:noFill/>
        </p:spPr>
        <p:txBody>
          <a:bodyPr vert="horz" wrap="square" tIns="0" bIns="0" rtlCol="0">
            <a:spAutoFit/>
          </a:bodyPr>
          <a:lstStyle/>
          <a:p>
            <a:r>
              <a:rPr kumimoji="1" lang="en-US" altLang="ja-JP" sz="1100" b="1" dirty="0">
                <a:solidFill>
                  <a:srgbClr val="757575"/>
                </a:solidFill>
                <a:latin typeface="Meiryo" panose="020B0604030504040204" pitchFamily="50" charset="-128"/>
              </a:rPr>
              <a:t>※</a:t>
            </a:r>
            <a:r>
              <a:rPr kumimoji="1" lang="ja-JP" altLang="en-US" sz="1100" b="1" dirty="0">
                <a:solidFill>
                  <a:srgbClr val="757575"/>
                </a:solidFill>
                <a:latin typeface="Meiryo" panose="020B0604030504040204" pitchFamily="50" charset="-128"/>
              </a:rPr>
              <a:t>基幹システムとのデータ連携は別途お見積りになりますので、お問い合わせください。</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7132320" cy="502920"/>
          </a:xfrm>
          <a:prstGeom prst="rect">
            <a:avLst/>
          </a:prstGeom>
          <a:noFill/>
          <a:ln/>
        </p:spPr>
        <p:txBody>
          <a:bodyPr wrap="square" lIns="0" tIns="0" rIns="0" bIns="0" rtlCol="0" anchor="ctr"/>
          <a:lstStyle/>
          <a:p>
            <a:pPr marL="0" indent="0" algn="l">
              <a:buNone/>
            </a:pPr>
            <a:r>
              <a:rPr lang="en-US" sz="2200" b="1" dirty="0">
                <a:solidFill>
                  <a:srgbClr val="1E3A5F"/>
                </a:solidFill>
                <a:latin typeface="Meiryo UI" pitchFamily="34" charset="0"/>
                <a:ea typeface="Meiryo UI" pitchFamily="34" charset="-122"/>
                <a:cs typeface="Meiryo UI" pitchFamily="34" charset="-120"/>
              </a:rPr>
              <a:t>導入ステップ・スケジュール</a:t>
            </a:r>
            <a:endParaRPr lang="en-US" sz="2200" dirty="0"/>
          </a:p>
        </p:txBody>
      </p:sp>
      <p:sp>
        <p:nvSpPr>
          <p:cNvPr id="3" name="Shape 1"/>
          <p:cNvSpPr/>
          <p:nvPr/>
        </p:nvSpPr>
        <p:spPr>
          <a:xfrm>
            <a:off x="365760" y="758952"/>
            <a:ext cx="8412480" cy="0"/>
          </a:xfrm>
          <a:prstGeom prst="line">
            <a:avLst/>
          </a:prstGeom>
          <a:noFill/>
          <a:ln w="6350">
            <a:solidFill>
              <a:srgbClr val="64748B"/>
            </a:solidFill>
            <a:prstDash val="solid"/>
          </a:ln>
        </p:spPr>
      </p:sp>
      <p:pic>
        <p:nvPicPr>
          <p:cNvPr id="4" name="Image 0" descr="preencoded.png"/>
          <p:cNvPicPr>
            <a:picLocks noChangeAspect="1"/>
          </p:cNvPicPr>
          <p:nvPr/>
        </p:nvPicPr>
        <p:blipFill>
          <a:blip r:embed="rId3"/>
          <a:stretch>
            <a:fillRect/>
          </a:stretch>
        </p:blipFill>
        <p:spPr>
          <a:xfrm>
            <a:off x="7680960" y="164592"/>
            <a:ext cx="1188720" cy="265176"/>
          </a:xfrm>
          <a:prstGeom prst="rect">
            <a:avLst/>
          </a:prstGeom>
        </p:spPr>
      </p:pic>
      <p:sp>
        <p:nvSpPr>
          <p:cNvPr id="5" name="Shape 2"/>
          <p:cNvSpPr/>
          <p:nvPr/>
        </p:nvSpPr>
        <p:spPr>
          <a:xfrm>
            <a:off x="0" y="4869180"/>
            <a:ext cx="9144000" cy="274320"/>
          </a:xfrm>
          <a:prstGeom prst="rect">
            <a:avLst/>
          </a:prstGeom>
          <a:solidFill>
            <a:srgbClr val="1CADE4"/>
          </a:solidFill>
          <a:ln/>
        </p:spPr>
      </p:sp>
      <p:sp>
        <p:nvSpPr>
          <p:cNvPr id="6" name="Text 3"/>
          <p:cNvSpPr/>
          <p:nvPr/>
        </p:nvSpPr>
        <p:spPr>
          <a:xfrm>
            <a:off x="457200" y="4869180"/>
            <a:ext cx="82296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Meiryo UI" pitchFamily="34" charset="0"/>
                <a:ea typeface="Meiryo UI" pitchFamily="34" charset="-122"/>
                <a:cs typeface="Meiryo UI" pitchFamily="34" charset="-120"/>
              </a:rPr>
              <a:t>Copyright© 2002-2026 SAGBRAIN Corp. All rights reserved.</a:t>
            </a:r>
            <a:endParaRPr lang="en-US" sz="900" dirty="0"/>
          </a:p>
        </p:txBody>
      </p:sp>
      <p:sp>
        <p:nvSpPr>
          <p:cNvPr id="7" name="Text 4"/>
          <p:cNvSpPr/>
          <p:nvPr/>
        </p:nvSpPr>
        <p:spPr>
          <a:xfrm>
            <a:off x="8503920" y="4869180"/>
            <a:ext cx="502920" cy="274320"/>
          </a:xfrm>
          <a:prstGeom prst="rect">
            <a:avLst/>
          </a:prstGeom>
          <a:noFill/>
          <a:ln/>
        </p:spPr>
        <p:txBody>
          <a:bodyPr wrap="square" lIns="0" tIns="0" rIns="0" bIns="0" rtlCol="0" anchor="ctr"/>
          <a:lstStyle/>
          <a:p>
            <a:pPr marL="0" indent="0" algn="r">
              <a:buNone/>
            </a:pPr>
            <a:r>
              <a:rPr lang="en-US" sz="1000" b="1" dirty="0">
                <a:solidFill>
                  <a:srgbClr val="FFFFFF"/>
                </a:solidFill>
                <a:latin typeface="Meiryo UI" pitchFamily="34" charset="0"/>
                <a:ea typeface="Meiryo UI" pitchFamily="34" charset="-122"/>
                <a:cs typeface="Meiryo UI" pitchFamily="34" charset="-120"/>
              </a:rPr>
              <a:t>9</a:t>
            </a:r>
            <a:endParaRPr lang="en-US" sz="1000" dirty="0"/>
          </a:p>
        </p:txBody>
      </p:sp>
      <p:sp>
        <p:nvSpPr>
          <p:cNvPr id="8" name="Text 5"/>
          <p:cNvSpPr/>
          <p:nvPr/>
        </p:nvSpPr>
        <p:spPr>
          <a:xfrm>
            <a:off x="365760" y="1097280"/>
            <a:ext cx="8412480" cy="292608"/>
          </a:xfrm>
          <a:prstGeom prst="rect">
            <a:avLst/>
          </a:prstGeom>
          <a:noFill/>
          <a:ln/>
        </p:spPr>
        <p:txBody>
          <a:bodyPr wrap="square" lIns="0" tIns="0" rIns="0" bIns="0" rtlCol="0" anchor="ctr"/>
          <a:lstStyle/>
          <a:p>
            <a:pPr marL="0" indent="0">
              <a:buNone/>
            </a:pPr>
            <a:r>
              <a:rPr lang="en-US" sz="1250" dirty="0">
                <a:solidFill>
                  <a:srgbClr val="1F2937"/>
                </a:solidFill>
                <a:latin typeface="Meiryo UI" pitchFamily="34" charset="0"/>
                <a:ea typeface="Meiryo UI" pitchFamily="34" charset="-122"/>
                <a:cs typeface="Meiryo UI" pitchFamily="34" charset="-120"/>
              </a:rPr>
              <a:t>お問い合わせで即・無料トライアル。サンプルでAIを共同設定し、納得してから契約へ。</a:t>
            </a:r>
            <a:endParaRPr lang="en-US" sz="1250" dirty="0"/>
          </a:p>
        </p:txBody>
      </p:sp>
      <p:sp>
        <p:nvSpPr>
          <p:cNvPr id="9" name="Shape 6"/>
          <p:cNvSpPr/>
          <p:nvPr/>
        </p:nvSpPr>
        <p:spPr>
          <a:xfrm>
            <a:off x="2286000" y="1481328"/>
            <a:ext cx="4572000" cy="1097280"/>
          </a:xfrm>
          <a:prstGeom prst="rect">
            <a:avLst/>
          </a:prstGeom>
          <a:solidFill>
            <a:srgbClr val="FFFFFF"/>
          </a:solidFill>
          <a:ln w="12700">
            <a:solidFill>
              <a:srgbClr val="E2E8F0"/>
            </a:solidFill>
            <a:prstDash val="solid"/>
          </a:ln>
        </p:spPr>
      </p:sp>
      <p:sp>
        <p:nvSpPr>
          <p:cNvPr id="10" name="Shape 7"/>
          <p:cNvSpPr/>
          <p:nvPr/>
        </p:nvSpPr>
        <p:spPr>
          <a:xfrm>
            <a:off x="2286000" y="1481328"/>
            <a:ext cx="4572000" cy="457200"/>
          </a:xfrm>
          <a:prstGeom prst="rect">
            <a:avLst/>
          </a:prstGeom>
          <a:solidFill>
            <a:srgbClr val="1E3A5F"/>
          </a:solidFill>
          <a:ln/>
        </p:spPr>
      </p:sp>
      <p:sp>
        <p:nvSpPr>
          <p:cNvPr id="11" name="Text 8"/>
          <p:cNvSpPr/>
          <p:nvPr/>
        </p:nvSpPr>
        <p:spPr>
          <a:xfrm>
            <a:off x="2423160" y="1536192"/>
            <a:ext cx="822960" cy="329184"/>
          </a:xfrm>
          <a:prstGeom prst="rect">
            <a:avLst/>
          </a:prstGeom>
          <a:noFill/>
          <a:ln/>
        </p:spPr>
        <p:txBody>
          <a:bodyPr wrap="square" lIns="0" tIns="0" rIns="0" bIns="0" rtlCol="0" anchor="ctr"/>
          <a:lstStyle/>
          <a:p>
            <a:pPr marL="0" indent="0" algn="l">
              <a:buNone/>
            </a:pPr>
            <a:r>
              <a:rPr lang="en-US" sz="1000" b="1" dirty="0">
                <a:solidFill>
                  <a:srgbClr val="F59E0B"/>
                </a:solidFill>
                <a:latin typeface="Meiryo UI" pitchFamily="34" charset="0"/>
                <a:ea typeface="Meiryo UI" pitchFamily="34" charset="-122"/>
                <a:cs typeface="Meiryo UI" pitchFamily="34" charset="-120"/>
              </a:rPr>
              <a:t>Step 1</a:t>
            </a:r>
            <a:endParaRPr lang="en-US" sz="1000" dirty="0"/>
          </a:p>
        </p:txBody>
      </p:sp>
      <p:sp>
        <p:nvSpPr>
          <p:cNvPr id="12" name="Text 9"/>
          <p:cNvSpPr/>
          <p:nvPr/>
        </p:nvSpPr>
        <p:spPr>
          <a:xfrm>
            <a:off x="3291840" y="1536192"/>
            <a:ext cx="3429000" cy="329184"/>
          </a:xfrm>
          <a:prstGeom prst="rect">
            <a:avLst/>
          </a:prstGeom>
          <a:noFill/>
          <a:ln/>
        </p:spPr>
        <p:txBody>
          <a:bodyPr wrap="square" lIns="0" tIns="0" rIns="0" bIns="0" rtlCol="0" anchor="ctr"/>
          <a:lstStyle/>
          <a:p>
            <a:pPr marL="0" indent="0" algn="l">
              <a:buNone/>
            </a:pPr>
            <a:r>
              <a:rPr lang="en-US" sz="1600" b="1" dirty="0">
                <a:solidFill>
                  <a:srgbClr val="FFFFFF"/>
                </a:solidFill>
                <a:latin typeface="Meiryo UI" pitchFamily="34" charset="0"/>
                <a:ea typeface="Meiryo UI" pitchFamily="34" charset="-122"/>
                <a:cs typeface="Meiryo UI" pitchFamily="34" charset="-120"/>
              </a:rPr>
              <a:t>無料トライアル</a:t>
            </a:r>
            <a:endParaRPr lang="en-US" sz="1600" dirty="0"/>
          </a:p>
        </p:txBody>
      </p:sp>
      <p:sp>
        <p:nvSpPr>
          <p:cNvPr id="13" name="Text 10"/>
          <p:cNvSpPr/>
          <p:nvPr/>
        </p:nvSpPr>
        <p:spPr>
          <a:xfrm>
            <a:off x="2423160" y="1984248"/>
            <a:ext cx="4297680" cy="201168"/>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お問い合わせで即開始（期間・件数の制限なし）</a:t>
            </a:r>
            <a:endParaRPr lang="en-US" sz="1000" dirty="0"/>
          </a:p>
        </p:txBody>
      </p:sp>
      <p:sp>
        <p:nvSpPr>
          <p:cNvPr id="14" name="Text 11"/>
          <p:cNvSpPr/>
          <p:nvPr/>
        </p:nvSpPr>
        <p:spPr>
          <a:xfrm>
            <a:off x="2423160" y="2212848"/>
            <a:ext cx="4297680" cy="310896"/>
          </a:xfrm>
          <a:prstGeom prst="rect">
            <a:avLst/>
          </a:prstGeom>
          <a:noFill/>
          <a:ln/>
        </p:spPr>
        <p:txBody>
          <a:bodyPr wrap="square" lIns="0" tIns="0" rIns="0" bIns="0" rtlCol="0" anchor="ctr"/>
          <a:lstStyle/>
          <a:p>
            <a:pPr marL="0" indent="0">
              <a:buNone/>
            </a:pPr>
            <a:r>
              <a:rPr lang="en-US" sz="1000" b="1" dirty="0">
                <a:solidFill>
                  <a:srgbClr val="2563EB"/>
                </a:solidFill>
                <a:latin typeface="Meiryo UI" pitchFamily="34" charset="0"/>
                <a:ea typeface="Meiryo UI" pitchFamily="34" charset="-122"/>
                <a:cs typeface="Meiryo UI" pitchFamily="34" charset="-120"/>
              </a:rPr>
              <a:t>注文書サンプルをもとにAIプロンプトを共同設定。</a:t>
            </a:r>
            <a:endParaRPr lang="en-US" sz="1000" dirty="0"/>
          </a:p>
        </p:txBody>
      </p:sp>
      <p:sp>
        <p:nvSpPr>
          <p:cNvPr id="15" name="Shape 12"/>
          <p:cNvSpPr/>
          <p:nvPr/>
        </p:nvSpPr>
        <p:spPr>
          <a:xfrm>
            <a:off x="4572000" y="2578608"/>
            <a:ext cx="0" cy="274320"/>
          </a:xfrm>
          <a:prstGeom prst="line">
            <a:avLst/>
          </a:prstGeom>
          <a:noFill/>
          <a:ln w="12700">
            <a:solidFill>
              <a:srgbClr val="64748B"/>
            </a:solidFill>
            <a:prstDash val="solid"/>
          </a:ln>
        </p:spPr>
      </p:sp>
      <p:sp>
        <p:nvSpPr>
          <p:cNvPr id="16" name="Shape 13"/>
          <p:cNvSpPr/>
          <p:nvPr/>
        </p:nvSpPr>
        <p:spPr>
          <a:xfrm>
            <a:off x="2240280" y="2852928"/>
            <a:ext cx="4663440" cy="0"/>
          </a:xfrm>
          <a:prstGeom prst="line">
            <a:avLst/>
          </a:prstGeom>
          <a:noFill/>
          <a:ln w="12700">
            <a:solidFill>
              <a:srgbClr val="64748B"/>
            </a:solidFill>
            <a:prstDash val="solid"/>
          </a:ln>
        </p:spPr>
      </p:sp>
      <p:sp>
        <p:nvSpPr>
          <p:cNvPr id="17" name="Shape 14"/>
          <p:cNvSpPr/>
          <p:nvPr/>
        </p:nvSpPr>
        <p:spPr>
          <a:xfrm>
            <a:off x="2240280" y="2852928"/>
            <a:ext cx="0" cy="182880"/>
          </a:xfrm>
          <a:prstGeom prst="line">
            <a:avLst/>
          </a:prstGeom>
          <a:noFill/>
          <a:ln w="12700">
            <a:solidFill>
              <a:srgbClr val="64748B"/>
            </a:solidFill>
            <a:prstDash val="solid"/>
          </a:ln>
        </p:spPr>
      </p:sp>
      <p:sp>
        <p:nvSpPr>
          <p:cNvPr id="18" name="Shape 15"/>
          <p:cNvSpPr/>
          <p:nvPr/>
        </p:nvSpPr>
        <p:spPr>
          <a:xfrm>
            <a:off x="6903720" y="2852928"/>
            <a:ext cx="0" cy="182880"/>
          </a:xfrm>
          <a:prstGeom prst="line">
            <a:avLst/>
          </a:prstGeom>
          <a:noFill/>
          <a:ln w="12700">
            <a:solidFill>
              <a:srgbClr val="64748B"/>
            </a:solidFill>
            <a:prstDash val="solid"/>
          </a:ln>
        </p:spPr>
      </p:sp>
      <p:sp>
        <p:nvSpPr>
          <p:cNvPr id="19" name="Shape 16"/>
          <p:cNvSpPr/>
          <p:nvPr/>
        </p:nvSpPr>
        <p:spPr>
          <a:xfrm>
            <a:off x="365760" y="3108960"/>
            <a:ext cx="4160520" cy="1463040"/>
          </a:xfrm>
          <a:prstGeom prst="rect">
            <a:avLst/>
          </a:prstGeom>
          <a:solidFill>
            <a:srgbClr val="FFFFFF"/>
          </a:solidFill>
          <a:ln w="12700">
            <a:solidFill>
              <a:srgbClr val="E2E8F0"/>
            </a:solidFill>
            <a:prstDash val="solid"/>
          </a:ln>
        </p:spPr>
      </p:sp>
      <p:sp>
        <p:nvSpPr>
          <p:cNvPr id="20" name="Shape 17"/>
          <p:cNvSpPr/>
          <p:nvPr/>
        </p:nvSpPr>
        <p:spPr>
          <a:xfrm>
            <a:off x="365760" y="3108960"/>
            <a:ext cx="4160520" cy="457200"/>
          </a:xfrm>
          <a:prstGeom prst="rect">
            <a:avLst/>
          </a:prstGeom>
          <a:solidFill>
            <a:srgbClr val="1E3A5F"/>
          </a:solidFill>
          <a:ln/>
        </p:spPr>
      </p:sp>
      <p:sp>
        <p:nvSpPr>
          <p:cNvPr id="21" name="Text 18"/>
          <p:cNvSpPr/>
          <p:nvPr/>
        </p:nvSpPr>
        <p:spPr>
          <a:xfrm>
            <a:off x="502920" y="3163824"/>
            <a:ext cx="1005840" cy="329184"/>
          </a:xfrm>
          <a:prstGeom prst="rect">
            <a:avLst/>
          </a:prstGeom>
          <a:noFill/>
          <a:ln/>
        </p:spPr>
        <p:txBody>
          <a:bodyPr wrap="square" lIns="0" tIns="0" rIns="0" bIns="0" rtlCol="0" anchor="ctr"/>
          <a:lstStyle/>
          <a:p>
            <a:pPr marL="0" indent="0" algn="l">
              <a:buNone/>
            </a:pPr>
            <a:r>
              <a:rPr lang="en-US" sz="1000" b="1" dirty="0">
                <a:solidFill>
                  <a:srgbClr val="F59E0B"/>
                </a:solidFill>
                <a:latin typeface="Meiryo UI" pitchFamily="34" charset="0"/>
                <a:ea typeface="Meiryo UI" pitchFamily="34" charset="-122"/>
                <a:cs typeface="Meiryo UI" pitchFamily="34" charset="-120"/>
              </a:rPr>
              <a:t>Step 2-A</a:t>
            </a:r>
            <a:endParaRPr lang="en-US" sz="1000" dirty="0"/>
          </a:p>
        </p:txBody>
      </p:sp>
      <p:sp>
        <p:nvSpPr>
          <p:cNvPr id="22" name="Text 19"/>
          <p:cNvSpPr/>
          <p:nvPr/>
        </p:nvSpPr>
        <p:spPr>
          <a:xfrm>
            <a:off x="1554480" y="3163824"/>
            <a:ext cx="2834640" cy="329184"/>
          </a:xfrm>
          <a:prstGeom prst="rect">
            <a:avLst/>
          </a:prstGeom>
          <a:noFill/>
          <a:ln/>
        </p:spPr>
        <p:txBody>
          <a:bodyPr wrap="square" lIns="0" tIns="0" rIns="0" bIns="0" rtlCol="0" anchor="ctr"/>
          <a:lstStyle/>
          <a:p>
            <a:pPr marL="0" indent="0" algn="l">
              <a:buNone/>
            </a:pPr>
            <a:r>
              <a:rPr lang="en-US" sz="1400" b="1" dirty="0">
                <a:solidFill>
                  <a:srgbClr val="FFFFFF"/>
                </a:solidFill>
                <a:latin typeface="Meiryo UI" pitchFamily="34" charset="0"/>
                <a:ea typeface="Meiryo UI" pitchFamily="34" charset="-122"/>
                <a:cs typeface="Meiryo UI" pitchFamily="34" charset="-120"/>
              </a:rPr>
              <a:t>本契約・本番運用</a:t>
            </a:r>
            <a:endParaRPr lang="en-US" sz="1400" dirty="0"/>
          </a:p>
        </p:txBody>
      </p:sp>
      <p:sp>
        <p:nvSpPr>
          <p:cNvPr id="23" name="Text 20"/>
          <p:cNvSpPr/>
          <p:nvPr/>
        </p:nvSpPr>
        <p:spPr>
          <a:xfrm>
            <a:off x="502920" y="3611880"/>
            <a:ext cx="3886200" cy="219456"/>
          </a:xfrm>
          <a:prstGeom prst="rect">
            <a:avLst/>
          </a:prstGeom>
          <a:noFill/>
          <a:ln/>
        </p:spPr>
        <p:txBody>
          <a:bodyPr wrap="square" lIns="0" tIns="0" rIns="0" bIns="0" rtlCol="0" anchor="ctr"/>
          <a:lstStyle/>
          <a:p>
            <a:pPr marL="0" indent="0">
              <a:buNone/>
            </a:pPr>
            <a:r>
              <a:rPr lang="en-US" sz="950" dirty="0">
                <a:solidFill>
                  <a:srgbClr val="64748B"/>
                </a:solidFill>
                <a:latin typeface="Meiryo UI" pitchFamily="34" charset="0"/>
                <a:ea typeface="Meiryo UI" pitchFamily="34" charset="-122"/>
                <a:cs typeface="Meiryo UI" pitchFamily="34" charset="-120"/>
              </a:rPr>
              <a:t>納得後に契約・本番運用（基本月額0円）</a:t>
            </a:r>
            <a:endParaRPr lang="en-US" sz="950" dirty="0"/>
          </a:p>
        </p:txBody>
      </p:sp>
      <p:sp>
        <p:nvSpPr>
          <p:cNvPr id="24" name="Text 21"/>
          <p:cNvSpPr/>
          <p:nvPr/>
        </p:nvSpPr>
        <p:spPr>
          <a:xfrm>
            <a:off x="502920" y="3840480"/>
            <a:ext cx="3886200" cy="228600"/>
          </a:xfrm>
          <a:prstGeom prst="rect">
            <a:avLst/>
          </a:prstGeom>
          <a:noFill/>
          <a:ln/>
        </p:spPr>
        <p:txBody>
          <a:bodyPr wrap="square" lIns="0" tIns="0" rIns="0" bIns="0" rtlCol="0" anchor="ctr"/>
          <a:lstStyle/>
          <a:p>
            <a:pPr marL="0" indent="0">
              <a:buNone/>
            </a:pPr>
            <a:r>
              <a:rPr lang="en-US" sz="1000" b="1" dirty="0">
                <a:solidFill>
                  <a:srgbClr val="2563EB"/>
                </a:solidFill>
                <a:latin typeface="Meiryo UI" pitchFamily="34" charset="0"/>
                <a:ea typeface="Meiryo UI" pitchFamily="34" charset="-122"/>
                <a:cs typeface="Meiryo UI" pitchFamily="34" charset="-120"/>
              </a:rPr>
              <a:t>期間目安：1〜2ヶ月</a:t>
            </a:r>
            <a:endParaRPr lang="en-US" sz="1000" dirty="0"/>
          </a:p>
        </p:txBody>
      </p:sp>
      <p:sp>
        <p:nvSpPr>
          <p:cNvPr id="25" name="Text 22"/>
          <p:cNvSpPr/>
          <p:nvPr/>
        </p:nvSpPr>
        <p:spPr>
          <a:xfrm>
            <a:off x="548640" y="4078224"/>
            <a:ext cx="3840480" cy="457200"/>
          </a:xfrm>
          <a:prstGeom prst="rect">
            <a:avLst/>
          </a:prstGeom>
          <a:noFill/>
          <a:ln/>
        </p:spPr>
        <p:txBody>
          <a:bodyPr wrap="square" rtlCol="0" anchor="ctr"/>
          <a:lstStyle/>
          <a:p>
            <a:pPr marL="342900" indent="-342900">
              <a:spcAft>
                <a:spcPts val="200"/>
              </a:spcAft>
              <a:buSzPct val="100000"/>
              <a:buChar char="•"/>
            </a:pPr>
            <a:r>
              <a:rPr lang="en-US" sz="950" dirty="0">
                <a:solidFill>
                  <a:srgbClr val="1F2937"/>
                </a:solidFill>
                <a:latin typeface="Meiryo UI" pitchFamily="34" charset="0"/>
                <a:ea typeface="Meiryo UI" pitchFamily="34" charset="-122"/>
                <a:cs typeface="Meiryo UI" pitchFamily="34" charset="-120"/>
              </a:rPr>
              <a:t>貴社専用ルールを登録・最適化</a:t>
            </a:r>
            <a:endParaRPr lang="en-US" sz="950" dirty="0"/>
          </a:p>
          <a:p>
            <a:pPr marL="342900" indent="-342900">
              <a:spcAft>
                <a:spcPts val="200"/>
              </a:spcAft>
              <a:buSzPct val="100000"/>
              <a:buChar char="•"/>
            </a:pPr>
            <a:r>
              <a:rPr lang="en-US" sz="950" dirty="0">
                <a:solidFill>
                  <a:srgbClr val="1F2937"/>
                </a:solidFill>
                <a:latin typeface="Meiryo UI" pitchFamily="34" charset="0"/>
                <a:ea typeface="Meiryo UI" pitchFamily="34" charset="-122"/>
                <a:cs typeface="Meiryo UI" pitchFamily="34" charset="-120"/>
              </a:rPr>
              <a:t>在庫・納期の自動照会を設定</a:t>
            </a:r>
            <a:endParaRPr lang="en-US" sz="950" dirty="0"/>
          </a:p>
          <a:p>
            <a:pPr marL="342900" indent="-342900">
              <a:spcAft>
                <a:spcPts val="200"/>
              </a:spcAft>
              <a:buSzPct val="100000"/>
              <a:buChar char="•"/>
            </a:pPr>
            <a:r>
              <a:rPr lang="en-US" sz="950" dirty="0">
                <a:solidFill>
                  <a:srgbClr val="1F2937"/>
                </a:solidFill>
                <a:latin typeface="Meiryo UI" pitchFamily="34" charset="0"/>
                <a:ea typeface="Meiryo UI" pitchFamily="34" charset="-122"/>
                <a:cs typeface="Meiryo UI" pitchFamily="34" charset="-120"/>
              </a:rPr>
              <a:t>主要メーカー20社のRPA連携</a:t>
            </a:r>
            <a:endParaRPr lang="en-US" sz="950" dirty="0"/>
          </a:p>
        </p:txBody>
      </p:sp>
      <p:sp>
        <p:nvSpPr>
          <p:cNvPr id="26" name="Shape 23"/>
          <p:cNvSpPr/>
          <p:nvPr/>
        </p:nvSpPr>
        <p:spPr>
          <a:xfrm>
            <a:off x="4617720" y="3108960"/>
            <a:ext cx="4160520" cy="1463040"/>
          </a:xfrm>
          <a:prstGeom prst="rect">
            <a:avLst/>
          </a:prstGeom>
          <a:solidFill>
            <a:srgbClr val="FFFFFF"/>
          </a:solidFill>
          <a:ln w="12700">
            <a:solidFill>
              <a:srgbClr val="E2E8F0"/>
            </a:solidFill>
            <a:prstDash val="solid"/>
          </a:ln>
        </p:spPr>
      </p:sp>
      <p:sp>
        <p:nvSpPr>
          <p:cNvPr id="27" name="Shape 24"/>
          <p:cNvSpPr/>
          <p:nvPr/>
        </p:nvSpPr>
        <p:spPr>
          <a:xfrm>
            <a:off x="4617720" y="3108960"/>
            <a:ext cx="4160520" cy="457200"/>
          </a:xfrm>
          <a:prstGeom prst="rect">
            <a:avLst/>
          </a:prstGeom>
          <a:solidFill>
            <a:srgbClr val="1E3A5F"/>
          </a:solidFill>
          <a:ln/>
        </p:spPr>
      </p:sp>
      <p:sp>
        <p:nvSpPr>
          <p:cNvPr id="28" name="Text 25"/>
          <p:cNvSpPr/>
          <p:nvPr/>
        </p:nvSpPr>
        <p:spPr>
          <a:xfrm>
            <a:off x="4754880" y="3163824"/>
            <a:ext cx="1005840" cy="329184"/>
          </a:xfrm>
          <a:prstGeom prst="rect">
            <a:avLst/>
          </a:prstGeom>
          <a:noFill/>
          <a:ln/>
        </p:spPr>
        <p:txBody>
          <a:bodyPr wrap="square" lIns="0" tIns="0" rIns="0" bIns="0" rtlCol="0" anchor="ctr"/>
          <a:lstStyle/>
          <a:p>
            <a:pPr marL="0" indent="0" algn="l">
              <a:buNone/>
            </a:pPr>
            <a:r>
              <a:rPr lang="en-US" sz="1000" b="1" dirty="0">
                <a:solidFill>
                  <a:srgbClr val="F59E0B"/>
                </a:solidFill>
                <a:latin typeface="Meiryo UI" pitchFamily="34" charset="0"/>
                <a:ea typeface="Meiryo UI" pitchFamily="34" charset="-122"/>
                <a:cs typeface="Meiryo UI" pitchFamily="34" charset="-120"/>
              </a:rPr>
              <a:t>Step 2-B</a:t>
            </a:r>
            <a:endParaRPr lang="en-US" sz="1000" dirty="0"/>
          </a:p>
        </p:txBody>
      </p:sp>
      <p:sp>
        <p:nvSpPr>
          <p:cNvPr id="29" name="Text 26"/>
          <p:cNvSpPr/>
          <p:nvPr/>
        </p:nvSpPr>
        <p:spPr>
          <a:xfrm>
            <a:off x="5806440" y="3163824"/>
            <a:ext cx="2834640" cy="329184"/>
          </a:xfrm>
          <a:prstGeom prst="rect">
            <a:avLst/>
          </a:prstGeom>
          <a:noFill/>
          <a:ln/>
        </p:spPr>
        <p:txBody>
          <a:bodyPr wrap="square" lIns="0" tIns="0" rIns="0" bIns="0" rtlCol="0" anchor="ctr"/>
          <a:lstStyle/>
          <a:p>
            <a:pPr marL="0" indent="0" algn="l">
              <a:buNone/>
            </a:pPr>
            <a:r>
              <a:rPr lang="en-US" sz="1400" b="1" dirty="0">
                <a:solidFill>
                  <a:srgbClr val="FFFFFF"/>
                </a:solidFill>
                <a:latin typeface="Meiryo UI" pitchFamily="34" charset="0"/>
                <a:ea typeface="Meiryo UI" pitchFamily="34" charset="-122"/>
                <a:cs typeface="Meiryo UI" pitchFamily="34" charset="-120"/>
              </a:rPr>
              <a:t>エコシステム拡張</a:t>
            </a:r>
            <a:endParaRPr lang="en-US" sz="1400" dirty="0"/>
          </a:p>
        </p:txBody>
      </p:sp>
      <p:sp>
        <p:nvSpPr>
          <p:cNvPr id="30" name="Text 27"/>
          <p:cNvSpPr/>
          <p:nvPr/>
        </p:nvSpPr>
        <p:spPr>
          <a:xfrm>
            <a:off x="4754880" y="3611880"/>
            <a:ext cx="3886200" cy="219456"/>
          </a:xfrm>
          <a:prstGeom prst="rect">
            <a:avLst/>
          </a:prstGeom>
          <a:noFill/>
          <a:ln/>
        </p:spPr>
        <p:txBody>
          <a:bodyPr wrap="square" lIns="0" tIns="0" rIns="0" bIns="0" rtlCol="0" anchor="ctr"/>
          <a:lstStyle/>
          <a:p>
            <a:pPr marL="0" indent="0">
              <a:buNone/>
            </a:pPr>
            <a:r>
              <a:rPr lang="en-US" sz="950" dirty="0">
                <a:solidFill>
                  <a:srgbClr val="64748B"/>
                </a:solidFill>
                <a:latin typeface="Meiryo UI" pitchFamily="34" charset="0"/>
                <a:ea typeface="Meiryo UI" pitchFamily="34" charset="-122"/>
                <a:cs typeface="Meiryo UI" pitchFamily="34" charset="-120"/>
              </a:rPr>
              <a:t>必要に応じてOnevioへ（任意）</a:t>
            </a:r>
            <a:endParaRPr lang="en-US" sz="950" dirty="0"/>
          </a:p>
        </p:txBody>
      </p:sp>
      <p:sp>
        <p:nvSpPr>
          <p:cNvPr id="31" name="Text 28"/>
          <p:cNvSpPr/>
          <p:nvPr/>
        </p:nvSpPr>
        <p:spPr>
          <a:xfrm>
            <a:off x="4754880" y="3840480"/>
            <a:ext cx="3886200" cy="228600"/>
          </a:xfrm>
          <a:prstGeom prst="rect">
            <a:avLst/>
          </a:prstGeom>
          <a:noFill/>
          <a:ln/>
        </p:spPr>
        <p:txBody>
          <a:bodyPr wrap="square" lIns="0" tIns="0" rIns="0" bIns="0" rtlCol="0" anchor="ctr"/>
          <a:lstStyle/>
          <a:p>
            <a:pPr marL="0" indent="0">
              <a:buNone/>
            </a:pPr>
            <a:r>
              <a:rPr lang="en-US" sz="1000" b="1" dirty="0">
                <a:solidFill>
                  <a:srgbClr val="2563EB"/>
                </a:solidFill>
                <a:latin typeface="Meiryo UI" pitchFamily="34" charset="0"/>
                <a:ea typeface="Meiryo UI" pitchFamily="34" charset="-122"/>
                <a:cs typeface="Meiryo UI" pitchFamily="34" charset="-120"/>
              </a:rPr>
              <a:t>期間目安：必要に応じて</a:t>
            </a:r>
            <a:endParaRPr lang="en-US" sz="1000" dirty="0"/>
          </a:p>
        </p:txBody>
      </p:sp>
      <p:sp>
        <p:nvSpPr>
          <p:cNvPr id="32" name="Text 29"/>
          <p:cNvSpPr/>
          <p:nvPr/>
        </p:nvSpPr>
        <p:spPr>
          <a:xfrm>
            <a:off x="4800600" y="4078224"/>
            <a:ext cx="3840480" cy="457200"/>
          </a:xfrm>
          <a:prstGeom prst="rect">
            <a:avLst/>
          </a:prstGeom>
          <a:noFill/>
          <a:ln/>
        </p:spPr>
        <p:txBody>
          <a:bodyPr wrap="square" rtlCol="0" anchor="ctr"/>
          <a:lstStyle/>
          <a:p>
            <a:pPr marL="342900" indent="-342900">
              <a:spcAft>
                <a:spcPts val="200"/>
              </a:spcAft>
              <a:buSzPct val="100000"/>
              <a:buChar char="•"/>
            </a:pPr>
            <a:r>
              <a:rPr lang="en-US" sz="950" dirty="0">
                <a:solidFill>
                  <a:srgbClr val="1F2937"/>
                </a:solidFill>
                <a:latin typeface="Meiryo UI" pitchFamily="34" charset="0"/>
                <a:ea typeface="Meiryo UI" pitchFamily="34" charset="-122"/>
                <a:cs typeface="Meiryo UI" pitchFamily="34" charset="-120"/>
              </a:rPr>
              <a:t>販売管理（受注〜請求）</a:t>
            </a:r>
            <a:endParaRPr lang="en-US" sz="950" dirty="0"/>
          </a:p>
          <a:p>
            <a:pPr marL="342900" indent="-342900">
              <a:spcAft>
                <a:spcPts val="200"/>
              </a:spcAft>
              <a:buSzPct val="100000"/>
              <a:buChar char="•"/>
            </a:pPr>
            <a:r>
              <a:rPr lang="en-US" sz="950" dirty="0">
                <a:solidFill>
                  <a:srgbClr val="1F2937"/>
                </a:solidFill>
                <a:latin typeface="Meiryo UI" pitchFamily="34" charset="0"/>
                <a:ea typeface="Meiryo UI" pitchFamily="34" charset="-122"/>
                <a:cs typeface="Meiryo UI" pitchFamily="34" charset="-120"/>
              </a:rPr>
              <a:t>DOG（発注EDI統合）</a:t>
            </a:r>
            <a:endParaRPr lang="en-US" sz="950" dirty="0"/>
          </a:p>
          <a:p>
            <a:pPr marL="342900" indent="-342900">
              <a:spcAft>
                <a:spcPts val="200"/>
              </a:spcAft>
              <a:buSzPct val="100000"/>
              <a:buChar char="•"/>
            </a:pPr>
            <a:r>
              <a:rPr lang="en-US" sz="950" dirty="0">
                <a:solidFill>
                  <a:srgbClr val="1F2937"/>
                </a:solidFill>
                <a:latin typeface="Meiryo UI" pitchFamily="34" charset="0"/>
                <a:ea typeface="Meiryo UI" pitchFamily="34" charset="-122"/>
                <a:cs typeface="Meiryo UI" pitchFamily="34" charset="-120"/>
              </a:rPr>
              <a:t>BPM（エンドカスタマー連携）</a:t>
            </a:r>
            <a:endParaRPr lang="en-US" sz="950" dirty="0"/>
          </a:p>
        </p:txBody>
      </p:sp>
      <p:sp>
        <p:nvSpPr>
          <p:cNvPr id="33" name="Text 30"/>
          <p:cNvSpPr/>
          <p:nvPr/>
        </p:nvSpPr>
        <p:spPr>
          <a:xfrm>
            <a:off x="365760" y="4626864"/>
            <a:ext cx="8412480" cy="182880"/>
          </a:xfrm>
          <a:prstGeom prst="rect">
            <a:avLst/>
          </a:prstGeom>
          <a:noFill/>
          <a:ln/>
        </p:spPr>
        <p:txBody>
          <a:bodyPr wrap="square" lIns="0" tIns="0" rIns="0" bIns="0" rtlCol="0" anchor="ctr"/>
          <a:lstStyle/>
          <a:p>
            <a:pPr marL="0" indent="0">
              <a:buNone/>
            </a:pPr>
            <a:r>
              <a:rPr lang="en-US" sz="900" i="1" dirty="0">
                <a:solidFill>
                  <a:srgbClr val="64748B"/>
                </a:solidFill>
                <a:latin typeface="Meiryo UI" pitchFamily="34" charset="0"/>
                <a:ea typeface="Meiryo UI" pitchFamily="34" charset="-122"/>
                <a:cs typeface="Meiryo UI" pitchFamily="34" charset="-120"/>
              </a:rPr>
              <a:t>※ 無料トライアルに期間・件数の制限はありません。当初は注文書サンプルからAIを共同設定する伴走型。納得後に契約へ進みます。</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7863840" y="0"/>
            <a:ext cx="1280160" cy="5143500"/>
          </a:xfrm>
          <a:prstGeom prst="rect">
            <a:avLst/>
          </a:prstGeom>
          <a:solidFill>
            <a:srgbClr val="2563EB">
              <a:alpha val="25000"/>
            </a:srgbClr>
          </a:solidFill>
          <a:ln/>
        </p:spPr>
      </p:sp>
      <p:sp>
        <p:nvSpPr>
          <p:cNvPr id="3" name="Shape 1"/>
          <p:cNvSpPr/>
          <p:nvPr/>
        </p:nvSpPr>
        <p:spPr>
          <a:xfrm>
            <a:off x="8229600" y="0"/>
            <a:ext cx="64008" cy="5143500"/>
          </a:xfrm>
          <a:prstGeom prst="rect">
            <a:avLst/>
          </a:prstGeom>
          <a:solidFill>
            <a:srgbClr val="3B82F6"/>
          </a:solidFill>
          <a:ln/>
        </p:spPr>
      </p:sp>
      <p:sp>
        <p:nvSpPr>
          <p:cNvPr id="5" name="Text 3"/>
          <p:cNvSpPr/>
          <p:nvPr/>
        </p:nvSpPr>
        <p:spPr>
          <a:xfrm>
            <a:off x="640080" y="2011680"/>
            <a:ext cx="6858000" cy="820000"/>
          </a:xfrm>
          <a:prstGeom prst="rect">
            <a:avLst/>
          </a:prstGeom>
          <a:noFill/>
          <a:ln/>
        </p:spPr>
        <p:txBody>
          <a:bodyPr wrap="square" lIns="0" tIns="0" rIns="0" bIns="0" rtlCol="0" anchor="ctr"/>
          <a:lstStyle/>
          <a:p>
            <a:pPr marL="0" indent="0" algn="l">
              <a:buNone/>
            </a:pPr>
            <a:r>
              <a:rPr lang="en-US" sz="4000" b="1" dirty="0">
                <a:solidFill>
                  <a:srgbClr val="DBEAFE"/>
                </a:solidFill>
                <a:latin typeface="Meiryo UI" pitchFamily="34" charset="0"/>
                <a:ea typeface="Meiryo UI" pitchFamily="34" charset="-122"/>
                <a:cs typeface="Meiryo UI" pitchFamily="34" charset="-120"/>
              </a:rPr>
              <a:t>バイオ業界の皆様へ</a:t>
            </a:r>
            <a:endParaRPr lang="en-US" sz="2200" dirty="0"/>
          </a:p>
        </p:txBody>
      </p:sp>
      <p:sp>
        <p:nvSpPr>
          <p:cNvPr id="6" name="Shape 4"/>
          <p:cNvSpPr/>
          <p:nvPr/>
        </p:nvSpPr>
        <p:spPr>
          <a:xfrm>
            <a:off x="640080" y="2926080"/>
            <a:ext cx="731520" cy="45720"/>
          </a:xfrm>
          <a:prstGeom prst="rect">
            <a:avLst/>
          </a:prstGeom>
          <a:solidFill>
            <a:srgbClr val="3B82F6"/>
          </a:solidFill>
          <a:ln/>
        </p:spPr>
      </p:sp>
      <p:sp>
        <p:nvSpPr>
          <p:cNvPr id="7" name="Text 5"/>
          <p:cNvSpPr/>
          <p:nvPr/>
        </p:nvSpPr>
        <p:spPr>
          <a:xfrm>
            <a:off x="640080" y="3063240"/>
            <a:ext cx="7772400" cy="548640"/>
          </a:xfrm>
          <a:prstGeom prst="rect">
            <a:avLst/>
          </a:prstGeom>
          <a:noFill/>
          <a:ln/>
        </p:spPr>
        <p:txBody>
          <a:bodyPr wrap="square" lIns="0" tIns="0" rIns="0" bIns="0" rtlCol="0" anchor="ctr"/>
          <a:lstStyle/>
          <a:p>
            <a:pPr marL="0" indent="0" algn="l">
              <a:buNone/>
            </a:pPr>
            <a:r>
              <a:rPr lang="en-US" sz="1600" dirty="0">
                <a:solidFill>
                  <a:srgbClr val="FFFFFF"/>
                </a:solidFill>
                <a:latin typeface="Meiryo UI" pitchFamily="34" charset="0"/>
                <a:ea typeface="Meiryo UI" pitchFamily="34" charset="-122"/>
                <a:cs typeface="Meiryo UI" pitchFamily="34" charset="-120"/>
              </a:rPr>
              <a:t>ここからは、サグブレインならではのバイオサイエンス業界向けの強みをご紹介します。</a:t>
            </a:r>
            <a:endParaRPr lang="en-US" sz="1600" dirty="0"/>
          </a:p>
        </p:txBody>
      </p:sp>
      <p:sp>
        <p:nvSpPr>
          <p:cNvPr id="10" name="Shape 8"/>
          <p:cNvSpPr/>
          <p:nvPr/>
        </p:nvSpPr>
        <p:spPr>
          <a:xfrm>
            <a:off x="0" y="4869180"/>
            <a:ext cx="9144000" cy="274320"/>
          </a:xfrm>
          <a:prstGeom prst="rect">
            <a:avLst/>
          </a:prstGeom>
          <a:solidFill>
            <a:srgbClr val="1CADE4"/>
          </a:solidFill>
          <a:ln/>
        </p:spPr>
      </p:sp>
      <p:sp>
        <p:nvSpPr>
          <p:cNvPr id="11" name="Text 9"/>
          <p:cNvSpPr/>
          <p:nvPr/>
        </p:nvSpPr>
        <p:spPr>
          <a:xfrm>
            <a:off x="457200" y="4869180"/>
            <a:ext cx="82296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Meiryo UI" pitchFamily="34" charset="0"/>
                <a:ea typeface="Meiryo UI" pitchFamily="34" charset="-122"/>
                <a:cs typeface="Meiryo UI" pitchFamily="34" charset="-120"/>
              </a:rPr>
              <a:t>Copyright© 2002-2026 SAGBRAIN Corp. All rights reserved.</a:t>
            </a:r>
            <a:endParaRPr lang="en-US" sz="900" dirty="0"/>
          </a:p>
        </p:txBody>
      </p:sp>
      <p:sp>
        <p:nvSpPr>
          <p:cNvPr id="12" name="Text 10"/>
          <p:cNvSpPr/>
          <p:nvPr/>
        </p:nvSpPr>
        <p:spPr>
          <a:xfrm>
            <a:off x="8503920" y="4869180"/>
            <a:ext cx="502920" cy="274320"/>
          </a:xfrm>
          <a:prstGeom prst="rect">
            <a:avLst/>
          </a:prstGeom>
          <a:noFill/>
          <a:ln/>
        </p:spPr>
        <p:txBody>
          <a:bodyPr wrap="square" lIns="0" tIns="0" rIns="0" bIns="0" rtlCol="0" anchor="ctr"/>
          <a:lstStyle/>
          <a:p>
            <a:pPr marL="0" indent="0" algn="r">
              <a:buNone/>
            </a:pPr>
            <a:r>
              <a:rPr lang="en-US" sz="1000" b="1" dirty="0">
                <a:solidFill>
                  <a:srgbClr val="FFFFFF"/>
                </a:solidFill>
                <a:latin typeface="Meiryo UI" pitchFamily="34" charset="0"/>
                <a:ea typeface="Meiryo UI" pitchFamily="34" charset="-122"/>
                <a:cs typeface="Meiryo U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7132320" cy="502920"/>
          </a:xfrm>
          <a:prstGeom prst="rect">
            <a:avLst/>
          </a:prstGeom>
          <a:noFill/>
          <a:ln/>
        </p:spPr>
        <p:txBody>
          <a:bodyPr wrap="square" lIns="0" tIns="0" rIns="0" bIns="0" rtlCol="0" anchor="ctr"/>
          <a:lstStyle/>
          <a:p>
            <a:pPr marL="0" indent="0" algn="l">
              <a:buNone/>
            </a:pPr>
            <a:r>
              <a:rPr lang="en-US" sz="2200" b="1" dirty="0">
                <a:solidFill>
                  <a:srgbClr val="1E3A5F"/>
                </a:solidFill>
                <a:latin typeface="Meiryo UI" pitchFamily="34" charset="0"/>
                <a:ea typeface="Meiryo UI" pitchFamily="34" charset="-122"/>
                <a:cs typeface="Meiryo UI" pitchFamily="34" charset="-120"/>
              </a:rPr>
              <a:t>バイオサイエンス業界向け：サグブレインの強み</a:t>
            </a:r>
            <a:endParaRPr lang="en-US" sz="2200" dirty="0"/>
          </a:p>
        </p:txBody>
      </p:sp>
      <p:sp>
        <p:nvSpPr>
          <p:cNvPr id="3" name="Shape 1"/>
          <p:cNvSpPr/>
          <p:nvPr/>
        </p:nvSpPr>
        <p:spPr>
          <a:xfrm>
            <a:off x="365760" y="758952"/>
            <a:ext cx="8412480" cy="0"/>
          </a:xfrm>
          <a:prstGeom prst="line">
            <a:avLst/>
          </a:prstGeom>
          <a:noFill/>
          <a:ln w="6350">
            <a:solidFill>
              <a:srgbClr val="64748B"/>
            </a:solidFill>
            <a:prstDash val="solid"/>
          </a:ln>
        </p:spPr>
      </p:sp>
      <p:pic>
        <p:nvPicPr>
          <p:cNvPr id="4" name="Image 0" descr="preencoded.png"/>
          <p:cNvPicPr>
            <a:picLocks noChangeAspect="1"/>
          </p:cNvPicPr>
          <p:nvPr/>
        </p:nvPicPr>
        <p:blipFill>
          <a:blip r:embed="rId3"/>
          <a:stretch>
            <a:fillRect/>
          </a:stretch>
        </p:blipFill>
        <p:spPr>
          <a:xfrm>
            <a:off x="7680960" y="164592"/>
            <a:ext cx="1188720" cy="265176"/>
          </a:xfrm>
          <a:prstGeom prst="rect">
            <a:avLst/>
          </a:prstGeom>
        </p:spPr>
      </p:pic>
      <p:sp>
        <p:nvSpPr>
          <p:cNvPr id="5" name="Shape 2"/>
          <p:cNvSpPr/>
          <p:nvPr/>
        </p:nvSpPr>
        <p:spPr>
          <a:xfrm>
            <a:off x="0" y="4869180"/>
            <a:ext cx="9144000" cy="274320"/>
          </a:xfrm>
          <a:prstGeom prst="rect">
            <a:avLst/>
          </a:prstGeom>
          <a:solidFill>
            <a:srgbClr val="1CADE4"/>
          </a:solidFill>
          <a:ln/>
        </p:spPr>
      </p:sp>
      <p:sp>
        <p:nvSpPr>
          <p:cNvPr id="6" name="Text 3"/>
          <p:cNvSpPr/>
          <p:nvPr/>
        </p:nvSpPr>
        <p:spPr>
          <a:xfrm>
            <a:off x="457200" y="4869180"/>
            <a:ext cx="82296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Meiryo UI" pitchFamily="34" charset="0"/>
                <a:ea typeface="Meiryo UI" pitchFamily="34" charset="-122"/>
                <a:cs typeface="Meiryo UI" pitchFamily="34" charset="-120"/>
              </a:rPr>
              <a:t>Copyright© 2002-2026 SAGBRAIN Corp. All rights reserved.</a:t>
            </a:r>
            <a:endParaRPr lang="en-US" sz="900" dirty="0"/>
          </a:p>
        </p:txBody>
      </p:sp>
      <p:sp>
        <p:nvSpPr>
          <p:cNvPr id="7" name="Text 4"/>
          <p:cNvSpPr/>
          <p:nvPr/>
        </p:nvSpPr>
        <p:spPr>
          <a:xfrm>
            <a:off x="8503920" y="4869180"/>
            <a:ext cx="502920" cy="274320"/>
          </a:xfrm>
          <a:prstGeom prst="rect">
            <a:avLst/>
          </a:prstGeom>
          <a:noFill/>
          <a:ln/>
        </p:spPr>
        <p:txBody>
          <a:bodyPr wrap="square" lIns="0" tIns="0" rIns="0" bIns="0" rtlCol="0" anchor="ctr"/>
          <a:lstStyle/>
          <a:p>
            <a:pPr marL="0" indent="0" algn="r">
              <a:buNone/>
            </a:pPr>
            <a:r>
              <a:rPr lang="en-US" sz="1000" b="1" dirty="0">
                <a:solidFill>
                  <a:srgbClr val="FFFFFF"/>
                </a:solidFill>
                <a:latin typeface="Meiryo UI" pitchFamily="34" charset="0"/>
                <a:ea typeface="Meiryo UI" pitchFamily="34" charset="-122"/>
                <a:cs typeface="Meiryo UI" pitchFamily="34" charset="-120"/>
              </a:rPr>
              <a:t>11</a:t>
            </a:r>
            <a:endParaRPr lang="en-US" sz="1000" dirty="0"/>
          </a:p>
        </p:txBody>
      </p:sp>
      <p:sp>
        <p:nvSpPr>
          <p:cNvPr id="8" name="Text 5"/>
          <p:cNvSpPr/>
          <p:nvPr/>
        </p:nvSpPr>
        <p:spPr>
          <a:xfrm>
            <a:off x="365760" y="1097280"/>
            <a:ext cx="8412480" cy="292608"/>
          </a:xfrm>
          <a:prstGeom prst="rect">
            <a:avLst/>
          </a:prstGeom>
          <a:noFill/>
          <a:ln/>
        </p:spPr>
        <p:txBody>
          <a:bodyPr wrap="square" lIns="0" tIns="0" rIns="0" bIns="0" rtlCol="0" anchor="ctr"/>
          <a:lstStyle/>
          <a:p>
            <a:pPr marL="0" indent="0">
              <a:buNone/>
            </a:pPr>
            <a:r>
              <a:rPr lang="en-US" sz="1300" dirty="0">
                <a:solidFill>
                  <a:srgbClr val="1F2937"/>
                </a:solidFill>
                <a:latin typeface="Meiryo UI" pitchFamily="34" charset="0"/>
                <a:ea typeface="Meiryo UI" pitchFamily="34" charset="-122"/>
                <a:cs typeface="Meiryo UI" pitchFamily="34" charset="-120"/>
              </a:rPr>
              <a:t>20年以上の業界実績。バイオ研究支援の受発注を知り尽くした3つの強み。</a:t>
            </a:r>
            <a:endParaRPr lang="en-US" sz="1300" dirty="0"/>
          </a:p>
        </p:txBody>
      </p:sp>
      <p:sp>
        <p:nvSpPr>
          <p:cNvPr id="9" name="Shape 6"/>
          <p:cNvSpPr/>
          <p:nvPr/>
        </p:nvSpPr>
        <p:spPr>
          <a:xfrm>
            <a:off x="365760" y="1481328"/>
            <a:ext cx="2743200" cy="2194560"/>
          </a:xfrm>
          <a:prstGeom prst="rect">
            <a:avLst/>
          </a:prstGeom>
          <a:solidFill>
            <a:srgbClr val="FFFFFF"/>
          </a:solidFill>
          <a:ln w="12700">
            <a:solidFill>
              <a:srgbClr val="E2E8F0"/>
            </a:solidFill>
            <a:prstDash val="solid"/>
          </a:ln>
        </p:spPr>
      </p:sp>
      <p:sp>
        <p:nvSpPr>
          <p:cNvPr id="10" name="Text 7"/>
          <p:cNvSpPr/>
          <p:nvPr/>
        </p:nvSpPr>
        <p:spPr>
          <a:xfrm>
            <a:off x="548640" y="1618488"/>
            <a:ext cx="914400" cy="411480"/>
          </a:xfrm>
          <a:prstGeom prst="rect">
            <a:avLst/>
          </a:prstGeom>
          <a:noFill/>
          <a:ln/>
        </p:spPr>
        <p:txBody>
          <a:bodyPr wrap="square" lIns="0" tIns="0" rIns="0" bIns="0" rtlCol="0" anchor="ctr"/>
          <a:lstStyle/>
          <a:p>
            <a:pPr marL="0" indent="0">
              <a:buNone/>
            </a:pPr>
            <a:r>
              <a:rPr lang="en-US" sz="2800" b="1" dirty="0">
                <a:solidFill>
                  <a:srgbClr val="E11D48"/>
                </a:solidFill>
                <a:latin typeface="Meiryo UI" pitchFamily="34" charset="0"/>
                <a:ea typeface="Meiryo UI" pitchFamily="34" charset="-122"/>
                <a:cs typeface="Meiryo UI" pitchFamily="34" charset="-120"/>
              </a:rPr>
              <a:t>01</a:t>
            </a:r>
            <a:endParaRPr lang="en-US" sz="2800" dirty="0"/>
          </a:p>
        </p:txBody>
      </p:sp>
      <p:pic>
        <p:nvPicPr>
          <p:cNvPr id="11" name="Image 1" descr="preencoded.png"/>
          <p:cNvPicPr>
            <a:picLocks noChangeAspect="1"/>
          </p:cNvPicPr>
          <p:nvPr/>
        </p:nvPicPr>
        <p:blipFill>
          <a:blip r:embed="rId4"/>
          <a:stretch>
            <a:fillRect/>
          </a:stretch>
        </p:blipFill>
        <p:spPr>
          <a:xfrm>
            <a:off x="2377440" y="1645920"/>
            <a:ext cx="566928" cy="566928"/>
          </a:xfrm>
          <a:prstGeom prst="rect">
            <a:avLst/>
          </a:prstGeom>
        </p:spPr>
      </p:pic>
      <p:sp>
        <p:nvSpPr>
          <p:cNvPr id="12" name="Text 8"/>
          <p:cNvSpPr/>
          <p:nvPr/>
        </p:nvSpPr>
        <p:spPr>
          <a:xfrm>
            <a:off x="548640" y="2121408"/>
            <a:ext cx="2377440" cy="457200"/>
          </a:xfrm>
          <a:prstGeom prst="rect">
            <a:avLst/>
          </a:prstGeom>
          <a:noFill/>
          <a:ln/>
        </p:spPr>
        <p:txBody>
          <a:bodyPr wrap="square" lIns="0" tIns="0" rIns="0" bIns="0" rtlCol="0" anchor="ctr"/>
          <a:lstStyle/>
          <a:p>
            <a:pPr marL="0" indent="0">
              <a:buNone/>
            </a:pPr>
            <a:r>
              <a:rPr lang="en-US" sz="1300" b="1" dirty="0">
                <a:solidFill>
                  <a:srgbClr val="1E3A5F"/>
                </a:solidFill>
                <a:latin typeface="Meiryo UI" pitchFamily="34" charset="0"/>
                <a:ea typeface="Meiryo UI" pitchFamily="34" charset="-122"/>
                <a:cs typeface="Meiryo UI" pitchFamily="34" charset="-120"/>
              </a:rPr>
              <a:t>業界共通の商品マスタ</a:t>
            </a:r>
            <a:endParaRPr lang="en-US" sz="1300" dirty="0"/>
          </a:p>
        </p:txBody>
      </p:sp>
      <p:sp>
        <p:nvSpPr>
          <p:cNvPr id="13" name="Text 9"/>
          <p:cNvSpPr/>
          <p:nvPr/>
        </p:nvSpPr>
        <p:spPr>
          <a:xfrm>
            <a:off x="548640" y="2578608"/>
            <a:ext cx="2377440" cy="1051560"/>
          </a:xfrm>
          <a:prstGeom prst="rect">
            <a:avLst/>
          </a:prstGeom>
          <a:noFill/>
          <a:ln/>
        </p:spPr>
        <p:txBody>
          <a:bodyPr wrap="square" lIns="0" tIns="0" rIns="0" bIns="0" rtlCol="0" anchor="ctr"/>
          <a:lstStyle/>
          <a:p>
            <a:pPr marL="0" indent="0">
              <a:buNone/>
            </a:pPr>
            <a:r>
              <a:rPr lang="en-US" sz="1050" dirty="0">
                <a:solidFill>
                  <a:srgbClr val="1F2937"/>
                </a:solidFill>
                <a:latin typeface="Meiryo UI" pitchFamily="34" charset="0"/>
                <a:ea typeface="Meiryo UI" pitchFamily="34" charset="-122"/>
                <a:cs typeface="Meiryo UI" pitchFamily="34" charset="-120"/>
              </a:rPr>
              <a:t>BRP-Code（業界共通商品マスタ3000万件超）を当社がメンテナンス。品番照合・カタログ整備の負担を解消。</a:t>
            </a:r>
            <a:endParaRPr lang="en-US" sz="1050" dirty="0"/>
          </a:p>
        </p:txBody>
      </p:sp>
      <p:sp>
        <p:nvSpPr>
          <p:cNvPr id="14" name="Shape 10"/>
          <p:cNvSpPr/>
          <p:nvPr/>
        </p:nvSpPr>
        <p:spPr>
          <a:xfrm>
            <a:off x="3200400" y="1481328"/>
            <a:ext cx="2743200" cy="2194560"/>
          </a:xfrm>
          <a:prstGeom prst="rect">
            <a:avLst/>
          </a:prstGeom>
          <a:solidFill>
            <a:srgbClr val="FFFFFF"/>
          </a:solidFill>
          <a:ln w="12700">
            <a:solidFill>
              <a:srgbClr val="E2E8F0"/>
            </a:solidFill>
            <a:prstDash val="solid"/>
          </a:ln>
        </p:spPr>
      </p:sp>
      <p:sp>
        <p:nvSpPr>
          <p:cNvPr id="15" name="Text 11"/>
          <p:cNvSpPr/>
          <p:nvPr/>
        </p:nvSpPr>
        <p:spPr>
          <a:xfrm>
            <a:off x="3383280" y="1618488"/>
            <a:ext cx="914400" cy="411480"/>
          </a:xfrm>
          <a:prstGeom prst="rect">
            <a:avLst/>
          </a:prstGeom>
          <a:noFill/>
          <a:ln/>
        </p:spPr>
        <p:txBody>
          <a:bodyPr wrap="square" lIns="0" tIns="0" rIns="0" bIns="0" rtlCol="0" anchor="ctr"/>
          <a:lstStyle/>
          <a:p>
            <a:pPr marL="0" indent="0">
              <a:buNone/>
            </a:pPr>
            <a:r>
              <a:rPr lang="en-US" sz="2800" b="1" dirty="0">
                <a:solidFill>
                  <a:srgbClr val="0D9488"/>
                </a:solidFill>
                <a:latin typeface="Meiryo UI" pitchFamily="34" charset="0"/>
                <a:ea typeface="Meiryo UI" pitchFamily="34" charset="-122"/>
                <a:cs typeface="Meiryo UI" pitchFamily="34" charset="-120"/>
              </a:rPr>
              <a:t>02</a:t>
            </a:r>
            <a:endParaRPr lang="en-US" sz="2800" dirty="0"/>
          </a:p>
        </p:txBody>
      </p:sp>
      <p:pic>
        <p:nvPicPr>
          <p:cNvPr id="16" name="Image 2" descr="preencoded.png"/>
          <p:cNvPicPr>
            <a:picLocks noChangeAspect="1"/>
          </p:cNvPicPr>
          <p:nvPr/>
        </p:nvPicPr>
        <p:blipFill>
          <a:blip r:embed="rId5"/>
          <a:stretch>
            <a:fillRect/>
          </a:stretch>
        </p:blipFill>
        <p:spPr>
          <a:xfrm>
            <a:off x="5212080" y="1645920"/>
            <a:ext cx="566928" cy="566928"/>
          </a:xfrm>
          <a:prstGeom prst="rect">
            <a:avLst/>
          </a:prstGeom>
        </p:spPr>
      </p:pic>
      <p:sp>
        <p:nvSpPr>
          <p:cNvPr id="17" name="Text 12"/>
          <p:cNvSpPr/>
          <p:nvPr/>
        </p:nvSpPr>
        <p:spPr>
          <a:xfrm>
            <a:off x="3383280" y="2121408"/>
            <a:ext cx="2377440" cy="457200"/>
          </a:xfrm>
          <a:prstGeom prst="rect">
            <a:avLst/>
          </a:prstGeom>
          <a:noFill/>
          <a:ln/>
        </p:spPr>
        <p:txBody>
          <a:bodyPr wrap="square" lIns="0" tIns="0" rIns="0" bIns="0" rtlCol="0" anchor="ctr"/>
          <a:lstStyle/>
          <a:p>
            <a:pPr marL="0" indent="0">
              <a:buNone/>
            </a:pPr>
            <a:r>
              <a:rPr lang="en-US" sz="1300" b="1" dirty="0">
                <a:solidFill>
                  <a:srgbClr val="1E3A5F"/>
                </a:solidFill>
                <a:latin typeface="Meiryo UI" pitchFamily="34" charset="0"/>
                <a:ea typeface="Meiryo UI" pitchFamily="34" charset="-122"/>
                <a:cs typeface="Meiryo UI" pitchFamily="34" charset="-120"/>
              </a:rPr>
              <a:t>主要メーカー20社にRPA対応</a:t>
            </a:r>
            <a:endParaRPr lang="en-US" sz="1300" dirty="0"/>
          </a:p>
        </p:txBody>
      </p:sp>
      <p:sp>
        <p:nvSpPr>
          <p:cNvPr id="18" name="Text 13"/>
          <p:cNvSpPr/>
          <p:nvPr/>
        </p:nvSpPr>
        <p:spPr>
          <a:xfrm>
            <a:off x="3383280" y="2578608"/>
            <a:ext cx="2377440" cy="1051560"/>
          </a:xfrm>
          <a:prstGeom prst="rect">
            <a:avLst/>
          </a:prstGeom>
          <a:noFill/>
          <a:ln/>
        </p:spPr>
        <p:txBody>
          <a:bodyPr wrap="square" lIns="0" tIns="0" rIns="0" bIns="0" rtlCol="0" anchor="ctr"/>
          <a:lstStyle/>
          <a:p>
            <a:pPr marL="0" indent="0">
              <a:buNone/>
            </a:pPr>
            <a:r>
              <a:rPr lang="ja-JP" altLang="en-US" sz="1050">
                <a:solidFill>
                  <a:srgbClr val="1F2937"/>
                </a:solidFill>
                <a:latin typeface="Meiryo UI" pitchFamily="34" charset="0"/>
                <a:ea typeface="Meiryo UI" pitchFamily="34" charset="-122"/>
                <a:cs typeface="Meiryo UI" pitchFamily="34" charset="-120"/>
              </a:rPr>
              <a:t>主要メーカー２０社の</a:t>
            </a:r>
            <a:r>
              <a:rPr lang="en-US" sz="1050">
                <a:solidFill>
                  <a:srgbClr val="1F2937"/>
                </a:solidFill>
                <a:latin typeface="Meiryo UI" pitchFamily="34" charset="0"/>
                <a:ea typeface="Meiryo UI" pitchFamily="34" charset="-122"/>
                <a:cs typeface="Meiryo UI" pitchFamily="34" charset="-120"/>
              </a:rPr>
              <a:t>在庫</a:t>
            </a:r>
            <a:r>
              <a:rPr lang="en-US" sz="1050" dirty="0">
                <a:solidFill>
                  <a:srgbClr val="1F2937"/>
                </a:solidFill>
                <a:latin typeface="Meiryo UI" pitchFamily="34" charset="0"/>
                <a:ea typeface="Meiryo UI" pitchFamily="34" charset="-122"/>
                <a:cs typeface="Meiryo UI" pitchFamily="34" charset="-120"/>
              </a:rPr>
              <a:t>・納期をWebから自動取得し、問い合わせ作業を削減。</a:t>
            </a:r>
            <a:endParaRPr lang="en-US" sz="1050" dirty="0"/>
          </a:p>
        </p:txBody>
      </p:sp>
      <p:sp>
        <p:nvSpPr>
          <p:cNvPr id="19" name="Shape 14"/>
          <p:cNvSpPr/>
          <p:nvPr/>
        </p:nvSpPr>
        <p:spPr>
          <a:xfrm>
            <a:off x="6035040" y="1481328"/>
            <a:ext cx="2743200" cy="2194560"/>
          </a:xfrm>
          <a:prstGeom prst="rect">
            <a:avLst/>
          </a:prstGeom>
          <a:solidFill>
            <a:srgbClr val="FFFFFF"/>
          </a:solidFill>
          <a:ln w="12700">
            <a:solidFill>
              <a:srgbClr val="E2E8F0"/>
            </a:solidFill>
            <a:prstDash val="solid"/>
          </a:ln>
        </p:spPr>
      </p:sp>
      <p:sp>
        <p:nvSpPr>
          <p:cNvPr id="20" name="Text 15"/>
          <p:cNvSpPr/>
          <p:nvPr/>
        </p:nvSpPr>
        <p:spPr>
          <a:xfrm>
            <a:off x="6217920" y="1618488"/>
            <a:ext cx="914400" cy="411480"/>
          </a:xfrm>
          <a:prstGeom prst="rect">
            <a:avLst/>
          </a:prstGeom>
          <a:noFill/>
          <a:ln/>
        </p:spPr>
        <p:txBody>
          <a:bodyPr wrap="square" lIns="0" tIns="0" rIns="0" bIns="0" rtlCol="0" anchor="ctr"/>
          <a:lstStyle/>
          <a:p>
            <a:pPr marL="0" indent="0">
              <a:buNone/>
            </a:pPr>
            <a:r>
              <a:rPr lang="en-US" sz="2800" b="1" dirty="0">
                <a:solidFill>
                  <a:srgbClr val="7C3AED"/>
                </a:solidFill>
                <a:latin typeface="Meiryo UI" pitchFamily="34" charset="0"/>
                <a:ea typeface="Meiryo UI" pitchFamily="34" charset="-122"/>
                <a:cs typeface="Meiryo UI" pitchFamily="34" charset="-120"/>
              </a:rPr>
              <a:t>03</a:t>
            </a:r>
            <a:endParaRPr lang="en-US" sz="2800" dirty="0"/>
          </a:p>
        </p:txBody>
      </p:sp>
      <p:pic>
        <p:nvPicPr>
          <p:cNvPr id="21" name="Image 3" descr="preencoded.png"/>
          <p:cNvPicPr>
            <a:picLocks noChangeAspect="1"/>
          </p:cNvPicPr>
          <p:nvPr/>
        </p:nvPicPr>
        <p:blipFill>
          <a:blip r:embed="rId6"/>
          <a:stretch>
            <a:fillRect/>
          </a:stretch>
        </p:blipFill>
        <p:spPr>
          <a:xfrm>
            <a:off x="8046720" y="1645920"/>
            <a:ext cx="566928" cy="566928"/>
          </a:xfrm>
          <a:prstGeom prst="rect">
            <a:avLst/>
          </a:prstGeom>
        </p:spPr>
      </p:pic>
      <p:sp>
        <p:nvSpPr>
          <p:cNvPr id="22" name="Text 16"/>
          <p:cNvSpPr/>
          <p:nvPr/>
        </p:nvSpPr>
        <p:spPr>
          <a:xfrm>
            <a:off x="6217920" y="2121408"/>
            <a:ext cx="2377440" cy="457200"/>
          </a:xfrm>
          <a:prstGeom prst="rect">
            <a:avLst/>
          </a:prstGeom>
          <a:noFill/>
          <a:ln/>
        </p:spPr>
        <p:txBody>
          <a:bodyPr wrap="square" lIns="0" tIns="0" rIns="0" bIns="0" rtlCol="0" anchor="ctr"/>
          <a:lstStyle/>
          <a:p>
            <a:pPr marL="0" indent="0">
              <a:buNone/>
            </a:pPr>
            <a:r>
              <a:rPr lang="en-US" sz="1300" b="1" dirty="0">
                <a:solidFill>
                  <a:srgbClr val="1E3A5F"/>
                </a:solidFill>
                <a:latin typeface="Meiryo UI" pitchFamily="34" charset="0"/>
                <a:ea typeface="Meiryo UI" pitchFamily="34" charset="-122"/>
                <a:cs typeface="Meiryo UI" pitchFamily="34" charset="-120"/>
              </a:rPr>
              <a:t>全国研究機関DB（LDB）</a:t>
            </a:r>
            <a:endParaRPr lang="en-US" sz="1300" dirty="0"/>
          </a:p>
        </p:txBody>
      </p:sp>
      <p:sp>
        <p:nvSpPr>
          <p:cNvPr id="23" name="Text 17"/>
          <p:cNvSpPr/>
          <p:nvPr/>
        </p:nvSpPr>
        <p:spPr>
          <a:xfrm>
            <a:off x="6217920" y="2578608"/>
            <a:ext cx="2377440" cy="1051560"/>
          </a:xfrm>
          <a:prstGeom prst="rect">
            <a:avLst/>
          </a:prstGeom>
          <a:noFill/>
          <a:ln/>
        </p:spPr>
        <p:txBody>
          <a:bodyPr wrap="square" lIns="0" tIns="0" rIns="0" bIns="0" rtlCol="0" anchor="ctr"/>
          <a:lstStyle/>
          <a:p>
            <a:pPr marL="0" indent="0">
              <a:buNone/>
            </a:pPr>
            <a:r>
              <a:rPr lang="en-US" sz="1050" dirty="0">
                <a:solidFill>
                  <a:srgbClr val="1F2937"/>
                </a:solidFill>
                <a:latin typeface="Meiryo UI" pitchFamily="34" charset="0"/>
                <a:ea typeface="Meiryo UI" pitchFamily="34" charset="-122"/>
                <a:cs typeface="Meiryo UI" pitchFamily="34" charset="-120"/>
              </a:rPr>
              <a:t>11万機関・25万人の研究者DB。受発注データと統合し、エンドユーザー別の分析・案件管理が可能。</a:t>
            </a:r>
            <a:endParaRPr lang="en-US" sz="1050" dirty="0"/>
          </a:p>
        </p:txBody>
      </p:sp>
      <p:sp>
        <p:nvSpPr>
          <p:cNvPr id="24" name="Shape 18"/>
          <p:cNvSpPr/>
          <p:nvPr/>
        </p:nvSpPr>
        <p:spPr>
          <a:xfrm>
            <a:off x="365760" y="3840480"/>
            <a:ext cx="8412480" cy="777240"/>
          </a:xfrm>
          <a:prstGeom prst="rect">
            <a:avLst/>
          </a:prstGeom>
          <a:solidFill>
            <a:srgbClr val="EFF6FF"/>
          </a:solidFill>
          <a:ln w="12700">
            <a:solidFill>
              <a:srgbClr val="2563EB"/>
            </a:solidFill>
            <a:prstDash val="solid"/>
          </a:ln>
        </p:spPr>
      </p:sp>
      <p:sp>
        <p:nvSpPr>
          <p:cNvPr id="25" name="Text 19"/>
          <p:cNvSpPr/>
          <p:nvPr/>
        </p:nvSpPr>
        <p:spPr>
          <a:xfrm>
            <a:off x="548640" y="3931920"/>
            <a:ext cx="8046720" cy="365760"/>
          </a:xfrm>
          <a:prstGeom prst="rect">
            <a:avLst/>
          </a:prstGeom>
          <a:noFill/>
          <a:ln/>
        </p:spPr>
        <p:txBody>
          <a:bodyPr wrap="square" lIns="0" tIns="0" rIns="0" bIns="0" rtlCol="0" anchor="ctr"/>
          <a:lstStyle/>
          <a:p>
            <a:pPr marL="0" indent="0">
              <a:buNone/>
            </a:pPr>
            <a:r>
              <a:rPr lang="en-US" sz="1600" b="1" dirty="0">
                <a:solidFill>
                  <a:srgbClr val="1E3A5F"/>
                </a:solidFill>
                <a:latin typeface="Meiryo UI" pitchFamily="34" charset="0"/>
                <a:ea typeface="Meiryo UI" pitchFamily="34" charset="-122"/>
                <a:cs typeface="Meiryo UI" pitchFamily="34" charset="-120"/>
              </a:rPr>
              <a:t>バイオ業界の商習慣・流通構造に最適化。だからORDIAは“すぐ効く”。</a:t>
            </a:r>
            <a:endParaRPr lang="en-US" sz="1600" dirty="0"/>
          </a:p>
        </p:txBody>
      </p:sp>
      <p:sp>
        <p:nvSpPr>
          <p:cNvPr id="26" name="Text 20"/>
          <p:cNvSpPr/>
          <p:nvPr/>
        </p:nvSpPr>
        <p:spPr>
          <a:xfrm>
            <a:off x="548640" y="4279392"/>
            <a:ext cx="8046720" cy="320040"/>
          </a:xfrm>
          <a:prstGeom prst="rect">
            <a:avLst/>
          </a:prstGeom>
          <a:noFill/>
          <a:ln/>
        </p:spPr>
        <p:txBody>
          <a:bodyPr wrap="square" lIns="0" tIns="0" rIns="0" bIns="0" rtlCol="0" anchor="ctr"/>
          <a:lstStyle/>
          <a:p>
            <a:pPr marL="0" indent="0">
              <a:buNone/>
            </a:pPr>
            <a:r>
              <a:rPr lang="en-US" sz="1050" dirty="0">
                <a:solidFill>
                  <a:srgbClr val="1F2937"/>
                </a:solidFill>
                <a:latin typeface="Meiryo UI" pitchFamily="34" charset="0"/>
                <a:ea typeface="Meiryo UI" pitchFamily="34" charset="-122"/>
                <a:cs typeface="Meiryo UI" pitchFamily="34" charset="-120"/>
              </a:rPr>
              <a:t>試薬・消耗品の受発注に必要な商品マスタ・メーカー連携・研究機関データを、ひとつの基盤で提供。</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7132320" cy="502920"/>
          </a:xfrm>
          <a:prstGeom prst="rect">
            <a:avLst/>
          </a:prstGeom>
          <a:noFill/>
          <a:ln/>
        </p:spPr>
        <p:txBody>
          <a:bodyPr wrap="square" lIns="0" tIns="0" rIns="0" bIns="0" rtlCol="0" anchor="ctr"/>
          <a:lstStyle/>
          <a:p>
            <a:pPr marL="0" indent="0" algn="l">
              <a:buNone/>
            </a:pPr>
            <a:r>
              <a:rPr lang="en-US" sz="2200" b="1" dirty="0">
                <a:solidFill>
                  <a:srgbClr val="1E3A5F"/>
                </a:solidFill>
                <a:latin typeface="Meiryo UI" pitchFamily="34" charset="0"/>
                <a:ea typeface="Meiryo UI" pitchFamily="34" charset="-122"/>
                <a:cs typeface="Meiryo UI" pitchFamily="34" charset="-120"/>
              </a:rPr>
              <a:t>バイオ業界を支える、サグブレインのサービス全体像</a:t>
            </a:r>
            <a:endParaRPr lang="en-US" sz="2200" dirty="0"/>
          </a:p>
        </p:txBody>
      </p:sp>
      <p:sp>
        <p:nvSpPr>
          <p:cNvPr id="3" name="Shape 1"/>
          <p:cNvSpPr/>
          <p:nvPr/>
        </p:nvSpPr>
        <p:spPr>
          <a:xfrm>
            <a:off x="365760" y="758952"/>
            <a:ext cx="8412480" cy="0"/>
          </a:xfrm>
          <a:prstGeom prst="line">
            <a:avLst/>
          </a:prstGeom>
          <a:noFill/>
          <a:ln w="6350">
            <a:solidFill>
              <a:srgbClr val="64748B"/>
            </a:solidFill>
            <a:prstDash val="solid"/>
          </a:ln>
        </p:spPr>
      </p:sp>
      <p:pic>
        <p:nvPicPr>
          <p:cNvPr id="4" name="Image 0" descr="preencoded.png"/>
          <p:cNvPicPr>
            <a:picLocks noChangeAspect="1"/>
          </p:cNvPicPr>
          <p:nvPr/>
        </p:nvPicPr>
        <p:blipFill>
          <a:blip r:embed="rId3"/>
          <a:stretch>
            <a:fillRect/>
          </a:stretch>
        </p:blipFill>
        <p:spPr>
          <a:xfrm>
            <a:off x="7680960" y="164592"/>
            <a:ext cx="1188720" cy="265176"/>
          </a:xfrm>
          <a:prstGeom prst="rect">
            <a:avLst/>
          </a:prstGeom>
        </p:spPr>
      </p:pic>
      <p:sp>
        <p:nvSpPr>
          <p:cNvPr id="5" name="Shape 2"/>
          <p:cNvSpPr/>
          <p:nvPr/>
        </p:nvSpPr>
        <p:spPr>
          <a:xfrm>
            <a:off x="0" y="4869180"/>
            <a:ext cx="9144000" cy="274320"/>
          </a:xfrm>
          <a:prstGeom prst="rect">
            <a:avLst/>
          </a:prstGeom>
          <a:solidFill>
            <a:srgbClr val="1CADE4"/>
          </a:solidFill>
          <a:ln/>
        </p:spPr>
      </p:sp>
      <p:sp>
        <p:nvSpPr>
          <p:cNvPr id="6" name="Text 3"/>
          <p:cNvSpPr/>
          <p:nvPr/>
        </p:nvSpPr>
        <p:spPr>
          <a:xfrm>
            <a:off x="457200" y="4869180"/>
            <a:ext cx="82296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Meiryo UI" pitchFamily="34" charset="0"/>
                <a:ea typeface="Meiryo UI" pitchFamily="34" charset="-122"/>
                <a:cs typeface="Meiryo UI" pitchFamily="34" charset="-120"/>
              </a:rPr>
              <a:t>Copyright© 2002-2026 SAGBRAIN Corp. All rights reserved.</a:t>
            </a:r>
            <a:endParaRPr lang="en-US" sz="900" dirty="0"/>
          </a:p>
        </p:txBody>
      </p:sp>
      <p:sp>
        <p:nvSpPr>
          <p:cNvPr id="7" name="Text 4"/>
          <p:cNvSpPr/>
          <p:nvPr/>
        </p:nvSpPr>
        <p:spPr>
          <a:xfrm>
            <a:off x="8503920" y="4869180"/>
            <a:ext cx="502920" cy="274320"/>
          </a:xfrm>
          <a:prstGeom prst="rect">
            <a:avLst/>
          </a:prstGeom>
          <a:noFill/>
          <a:ln/>
        </p:spPr>
        <p:txBody>
          <a:bodyPr wrap="square" lIns="0" tIns="0" rIns="0" bIns="0" rtlCol="0" anchor="ctr"/>
          <a:lstStyle/>
          <a:p>
            <a:pPr marL="0" indent="0" algn="r">
              <a:buNone/>
            </a:pPr>
            <a:r>
              <a:rPr lang="en-US" sz="1000" b="1" dirty="0">
                <a:solidFill>
                  <a:srgbClr val="FFFFFF"/>
                </a:solidFill>
                <a:latin typeface="Meiryo UI" pitchFamily="34" charset="0"/>
                <a:ea typeface="Meiryo UI" pitchFamily="34" charset="-122"/>
                <a:cs typeface="Meiryo UI" pitchFamily="34" charset="-120"/>
              </a:rPr>
              <a:t>12</a:t>
            </a:r>
            <a:endParaRPr lang="en-US" sz="1000" dirty="0"/>
          </a:p>
        </p:txBody>
      </p:sp>
      <p:sp>
        <p:nvSpPr>
          <p:cNvPr id="8" name="Text 5"/>
          <p:cNvSpPr/>
          <p:nvPr/>
        </p:nvSpPr>
        <p:spPr>
          <a:xfrm>
            <a:off x="365760" y="1097280"/>
            <a:ext cx="8412480" cy="292608"/>
          </a:xfrm>
          <a:prstGeom prst="rect">
            <a:avLst/>
          </a:prstGeom>
          <a:noFill/>
          <a:ln/>
        </p:spPr>
        <p:txBody>
          <a:bodyPr wrap="square" lIns="0" tIns="0" rIns="0" bIns="0" rtlCol="0" anchor="ctr"/>
          <a:lstStyle/>
          <a:p>
            <a:pPr marL="0" indent="0">
              <a:buNone/>
            </a:pPr>
            <a:r>
              <a:rPr lang="en-US" sz="1250" dirty="0">
                <a:solidFill>
                  <a:srgbClr val="1F2937"/>
                </a:solidFill>
                <a:latin typeface="Meiryo UI" pitchFamily="34" charset="0"/>
                <a:ea typeface="Meiryo UI" pitchFamily="34" charset="-122"/>
                <a:cs typeface="Meiryo UI" pitchFamily="34" charset="-120"/>
              </a:rPr>
              <a:t>バイオサイエンス研究支援業界向けに、20年以上にわたって複数のサービスを展開してきました。</a:t>
            </a:r>
            <a:endParaRPr lang="en-US" sz="1250" dirty="0"/>
          </a:p>
        </p:txBody>
      </p:sp>
      <p:sp>
        <p:nvSpPr>
          <p:cNvPr id="9" name="Shape 6"/>
          <p:cNvSpPr/>
          <p:nvPr/>
        </p:nvSpPr>
        <p:spPr>
          <a:xfrm>
            <a:off x="365760" y="1481328"/>
            <a:ext cx="2697480" cy="1325880"/>
          </a:xfrm>
          <a:prstGeom prst="rect">
            <a:avLst/>
          </a:prstGeom>
          <a:solidFill>
            <a:srgbClr val="FFFFFF"/>
          </a:solidFill>
          <a:ln w="12700">
            <a:solidFill>
              <a:srgbClr val="E2E8F0"/>
            </a:solidFill>
            <a:prstDash val="solid"/>
          </a:ln>
        </p:spPr>
      </p:sp>
      <p:sp>
        <p:nvSpPr>
          <p:cNvPr id="10" name="Shape 7"/>
          <p:cNvSpPr/>
          <p:nvPr/>
        </p:nvSpPr>
        <p:spPr>
          <a:xfrm>
            <a:off x="365760" y="1481328"/>
            <a:ext cx="2697480" cy="411480"/>
          </a:xfrm>
          <a:prstGeom prst="rect">
            <a:avLst/>
          </a:prstGeom>
          <a:solidFill>
            <a:srgbClr val="2563EB"/>
          </a:solidFill>
          <a:ln/>
        </p:spPr>
      </p:sp>
      <p:sp>
        <p:nvSpPr>
          <p:cNvPr id="11" name="Text 8"/>
          <p:cNvSpPr/>
          <p:nvPr/>
        </p:nvSpPr>
        <p:spPr>
          <a:xfrm>
            <a:off x="502920" y="1517904"/>
            <a:ext cx="1691640" cy="347472"/>
          </a:xfrm>
          <a:prstGeom prst="rect">
            <a:avLst/>
          </a:prstGeom>
          <a:noFill/>
          <a:ln/>
        </p:spPr>
        <p:txBody>
          <a:bodyPr wrap="square" lIns="0" tIns="0" rIns="0" bIns="0" rtlCol="0" anchor="ctr"/>
          <a:lstStyle/>
          <a:p>
            <a:pPr marL="0" indent="0" algn="l">
              <a:buNone/>
            </a:pPr>
            <a:r>
              <a:rPr lang="en-US" sz="1600" b="1" dirty="0">
                <a:solidFill>
                  <a:srgbClr val="FFFFFF"/>
                </a:solidFill>
                <a:latin typeface="Meiryo UI" pitchFamily="34" charset="0"/>
                <a:ea typeface="Meiryo UI" pitchFamily="34" charset="-122"/>
                <a:cs typeface="Meiryo UI" pitchFamily="34" charset="-120"/>
              </a:rPr>
              <a:t>LDB</a:t>
            </a:r>
            <a:endParaRPr lang="en-US" sz="1600" dirty="0"/>
          </a:p>
        </p:txBody>
      </p:sp>
      <p:sp>
        <p:nvSpPr>
          <p:cNvPr id="12" name="Text 9"/>
          <p:cNvSpPr/>
          <p:nvPr/>
        </p:nvSpPr>
        <p:spPr>
          <a:xfrm>
            <a:off x="2103120" y="1527048"/>
            <a:ext cx="868680" cy="329184"/>
          </a:xfrm>
          <a:prstGeom prst="rect">
            <a:avLst/>
          </a:prstGeom>
          <a:noFill/>
          <a:ln/>
        </p:spPr>
        <p:txBody>
          <a:bodyPr wrap="square" lIns="0" tIns="0" rIns="0" bIns="0" rtlCol="0" anchor="ctr"/>
          <a:lstStyle/>
          <a:p>
            <a:pPr marL="0" indent="0" algn="r">
              <a:buNone/>
            </a:pPr>
            <a:r>
              <a:rPr lang="en-US" sz="900" dirty="0">
                <a:solidFill>
                  <a:srgbClr val="DBEAFE"/>
                </a:solidFill>
                <a:latin typeface="Meiryo UI" pitchFamily="34" charset="0"/>
                <a:ea typeface="Meiryo UI" pitchFamily="34" charset="-122"/>
                <a:cs typeface="Meiryo UI" pitchFamily="34" charset="-120"/>
              </a:rPr>
              <a:t>2005〜</a:t>
            </a:r>
            <a:endParaRPr lang="en-US" sz="900" dirty="0"/>
          </a:p>
        </p:txBody>
      </p:sp>
      <p:pic>
        <p:nvPicPr>
          <p:cNvPr id="13" name="Image 1" descr="preencoded.png"/>
          <p:cNvPicPr>
            <a:picLocks noChangeAspect="1"/>
          </p:cNvPicPr>
          <p:nvPr/>
        </p:nvPicPr>
        <p:blipFill>
          <a:blip r:embed="rId4">
            <a:alphaModFix amt="35000"/>
          </a:blip>
          <a:stretch>
            <a:fillRect/>
          </a:stretch>
        </p:blipFill>
        <p:spPr>
          <a:xfrm>
            <a:off x="2468880" y="2212848"/>
            <a:ext cx="457200" cy="457200"/>
          </a:xfrm>
          <a:prstGeom prst="rect">
            <a:avLst/>
          </a:prstGeom>
        </p:spPr>
      </p:pic>
      <p:sp>
        <p:nvSpPr>
          <p:cNvPr id="14" name="Text 10"/>
          <p:cNvSpPr/>
          <p:nvPr/>
        </p:nvSpPr>
        <p:spPr>
          <a:xfrm>
            <a:off x="502920" y="1938528"/>
            <a:ext cx="2423160" cy="502920"/>
          </a:xfrm>
          <a:prstGeom prst="rect">
            <a:avLst/>
          </a:prstGeom>
          <a:noFill/>
          <a:ln/>
        </p:spPr>
        <p:txBody>
          <a:bodyPr wrap="square" lIns="0" tIns="0" rIns="0" bIns="0" rtlCol="0" anchor="t"/>
          <a:lstStyle/>
          <a:p>
            <a:pPr marL="0" indent="0" algn="l">
              <a:buNone/>
            </a:pPr>
            <a:r>
              <a:rPr lang="en-US" sz="1000" dirty="0">
                <a:solidFill>
                  <a:srgbClr val="1F2937"/>
                </a:solidFill>
                <a:latin typeface="Meiryo UI" pitchFamily="34" charset="0"/>
                <a:ea typeface="Meiryo UI" pitchFamily="34" charset="-122"/>
                <a:cs typeface="Meiryo UI" pitchFamily="34" charset="-120"/>
              </a:rPr>
              <a:t>全国研究機関・研究者・予算データベース</a:t>
            </a:r>
            <a:endParaRPr lang="en-US" sz="1000" dirty="0"/>
          </a:p>
        </p:txBody>
      </p:sp>
      <p:sp>
        <p:nvSpPr>
          <p:cNvPr id="15" name="Text 11"/>
          <p:cNvSpPr/>
          <p:nvPr/>
        </p:nvSpPr>
        <p:spPr>
          <a:xfrm>
            <a:off x="502920" y="2468880"/>
            <a:ext cx="2423160" cy="274320"/>
          </a:xfrm>
          <a:prstGeom prst="rect">
            <a:avLst/>
          </a:prstGeom>
          <a:noFill/>
          <a:ln/>
        </p:spPr>
        <p:txBody>
          <a:bodyPr wrap="square" lIns="0" tIns="0" rIns="0" bIns="0" rtlCol="0" anchor="ctr"/>
          <a:lstStyle/>
          <a:p>
            <a:pPr marL="0" indent="0" algn="l">
              <a:buNone/>
            </a:pPr>
            <a:r>
              <a:rPr lang="en-US" sz="900" i="1" dirty="0">
                <a:solidFill>
                  <a:srgbClr val="64748B"/>
                </a:solidFill>
                <a:latin typeface="Meiryo UI" pitchFamily="34" charset="0"/>
                <a:ea typeface="Meiryo UI" pitchFamily="34" charset="-122"/>
                <a:cs typeface="Meiryo UI" pitchFamily="34" charset="-120"/>
              </a:rPr>
              <a:t>対象：メーカー</a:t>
            </a:r>
            <a:endParaRPr lang="en-US" sz="900" dirty="0"/>
          </a:p>
        </p:txBody>
      </p:sp>
      <p:sp>
        <p:nvSpPr>
          <p:cNvPr id="16" name="Shape 12"/>
          <p:cNvSpPr/>
          <p:nvPr/>
        </p:nvSpPr>
        <p:spPr>
          <a:xfrm>
            <a:off x="3154680" y="1481328"/>
            <a:ext cx="2697480" cy="1325880"/>
          </a:xfrm>
          <a:prstGeom prst="rect">
            <a:avLst/>
          </a:prstGeom>
          <a:solidFill>
            <a:srgbClr val="FFFFFF"/>
          </a:solidFill>
          <a:ln w="12700">
            <a:solidFill>
              <a:srgbClr val="E2E8F0"/>
            </a:solidFill>
            <a:prstDash val="solid"/>
          </a:ln>
        </p:spPr>
      </p:sp>
      <p:sp>
        <p:nvSpPr>
          <p:cNvPr id="17" name="Shape 13"/>
          <p:cNvSpPr/>
          <p:nvPr/>
        </p:nvSpPr>
        <p:spPr>
          <a:xfrm>
            <a:off x="3154680" y="1481328"/>
            <a:ext cx="2697480" cy="411480"/>
          </a:xfrm>
          <a:prstGeom prst="rect">
            <a:avLst/>
          </a:prstGeom>
          <a:solidFill>
            <a:srgbClr val="0D9488"/>
          </a:solidFill>
          <a:ln/>
        </p:spPr>
      </p:sp>
      <p:sp>
        <p:nvSpPr>
          <p:cNvPr id="18" name="Text 14"/>
          <p:cNvSpPr/>
          <p:nvPr/>
        </p:nvSpPr>
        <p:spPr>
          <a:xfrm>
            <a:off x="3291840" y="1517904"/>
            <a:ext cx="1691640" cy="347472"/>
          </a:xfrm>
          <a:prstGeom prst="rect">
            <a:avLst/>
          </a:prstGeom>
          <a:noFill/>
          <a:ln/>
        </p:spPr>
        <p:txBody>
          <a:bodyPr wrap="square" lIns="0" tIns="0" rIns="0" bIns="0" rtlCol="0" anchor="ctr"/>
          <a:lstStyle/>
          <a:p>
            <a:pPr marL="0" indent="0" algn="l">
              <a:buNone/>
            </a:pPr>
            <a:r>
              <a:rPr lang="en-US" sz="1600" b="1" dirty="0">
                <a:solidFill>
                  <a:srgbClr val="FFFFFF"/>
                </a:solidFill>
                <a:latin typeface="Meiryo UI" pitchFamily="34" charset="0"/>
                <a:ea typeface="Meiryo UI" pitchFamily="34" charset="-122"/>
                <a:cs typeface="Meiryo UI" pitchFamily="34" charset="-120"/>
              </a:rPr>
              <a:t>DOG</a:t>
            </a:r>
            <a:endParaRPr lang="en-US" sz="1600" dirty="0"/>
          </a:p>
        </p:txBody>
      </p:sp>
      <p:sp>
        <p:nvSpPr>
          <p:cNvPr id="19" name="Text 15"/>
          <p:cNvSpPr/>
          <p:nvPr/>
        </p:nvSpPr>
        <p:spPr>
          <a:xfrm>
            <a:off x="4892040" y="1527048"/>
            <a:ext cx="868680" cy="329184"/>
          </a:xfrm>
          <a:prstGeom prst="rect">
            <a:avLst/>
          </a:prstGeom>
          <a:noFill/>
          <a:ln/>
        </p:spPr>
        <p:txBody>
          <a:bodyPr wrap="square" lIns="0" tIns="0" rIns="0" bIns="0" rtlCol="0" anchor="ctr"/>
          <a:lstStyle/>
          <a:p>
            <a:pPr marL="0" indent="0" algn="r">
              <a:buNone/>
            </a:pPr>
            <a:r>
              <a:rPr lang="en-US" sz="900" dirty="0">
                <a:solidFill>
                  <a:srgbClr val="DBEAFE"/>
                </a:solidFill>
                <a:latin typeface="Meiryo UI" pitchFamily="34" charset="0"/>
                <a:ea typeface="Meiryo UI" pitchFamily="34" charset="-122"/>
                <a:cs typeface="Meiryo UI" pitchFamily="34" charset="-120"/>
              </a:rPr>
              <a:t>2012〜</a:t>
            </a:r>
            <a:endParaRPr lang="en-US" sz="900" dirty="0"/>
          </a:p>
        </p:txBody>
      </p:sp>
      <p:pic>
        <p:nvPicPr>
          <p:cNvPr id="20" name="Image 2" descr="preencoded.png"/>
          <p:cNvPicPr>
            <a:picLocks noChangeAspect="1"/>
          </p:cNvPicPr>
          <p:nvPr/>
        </p:nvPicPr>
        <p:blipFill>
          <a:blip r:embed="rId5">
            <a:alphaModFix amt="35000"/>
          </a:blip>
          <a:stretch>
            <a:fillRect/>
          </a:stretch>
        </p:blipFill>
        <p:spPr>
          <a:xfrm>
            <a:off x="5257800" y="2212848"/>
            <a:ext cx="457200" cy="457200"/>
          </a:xfrm>
          <a:prstGeom prst="rect">
            <a:avLst/>
          </a:prstGeom>
        </p:spPr>
      </p:pic>
      <p:sp>
        <p:nvSpPr>
          <p:cNvPr id="21" name="Text 16"/>
          <p:cNvSpPr/>
          <p:nvPr/>
        </p:nvSpPr>
        <p:spPr>
          <a:xfrm>
            <a:off x="3291840" y="1938528"/>
            <a:ext cx="2423160" cy="502920"/>
          </a:xfrm>
          <a:prstGeom prst="rect">
            <a:avLst/>
          </a:prstGeom>
          <a:noFill/>
          <a:ln/>
        </p:spPr>
        <p:txBody>
          <a:bodyPr wrap="square" lIns="0" tIns="0" rIns="0" bIns="0" rtlCol="0" anchor="t"/>
          <a:lstStyle/>
          <a:p>
            <a:pPr marL="0" indent="0" algn="l">
              <a:buNone/>
            </a:pPr>
            <a:r>
              <a:rPr lang="en-US" sz="1000" dirty="0">
                <a:solidFill>
                  <a:srgbClr val="1F2937"/>
                </a:solidFill>
                <a:latin typeface="Meiryo UI" pitchFamily="34" charset="0"/>
                <a:ea typeface="Meiryo UI" pitchFamily="34" charset="-122"/>
                <a:cs typeface="Meiryo UI" pitchFamily="34" charset="-120"/>
              </a:rPr>
              <a:t>販売店⇄仕入先 受発注EDIプラットフォーム</a:t>
            </a:r>
            <a:endParaRPr lang="en-US" sz="1000" dirty="0"/>
          </a:p>
        </p:txBody>
      </p:sp>
      <p:sp>
        <p:nvSpPr>
          <p:cNvPr id="22" name="Text 17"/>
          <p:cNvSpPr/>
          <p:nvPr/>
        </p:nvSpPr>
        <p:spPr>
          <a:xfrm>
            <a:off x="3291840" y="2468880"/>
            <a:ext cx="2423160" cy="274320"/>
          </a:xfrm>
          <a:prstGeom prst="rect">
            <a:avLst/>
          </a:prstGeom>
          <a:noFill/>
          <a:ln/>
        </p:spPr>
        <p:txBody>
          <a:bodyPr wrap="square" lIns="0" tIns="0" rIns="0" bIns="0" rtlCol="0" anchor="ctr"/>
          <a:lstStyle/>
          <a:p>
            <a:pPr marL="0" indent="0" algn="l">
              <a:buNone/>
            </a:pPr>
            <a:r>
              <a:rPr lang="en-US" sz="900" i="1" dirty="0">
                <a:solidFill>
                  <a:srgbClr val="64748B"/>
                </a:solidFill>
                <a:latin typeface="Meiryo UI" pitchFamily="34" charset="0"/>
                <a:ea typeface="Meiryo UI" pitchFamily="34" charset="-122"/>
                <a:cs typeface="Meiryo UI" pitchFamily="34" charset="-120"/>
              </a:rPr>
              <a:t>対象：販売店 / 仕入先</a:t>
            </a:r>
            <a:endParaRPr lang="en-US" sz="900" dirty="0"/>
          </a:p>
        </p:txBody>
      </p:sp>
      <p:sp>
        <p:nvSpPr>
          <p:cNvPr id="23" name="Shape 18"/>
          <p:cNvSpPr/>
          <p:nvPr/>
        </p:nvSpPr>
        <p:spPr>
          <a:xfrm>
            <a:off x="5943600" y="1481328"/>
            <a:ext cx="2697480" cy="1325880"/>
          </a:xfrm>
          <a:prstGeom prst="rect">
            <a:avLst/>
          </a:prstGeom>
          <a:solidFill>
            <a:srgbClr val="FFFFFF"/>
          </a:solidFill>
          <a:ln w="12700">
            <a:solidFill>
              <a:srgbClr val="E2E8F0"/>
            </a:solidFill>
            <a:prstDash val="solid"/>
          </a:ln>
        </p:spPr>
      </p:sp>
      <p:sp>
        <p:nvSpPr>
          <p:cNvPr id="24" name="Shape 19"/>
          <p:cNvSpPr/>
          <p:nvPr/>
        </p:nvSpPr>
        <p:spPr>
          <a:xfrm>
            <a:off x="5943600" y="1481328"/>
            <a:ext cx="2697480" cy="411480"/>
          </a:xfrm>
          <a:prstGeom prst="rect">
            <a:avLst/>
          </a:prstGeom>
          <a:solidFill>
            <a:srgbClr val="7C3AED"/>
          </a:solidFill>
          <a:ln/>
        </p:spPr>
      </p:sp>
      <p:sp>
        <p:nvSpPr>
          <p:cNvPr id="25" name="Text 20"/>
          <p:cNvSpPr/>
          <p:nvPr/>
        </p:nvSpPr>
        <p:spPr>
          <a:xfrm>
            <a:off x="6080760" y="1517904"/>
            <a:ext cx="1691640" cy="347472"/>
          </a:xfrm>
          <a:prstGeom prst="rect">
            <a:avLst/>
          </a:prstGeom>
          <a:noFill/>
          <a:ln/>
        </p:spPr>
        <p:txBody>
          <a:bodyPr wrap="square" lIns="0" tIns="0" rIns="0" bIns="0" rtlCol="0" anchor="ctr"/>
          <a:lstStyle/>
          <a:p>
            <a:pPr marL="0" indent="0" algn="l">
              <a:buNone/>
            </a:pPr>
            <a:r>
              <a:rPr lang="en-US" sz="1600" b="1" dirty="0">
                <a:solidFill>
                  <a:srgbClr val="FFFFFF"/>
                </a:solidFill>
                <a:latin typeface="Meiryo UI" pitchFamily="34" charset="0"/>
                <a:ea typeface="Meiryo UI" pitchFamily="34" charset="-122"/>
                <a:cs typeface="Meiryo UI" pitchFamily="34" charset="-120"/>
              </a:rPr>
              <a:t>BPM</a:t>
            </a:r>
            <a:endParaRPr lang="en-US" sz="1600" dirty="0"/>
          </a:p>
        </p:txBody>
      </p:sp>
      <p:sp>
        <p:nvSpPr>
          <p:cNvPr id="26" name="Text 21"/>
          <p:cNvSpPr/>
          <p:nvPr/>
        </p:nvSpPr>
        <p:spPr>
          <a:xfrm>
            <a:off x="7680960" y="1527048"/>
            <a:ext cx="868680" cy="329184"/>
          </a:xfrm>
          <a:prstGeom prst="rect">
            <a:avLst/>
          </a:prstGeom>
          <a:noFill/>
          <a:ln/>
        </p:spPr>
        <p:txBody>
          <a:bodyPr wrap="square" lIns="0" tIns="0" rIns="0" bIns="0" rtlCol="0" anchor="ctr"/>
          <a:lstStyle/>
          <a:p>
            <a:pPr marL="0" indent="0" algn="r">
              <a:buNone/>
            </a:pPr>
            <a:r>
              <a:rPr lang="en-US" sz="900" dirty="0">
                <a:solidFill>
                  <a:srgbClr val="DBEAFE"/>
                </a:solidFill>
                <a:latin typeface="Meiryo UI" pitchFamily="34" charset="0"/>
                <a:ea typeface="Meiryo UI" pitchFamily="34" charset="-122"/>
                <a:cs typeface="Meiryo UI" pitchFamily="34" charset="-120"/>
              </a:rPr>
              <a:t>2018〜</a:t>
            </a:r>
            <a:endParaRPr lang="en-US" sz="900" dirty="0"/>
          </a:p>
        </p:txBody>
      </p:sp>
      <p:pic>
        <p:nvPicPr>
          <p:cNvPr id="27" name="Image 3" descr="preencoded.png"/>
          <p:cNvPicPr>
            <a:picLocks noChangeAspect="1"/>
          </p:cNvPicPr>
          <p:nvPr/>
        </p:nvPicPr>
        <p:blipFill>
          <a:blip r:embed="rId6">
            <a:alphaModFix amt="35000"/>
          </a:blip>
          <a:stretch>
            <a:fillRect/>
          </a:stretch>
        </p:blipFill>
        <p:spPr>
          <a:xfrm>
            <a:off x="8046720" y="2212848"/>
            <a:ext cx="457200" cy="457200"/>
          </a:xfrm>
          <a:prstGeom prst="rect">
            <a:avLst/>
          </a:prstGeom>
        </p:spPr>
      </p:pic>
      <p:sp>
        <p:nvSpPr>
          <p:cNvPr id="28" name="Text 22"/>
          <p:cNvSpPr/>
          <p:nvPr/>
        </p:nvSpPr>
        <p:spPr>
          <a:xfrm>
            <a:off x="6080760" y="1938528"/>
            <a:ext cx="2423160" cy="502920"/>
          </a:xfrm>
          <a:prstGeom prst="rect">
            <a:avLst/>
          </a:prstGeom>
          <a:noFill/>
          <a:ln/>
        </p:spPr>
        <p:txBody>
          <a:bodyPr wrap="square" lIns="0" tIns="0" rIns="0" bIns="0" rtlCol="0" anchor="t"/>
          <a:lstStyle/>
          <a:p>
            <a:pPr marL="0" indent="0" algn="l">
              <a:buNone/>
            </a:pPr>
            <a:r>
              <a:rPr lang="en-US" sz="1000" dirty="0">
                <a:solidFill>
                  <a:srgbClr val="1F2937"/>
                </a:solidFill>
                <a:latin typeface="Meiryo UI" pitchFamily="34" charset="0"/>
                <a:ea typeface="Meiryo UI" pitchFamily="34" charset="-122"/>
                <a:cs typeface="Meiryo UI" pitchFamily="34" charset="-120"/>
              </a:rPr>
              <a:t>エンドカスタマー⇄販売店 ECサイト</a:t>
            </a:r>
            <a:endParaRPr lang="en-US" sz="1000" dirty="0"/>
          </a:p>
        </p:txBody>
      </p:sp>
      <p:sp>
        <p:nvSpPr>
          <p:cNvPr id="29" name="Text 23"/>
          <p:cNvSpPr/>
          <p:nvPr/>
        </p:nvSpPr>
        <p:spPr>
          <a:xfrm>
            <a:off x="6080760" y="2468880"/>
            <a:ext cx="2423160" cy="274320"/>
          </a:xfrm>
          <a:prstGeom prst="rect">
            <a:avLst/>
          </a:prstGeom>
          <a:noFill/>
          <a:ln/>
        </p:spPr>
        <p:txBody>
          <a:bodyPr wrap="square" lIns="0" tIns="0" rIns="0" bIns="0" rtlCol="0" anchor="ctr"/>
          <a:lstStyle/>
          <a:p>
            <a:pPr marL="0" indent="0" algn="l">
              <a:buNone/>
            </a:pPr>
            <a:r>
              <a:rPr lang="en-US" sz="900" i="1" dirty="0">
                <a:solidFill>
                  <a:srgbClr val="64748B"/>
                </a:solidFill>
                <a:latin typeface="Meiryo UI" pitchFamily="34" charset="0"/>
                <a:ea typeface="Meiryo UI" pitchFamily="34" charset="-122"/>
                <a:cs typeface="Meiryo UI" pitchFamily="34" charset="-120"/>
              </a:rPr>
              <a:t>対象：エンドカスタマー / 販売店</a:t>
            </a:r>
            <a:endParaRPr lang="en-US" sz="900" dirty="0"/>
          </a:p>
        </p:txBody>
      </p:sp>
      <p:sp>
        <p:nvSpPr>
          <p:cNvPr id="30" name="Shape 24"/>
          <p:cNvSpPr/>
          <p:nvPr/>
        </p:nvSpPr>
        <p:spPr>
          <a:xfrm>
            <a:off x="365760" y="2944368"/>
            <a:ext cx="2697480" cy="1325880"/>
          </a:xfrm>
          <a:prstGeom prst="rect">
            <a:avLst/>
          </a:prstGeom>
          <a:solidFill>
            <a:srgbClr val="FFFFFF"/>
          </a:solidFill>
          <a:ln w="12700">
            <a:solidFill>
              <a:srgbClr val="E2E8F0"/>
            </a:solidFill>
            <a:prstDash val="solid"/>
          </a:ln>
        </p:spPr>
      </p:sp>
      <p:sp>
        <p:nvSpPr>
          <p:cNvPr id="31" name="Shape 25"/>
          <p:cNvSpPr/>
          <p:nvPr/>
        </p:nvSpPr>
        <p:spPr>
          <a:xfrm>
            <a:off x="365760" y="2944368"/>
            <a:ext cx="2697480" cy="411480"/>
          </a:xfrm>
          <a:prstGeom prst="rect">
            <a:avLst/>
          </a:prstGeom>
          <a:solidFill>
            <a:srgbClr val="1E3A5F"/>
          </a:solidFill>
          <a:ln/>
        </p:spPr>
      </p:sp>
      <p:sp>
        <p:nvSpPr>
          <p:cNvPr id="32" name="Text 26"/>
          <p:cNvSpPr/>
          <p:nvPr/>
        </p:nvSpPr>
        <p:spPr>
          <a:xfrm>
            <a:off x="502920" y="2980944"/>
            <a:ext cx="1691640" cy="347472"/>
          </a:xfrm>
          <a:prstGeom prst="rect">
            <a:avLst/>
          </a:prstGeom>
          <a:noFill/>
          <a:ln/>
        </p:spPr>
        <p:txBody>
          <a:bodyPr wrap="square" lIns="0" tIns="0" rIns="0" bIns="0" rtlCol="0" anchor="ctr"/>
          <a:lstStyle/>
          <a:p>
            <a:pPr marL="0" indent="0" algn="l">
              <a:buNone/>
            </a:pPr>
            <a:r>
              <a:rPr lang="en-US" sz="1600" b="1" dirty="0">
                <a:solidFill>
                  <a:srgbClr val="FFFFFF"/>
                </a:solidFill>
                <a:latin typeface="Meiryo UI" pitchFamily="34" charset="0"/>
                <a:ea typeface="Meiryo UI" pitchFamily="34" charset="-122"/>
                <a:cs typeface="Meiryo UI" pitchFamily="34" charset="-120"/>
              </a:rPr>
              <a:t>BRP-Code</a:t>
            </a:r>
            <a:endParaRPr lang="en-US" sz="1600" dirty="0"/>
          </a:p>
        </p:txBody>
      </p:sp>
      <p:sp>
        <p:nvSpPr>
          <p:cNvPr id="33" name="Text 27"/>
          <p:cNvSpPr/>
          <p:nvPr/>
        </p:nvSpPr>
        <p:spPr>
          <a:xfrm>
            <a:off x="2103120" y="2990088"/>
            <a:ext cx="868680" cy="329184"/>
          </a:xfrm>
          <a:prstGeom prst="rect">
            <a:avLst/>
          </a:prstGeom>
          <a:noFill/>
          <a:ln/>
        </p:spPr>
        <p:txBody>
          <a:bodyPr wrap="square" lIns="0" tIns="0" rIns="0" bIns="0" rtlCol="0" anchor="ctr"/>
          <a:lstStyle/>
          <a:p>
            <a:pPr marL="0" indent="0" algn="r">
              <a:buNone/>
            </a:pPr>
            <a:r>
              <a:rPr lang="en-US" sz="900" dirty="0">
                <a:solidFill>
                  <a:srgbClr val="DBEAFE"/>
                </a:solidFill>
                <a:latin typeface="Meiryo UI" pitchFamily="34" charset="0"/>
                <a:ea typeface="Meiryo UI" pitchFamily="34" charset="-122"/>
                <a:cs typeface="Meiryo UI" pitchFamily="34" charset="-120"/>
              </a:rPr>
              <a:t>横断基盤</a:t>
            </a:r>
            <a:endParaRPr lang="en-US" sz="900" dirty="0"/>
          </a:p>
        </p:txBody>
      </p:sp>
      <p:pic>
        <p:nvPicPr>
          <p:cNvPr id="34" name="Image 4" descr="preencoded.png"/>
          <p:cNvPicPr>
            <a:picLocks noChangeAspect="1"/>
          </p:cNvPicPr>
          <p:nvPr/>
        </p:nvPicPr>
        <p:blipFill>
          <a:blip r:embed="rId7">
            <a:alphaModFix amt="35000"/>
          </a:blip>
          <a:stretch>
            <a:fillRect/>
          </a:stretch>
        </p:blipFill>
        <p:spPr>
          <a:xfrm>
            <a:off x="2468880" y="3675888"/>
            <a:ext cx="457200" cy="457200"/>
          </a:xfrm>
          <a:prstGeom prst="rect">
            <a:avLst/>
          </a:prstGeom>
        </p:spPr>
      </p:pic>
      <p:sp>
        <p:nvSpPr>
          <p:cNvPr id="35" name="Text 28"/>
          <p:cNvSpPr/>
          <p:nvPr/>
        </p:nvSpPr>
        <p:spPr>
          <a:xfrm>
            <a:off x="502920" y="3401568"/>
            <a:ext cx="2423160" cy="502920"/>
          </a:xfrm>
          <a:prstGeom prst="rect">
            <a:avLst/>
          </a:prstGeom>
          <a:noFill/>
          <a:ln/>
        </p:spPr>
        <p:txBody>
          <a:bodyPr wrap="square" lIns="0" tIns="0" rIns="0" bIns="0" rtlCol="0" anchor="t"/>
          <a:lstStyle/>
          <a:p>
            <a:pPr marL="0" indent="0" algn="l">
              <a:buNone/>
            </a:pPr>
            <a:r>
              <a:rPr lang="en-US" sz="1000" dirty="0">
                <a:solidFill>
                  <a:srgbClr val="1F2937"/>
                </a:solidFill>
                <a:latin typeface="Meiryo UI" pitchFamily="34" charset="0"/>
                <a:ea typeface="Meiryo UI" pitchFamily="34" charset="-122"/>
                <a:cs typeface="Meiryo UI" pitchFamily="34" charset="-120"/>
              </a:rPr>
              <a:t>業界共通商品マスタ（3000万件超）</a:t>
            </a:r>
            <a:endParaRPr lang="en-US" sz="1000" dirty="0"/>
          </a:p>
        </p:txBody>
      </p:sp>
      <p:sp>
        <p:nvSpPr>
          <p:cNvPr id="36" name="Text 29"/>
          <p:cNvSpPr/>
          <p:nvPr/>
        </p:nvSpPr>
        <p:spPr>
          <a:xfrm>
            <a:off x="502920" y="3931920"/>
            <a:ext cx="2423160" cy="274320"/>
          </a:xfrm>
          <a:prstGeom prst="rect">
            <a:avLst/>
          </a:prstGeom>
          <a:noFill/>
          <a:ln/>
        </p:spPr>
        <p:txBody>
          <a:bodyPr wrap="square" lIns="0" tIns="0" rIns="0" bIns="0" rtlCol="0" anchor="ctr"/>
          <a:lstStyle/>
          <a:p>
            <a:pPr marL="0" indent="0" algn="l">
              <a:buNone/>
            </a:pPr>
            <a:r>
              <a:rPr lang="en-US" sz="900" i="1" dirty="0">
                <a:solidFill>
                  <a:srgbClr val="64748B"/>
                </a:solidFill>
                <a:latin typeface="Meiryo UI" pitchFamily="34" charset="0"/>
                <a:ea typeface="Meiryo UI" pitchFamily="34" charset="-122"/>
                <a:cs typeface="Meiryo UI" pitchFamily="34" charset="-120"/>
              </a:rPr>
              <a:t>対象：全ステークホルダー</a:t>
            </a:r>
            <a:endParaRPr lang="en-US" sz="900" dirty="0"/>
          </a:p>
        </p:txBody>
      </p:sp>
      <p:sp>
        <p:nvSpPr>
          <p:cNvPr id="37" name="Shape 30"/>
          <p:cNvSpPr/>
          <p:nvPr/>
        </p:nvSpPr>
        <p:spPr>
          <a:xfrm>
            <a:off x="3154680" y="2944368"/>
            <a:ext cx="2697480" cy="1325880"/>
          </a:xfrm>
          <a:prstGeom prst="rect">
            <a:avLst/>
          </a:prstGeom>
          <a:solidFill>
            <a:srgbClr val="FFFFFF"/>
          </a:solidFill>
          <a:ln w="12700">
            <a:solidFill>
              <a:srgbClr val="E2E8F0"/>
            </a:solidFill>
            <a:prstDash val="solid"/>
          </a:ln>
        </p:spPr>
      </p:sp>
      <p:sp>
        <p:nvSpPr>
          <p:cNvPr id="38" name="Shape 31"/>
          <p:cNvSpPr/>
          <p:nvPr/>
        </p:nvSpPr>
        <p:spPr>
          <a:xfrm>
            <a:off x="3154680" y="2944368"/>
            <a:ext cx="2697480" cy="411480"/>
          </a:xfrm>
          <a:prstGeom prst="rect">
            <a:avLst/>
          </a:prstGeom>
          <a:solidFill>
            <a:srgbClr val="10B981"/>
          </a:solidFill>
          <a:ln/>
        </p:spPr>
      </p:sp>
      <p:sp>
        <p:nvSpPr>
          <p:cNvPr id="39" name="Text 32"/>
          <p:cNvSpPr/>
          <p:nvPr/>
        </p:nvSpPr>
        <p:spPr>
          <a:xfrm>
            <a:off x="3291840" y="2980944"/>
            <a:ext cx="1691640" cy="347472"/>
          </a:xfrm>
          <a:prstGeom prst="rect">
            <a:avLst/>
          </a:prstGeom>
          <a:noFill/>
          <a:ln/>
        </p:spPr>
        <p:txBody>
          <a:bodyPr wrap="square" lIns="0" tIns="0" rIns="0" bIns="0" rtlCol="0" anchor="ctr"/>
          <a:lstStyle/>
          <a:p>
            <a:pPr marL="0" indent="0" algn="l">
              <a:buNone/>
            </a:pPr>
            <a:r>
              <a:rPr lang="en-US" sz="1600" b="1" dirty="0">
                <a:solidFill>
                  <a:srgbClr val="FFFFFF"/>
                </a:solidFill>
                <a:latin typeface="Meiryo UI" pitchFamily="34" charset="0"/>
                <a:ea typeface="Meiryo UI" pitchFamily="34" charset="-122"/>
                <a:cs typeface="Meiryo UI" pitchFamily="34" charset="-120"/>
              </a:rPr>
              <a:t>CLIMS</a:t>
            </a:r>
            <a:endParaRPr lang="en-US" sz="1600" dirty="0"/>
          </a:p>
        </p:txBody>
      </p:sp>
      <p:sp>
        <p:nvSpPr>
          <p:cNvPr id="40" name="Text 33"/>
          <p:cNvSpPr/>
          <p:nvPr/>
        </p:nvSpPr>
        <p:spPr>
          <a:xfrm>
            <a:off x="4892040" y="2990088"/>
            <a:ext cx="868680" cy="329184"/>
          </a:xfrm>
          <a:prstGeom prst="rect">
            <a:avLst/>
          </a:prstGeom>
          <a:noFill/>
          <a:ln/>
        </p:spPr>
        <p:txBody>
          <a:bodyPr wrap="square" lIns="0" tIns="0" rIns="0" bIns="0" rtlCol="0" anchor="ctr"/>
          <a:lstStyle/>
          <a:p>
            <a:pPr marL="0" indent="0" algn="r">
              <a:buNone/>
            </a:pPr>
            <a:r>
              <a:rPr lang="en-US" sz="900" dirty="0">
                <a:solidFill>
                  <a:srgbClr val="DBEAFE"/>
                </a:solidFill>
                <a:latin typeface="Meiryo UI" pitchFamily="34" charset="0"/>
                <a:ea typeface="Meiryo UI" pitchFamily="34" charset="-122"/>
                <a:cs typeface="Meiryo UI" pitchFamily="34" charset="-120"/>
              </a:rPr>
              <a:t>2025〜</a:t>
            </a:r>
            <a:endParaRPr lang="en-US" sz="900" dirty="0"/>
          </a:p>
        </p:txBody>
      </p:sp>
      <p:pic>
        <p:nvPicPr>
          <p:cNvPr id="41" name="Image 5" descr="preencoded.png"/>
          <p:cNvPicPr>
            <a:picLocks noChangeAspect="1"/>
          </p:cNvPicPr>
          <p:nvPr/>
        </p:nvPicPr>
        <p:blipFill>
          <a:blip r:embed="rId8">
            <a:alphaModFix amt="35000"/>
          </a:blip>
          <a:stretch>
            <a:fillRect/>
          </a:stretch>
        </p:blipFill>
        <p:spPr>
          <a:xfrm>
            <a:off x="5257800" y="3675888"/>
            <a:ext cx="457200" cy="457200"/>
          </a:xfrm>
          <a:prstGeom prst="rect">
            <a:avLst/>
          </a:prstGeom>
        </p:spPr>
      </p:pic>
      <p:sp>
        <p:nvSpPr>
          <p:cNvPr id="42" name="Text 34"/>
          <p:cNvSpPr/>
          <p:nvPr/>
        </p:nvSpPr>
        <p:spPr>
          <a:xfrm>
            <a:off x="3291840" y="3401568"/>
            <a:ext cx="2423160" cy="502920"/>
          </a:xfrm>
          <a:prstGeom prst="rect">
            <a:avLst/>
          </a:prstGeom>
          <a:noFill/>
          <a:ln/>
        </p:spPr>
        <p:txBody>
          <a:bodyPr wrap="square" lIns="0" tIns="0" rIns="0" bIns="0" rtlCol="0" anchor="t"/>
          <a:lstStyle/>
          <a:p>
            <a:pPr marL="0" indent="0" algn="l">
              <a:buNone/>
            </a:pPr>
            <a:r>
              <a:rPr lang="en-US" sz="1000" dirty="0">
                <a:solidFill>
                  <a:srgbClr val="1F2937"/>
                </a:solidFill>
                <a:latin typeface="Meiryo UI" pitchFamily="34" charset="0"/>
                <a:ea typeface="Meiryo UI" pitchFamily="34" charset="-122"/>
                <a:cs typeface="Meiryo UI" pitchFamily="34" charset="-120"/>
              </a:rPr>
              <a:t>エンドカスタマー向け試薬・在庫管理</a:t>
            </a:r>
            <a:endParaRPr lang="en-US" sz="1000" dirty="0"/>
          </a:p>
        </p:txBody>
      </p:sp>
      <p:sp>
        <p:nvSpPr>
          <p:cNvPr id="43" name="Text 35"/>
          <p:cNvSpPr/>
          <p:nvPr/>
        </p:nvSpPr>
        <p:spPr>
          <a:xfrm>
            <a:off x="3291840" y="3931920"/>
            <a:ext cx="2423160" cy="274320"/>
          </a:xfrm>
          <a:prstGeom prst="rect">
            <a:avLst/>
          </a:prstGeom>
          <a:noFill/>
          <a:ln/>
        </p:spPr>
        <p:txBody>
          <a:bodyPr wrap="square" lIns="0" tIns="0" rIns="0" bIns="0" rtlCol="0" anchor="ctr"/>
          <a:lstStyle/>
          <a:p>
            <a:pPr marL="0" indent="0" algn="l">
              <a:buNone/>
            </a:pPr>
            <a:r>
              <a:rPr lang="en-US" sz="900" i="1" dirty="0">
                <a:solidFill>
                  <a:srgbClr val="64748B"/>
                </a:solidFill>
                <a:latin typeface="Meiryo UI" pitchFamily="34" charset="0"/>
                <a:ea typeface="Meiryo UI" pitchFamily="34" charset="-122"/>
                <a:cs typeface="Meiryo UI" pitchFamily="34" charset="-120"/>
              </a:rPr>
              <a:t>対象：エンドカスタマー</a:t>
            </a:r>
            <a:endParaRPr lang="en-US" sz="900" dirty="0"/>
          </a:p>
        </p:txBody>
      </p:sp>
      <p:sp>
        <p:nvSpPr>
          <p:cNvPr id="44" name="Shape 36"/>
          <p:cNvSpPr/>
          <p:nvPr/>
        </p:nvSpPr>
        <p:spPr>
          <a:xfrm>
            <a:off x="5943600" y="2944368"/>
            <a:ext cx="2697480" cy="1325880"/>
          </a:xfrm>
          <a:prstGeom prst="rect">
            <a:avLst/>
          </a:prstGeom>
          <a:solidFill>
            <a:srgbClr val="FFFFFF"/>
          </a:solidFill>
          <a:ln w="12700">
            <a:solidFill>
              <a:srgbClr val="E2E8F0"/>
            </a:solidFill>
            <a:prstDash val="solid"/>
          </a:ln>
        </p:spPr>
      </p:sp>
      <p:sp>
        <p:nvSpPr>
          <p:cNvPr id="45" name="Shape 37"/>
          <p:cNvSpPr/>
          <p:nvPr/>
        </p:nvSpPr>
        <p:spPr>
          <a:xfrm>
            <a:off x="5943600" y="2944368"/>
            <a:ext cx="2697480" cy="411480"/>
          </a:xfrm>
          <a:prstGeom prst="rect">
            <a:avLst/>
          </a:prstGeom>
          <a:solidFill>
            <a:srgbClr val="E11D48"/>
          </a:solidFill>
          <a:ln/>
        </p:spPr>
      </p:sp>
      <p:sp>
        <p:nvSpPr>
          <p:cNvPr id="46" name="Text 38"/>
          <p:cNvSpPr/>
          <p:nvPr/>
        </p:nvSpPr>
        <p:spPr>
          <a:xfrm>
            <a:off x="6080760" y="2980944"/>
            <a:ext cx="1691640" cy="347472"/>
          </a:xfrm>
          <a:prstGeom prst="rect">
            <a:avLst/>
          </a:prstGeom>
          <a:noFill/>
          <a:ln/>
        </p:spPr>
        <p:txBody>
          <a:bodyPr wrap="square" lIns="0" tIns="0" rIns="0" bIns="0" rtlCol="0" anchor="ctr"/>
          <a:lstStyle/>
          <a:p>
            <a:pPr marL="0" indent="0" algn="l">
              <a:buNone/>
            </a:pPr>
            <a:r>
              <a:rPr lang="en-US" sz="1600" b="1" dirty="0">
                <a:solidFill>
                  <a:srgbClr val="FFFFFF"/>
                </a:solidFill>
                <a:latin typeface="Meiryo UI" pitchFamily="34" charset="0"/>
                <a:ea typeface="Meiryo UI" pitchFamily="34" charset="-122"/>
                <a:cs typeface="Meiryo UI" pitchFamily="34" charset="-120"/>
              </a:rPr>
              <a:t>ORDIA</a:t>
            </a:r>
            <a:endParaRPr lang="en-US" sz="1600" dirty="0"/>
          </a:p>
        </p:txBody>
      </p:sp>
      <p:sp>
        <p:nvSpPr>
          <p:cNvPr id="47" name="Text 39"/>
          <p:cNvSpPr/>
          <p:nvPr/>
        </p:nvSpPr>
        <p:spPr>
          <a:xfrm>
            <a:off x="7680960" y="2990088"/>
            <a:ext cx="868680" cy="329184"/>
          </a:xfrm>
          <a:prstGeom prst="rect">
            <a:avLst/>
          </a:prstGeom>
          <a:noFill/>
          <a:ln/>
        </p:spPr>
        <p:txBody>
          <a:bodyPr wrap="square" lIns="0" tIns="0" rIns="0" bIns="0" rtlCol="0" anchor="ctr"/>
          <a:lstStyle/>
          <a:p>
            <a:pPr marL="0" indent="0" algn="r">
              <a:buNone/>
            </a:pPr>
            <a:r>
              <a:rPr lang="en-US" sz="900" dirty="0">
                <a:solidFill>
                  <a:srgbClr val="DBEAFE"/>
                </a:solidFill>
                <a:latin typeface="Meiryo UI" pitchFamily="34" charset="0"/>
                <a:ea typeface="Meiryo UI" pitchFamily="34" charset="-122"/>
                <a:cs typeface="Meiryo UI" pitchFamily="34" charset="-120"/>
              </a:rPr>
              <a:t>2026〜</a:t>
            </a:r>
            <a:endParaRPr lang="en-US" sz="900" dirty="0"/>
          </a:p>
        </p:txBody>
      </p:sp>
      <p:pic>
        <p:nvPicPr>
          <p:cNvPr id="48" name="Image 6" descr="preencoded.png"/>
          <p:cNvPicPr>
            <a:picLocks noChangeAspect="1"/>
          </p:cNvPicPr>
          <p:nvPr/>
        </p:nvPicPr>
        <p:blipFill>
          <a:blip r:embed="rId9">
            <a:alphaModFix amt="35000"/>
          </a:blip>
          <a:stretch>
            <a:fillRect/>
          </a:stretch>
        </p:blipFill>
        <p:spPr>
          <a:xfrm>
            <a:off x="8046720" y="3675888"/>
            <a:ext cx="457200" cy="457200"/>
          </a:xfrm>
          <a:prstGeom prst="rect">
            <a:avLst/>
          </a:prstGeom>
        </p:spPr>
      </p:pic>
      <p:sp>
        <p:nvSpPr>
          <p:cNvPr id="49" name="Shape 40"/>
          <p:cNvSpPr/>
          <p:nvPr/>
        </p:nvSpPr>
        <p:spPr>
          <a:xfrm>
            <a:off x="8138160" y="2834640"/>
            <a:ext cx="457200" cy="237744"/>
          </a:xfrm>
          <a:prstGeom prst="rect">
            <a:avLst/>
          </a:prstGeom>
          <a:solidFill>
            <a:srgbClr val="F59E0B"/>
          </a:solidFill>
          <a:ln/>
        </p:spPr>
      </p:sp>
      <p:sp>
        <p:nvSpPr>
          <p:cNvPr id="50" name="Text 41"/>
          <p:cNvSpPr/>
          <p:nvPr/>
        </p:nvSpPr>
        <p:spPr>
          <a:xfrm>
            <a:off x="8138160" y="2834640"/>
            <a:ext cx="45720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Meiryo UI" pitchFamily="34" charset="0"/>
                <a:ea typeface="Meiryo UI" pitchFamily="34" charset="-122"/>
                <a:cs typeface="Meiryo UI" pitchFamily="34" charset="-120"/>
              </a:rPr>
              <a:t>NEW</a:t>
            </a:r>
            <a:endParaRPr lang="en-US" sz="850" dirty="0"/>
          </a:p>
        </p:txBody>
      </p:sp>
      <p:sp>
        <p:nvSpPr>
          <p:cNvPr id="51" name="Text 42"/>
          <p:cNvSpPr/>
          <p:nvPr/>
        </p:nvSpPr>
        <p:spPr>
          <a:xfrm>
            <a:off x="6080760" y="3401568"/>
            <a:ext cx="2423160" cy="502920"/>
          </a:xfrm>
          <a:prstGeom prst="rect">
            <a:avLst/>
          </a:prstGeom>
          <a:noFill/>
          <a:ln/>
        </p:spPr>
        <p:txBody>
          <a:bodyPr wrap="square" lIns="0" tIns="0" rIns="0" bIns="0" rtlCol="0" anchor="t"/>
          <a:lstStyle/>
          <a:p>
            <a:pPr marL="0" indent="0" algn="l">
              <a:buNone/>
            </a:pPr>
            <a:r>
              <a:rPr lang="en-US" sz="1000" dirty="0">
                <a:solidFill>
                  <a:srgbClr val="1F2937"/>
                </a:solidFill>
                <a:latin typeface="Meiryo UI" pitchFamily="34" charset="0"/>
                <a:ea typeface="Meiryo UI" pitchFamily="34" charset="-122"/>
                <a:cs typeface="Meiryo UI" pitchFamily="34" charset="-120"/>
              </a:rPr>
              <a:t>販売店向けAI受注エージェント</a:t>
            </a:r>
            <a:endParaRPr lang="en-US" sz="1000" dirty="0"/>
          </a:p>
        </p:txBody>
      </p:sp>
      <p:sp>
        <p:nvSpPr>
          <p:cNvPr id="52" name="Text 43"/>
          <p:cNvSpPr/>
          <p:nvPr/>
        </p:nvSpPr>
        <p:spPr>
          <a:xfrm>
            <a:off x="6080760" y="3931920"/>
            <a:ext cx="2423160" cy="274320"/>
          </a:xfrm>
          <a:prstGeom prst="rect">
            <a:avLst/>
          </a:prstGeom>
          <a:noFill/>
          <a:ln/>
        </p:spPr>
        <p:txBody>
          <a:bodyPr wrap="square" lIns="0" tIns="0" rIns="0" bIns="0" rtlCol="0" anchor="ctr"/>
          <a:lstStyle/>
          <a:p>
            <a:pPr marL="0" indent="0" algn="l">
              <a:buNone/>
            </a:pPr>
            <a:r>
              <a:rPr lang="en-US" sz="900" i="1" dirty="0">
                <a:solidFill>
                  <a:srgbClr val="64748B"/>
                </a:solidFill>
                <a:latin typeface="Meiryo UI" pitchFamily="34" charset="0"/>
                <a:ea typeface="Meiryo UI" pitchFamily="34" charset="-122"/>
                <a:cs typeface="Meiryo UI" pitchFamily="34" charset="-120"/>
              </a:rPr>
              <a:t>対象：販売店</a:t>
            </a:r>
            <a:endParaRPr lang="en-US" sz="900" dirty="0"/>
          </a:p>
        </p:txBody>
      </p:sp>
      <p:sp>
        <p:nvSpPr>
          <p:cNvPr id="53" name="Shape 44"/>
          <p:cNvSpPr/>
          <p:nvPr/>
        </p:nvSpPr>
        <p:spPr>
          <a:xfrm>
            <a:off x="365760" y="4434840"/>
            <a:ext cx="8412480" cy="274320"/>
          </a:xfrm>
          <a:prstGeom prst="rect">
            <a:avLst/>
          </a:prstGeom>
          <a:solidFill>
            <a:srgbClr val="1E3A5F"/>
          </a:solidFill>
          <a:ln/>
        </p:spPr>
      </p:sp>
      <p:sp>
        <p:nvSpPr>
          <p:cNvPr id="54" name="Text 45"/>
          <p:cNvSpPr/>
          <p:nvPr/>
        </p:nvSpPr>
        <p:spPr>
          <a:xfrm>
            <a:off x="502920" y="4434840"/>
            <a:ext cx="8275320" cy="274320"/>
          </a:xfrm>
          <a:prstGeom prst="rect">
            <a:avLst/>
          </a:prstGeom>
          <a:noFill/>
          <a:ln/>
        </p:spPr>
        <p:txBody>
          <a:bodyPr wrap="square" lIns="0" tIns="0" rIns="0" bIns="0" rtlCol="0" anchor="ctr"/>
          <a:lstStyle/>
          <a:p>
            <a:pPr marL="0" indent="0" algn="l">
              <a:buNone/>
            </a:pPr>
            <a:r>
              <a:rPr lang="en-US" sz="1100" b="1" dirty="0">
                <a:solidFill>
                  <a:srgbClr val="F59E0B"/>
                </a:solidFill>
                <a:latin typeface="Meiryo UI" pitchFamily="34" charset="0"/>
                <a:ea typeface="Meiryo UI" pitchFamily="34" charset="-122"/>
                <a:cs typeface="Meiryo UI" pitchFamily="34" charset="-120"/>
              </a:rPr>
              <a:t>→ Onevio は、これらサービスを次世代の統合プラットフォームへ進化させたものです。</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365760" y="201168"/>
            <a:ext cx="7132320" cy="502920"/>
          </a:xfrm>
          <a:prstGeom prst="rect">
            <a:avLst/>
          </a:prstGeom>
          <a:noFill/>
          <a:ln/>
        </p:spPr>
        <p:txBody>
          <a:bodyPr wrap="square" lIns="0" tIns="0" rIns="0" bIns="0" rtlCol="0" anchor="ctr"/>
          <a:lstStyle/>
          <a:p>
            <a:pPr marL="0" indent="0" algn="l">
              <a:buNone/>
            </a:pPr>
            <a:r>
              <a:rPr lang="en-US" sz="2200" b="1" dirty="0">
                <a:solidFill>
                  <a:srgbClr val="1E3A5F"/>
                </a:solidFill>
                <a:latin typeface="Meiryo UI" pitchFamily="34" charset="0"/>
                <a:ea typeface="Meiryo UI" pitchFamily="34" charset="-122"/>
                <a:cs typeface="Meiryo UI" pitchFamily="34" charset="-120"/>
              </a:rPr>
              <a:t>バイオ向けユースケース：AI受注 → 納期照会 → 回答ドラフト</a:t>
            </a:r>
            <a:endParaRPr lang="en-US" sz="2200" dirty="0"/>
          </a:p>
        </p:txBody>
      </p:sp>
      <p:sp>
        <p:nvSpPr>
          <p:cNvPr id="3" name="Shape 1"/>
          <p:cNvSpPr/>
          <p:nvPr/>
        </p:nvSpPr>
        <p:spPr>
          <a:xfrm>
            <a:off x="365760" y="758952"/>
            <a:ext cx="8412480" cy="0"/>
          </a:xfrm>
          <a:prstGeom prst="line">
            <a:avLst/>
          </a:prstGeom>
          <a:noFill/>
          <a:ln w="6350">
            <a:solidFill>
              <a:srgbClr val="64748B"/>
            </a:solidFill>
            <a:prstDash val="solid"/>
          </a:ln>
        </p:spPr>
      </p:sp>
      <p:sp>
        <p:nvSpPr>
          <p:cNvPr id="4" name="Text 2"/>
          <p:cNvSpPr/>
          <p:nvPr/>
        </p:nvSpPr>
        <p:spPr>
          <a:xfrm>
            <a:off x="365760" y="786384"/>
            <a:ext cx="6858000" cy="237744"/>
          </a:xfrm>
          <a:prstGeom prst="rect">
            <a:avLst/>
          </a:prstGeom>
          <a:noFill/>
          <a:ln/>
        </p:spPr>
        <p:txBody>
          <a:bodyPr wrap="square" lIns="0" tIns="0" rIns="0" bIns="0" rtlCol="0" anchor="ctr"/>
          <a:lstStyle/>
          <a:p>
            <a:pPr marL="0" indent="0" algn="l">
              <a:buNone/>
            </a:pPr>
            <a:r>
              <a:rPr lang="en-US" sz="900" i="1" dirty="0">
                <a:solidFill>
                  <a:srgbClr val="64748B"/>
                </a:solidFill>
                <a:latin typeface="Meiryo UI" pitchFamily="34" charset="0"/>
                <a:ea typeface="Meiryo UI" pitchFamily="34" charset="-122"/>
                <a:cs typeface="Meiryo UI" pitchFamily="34" charset="-120"/>
              </a:rPr>
              <a:t>ORDIA × 販管 × DOG</a:t>
            </a:r>
            <a:endParaRPr lang="en-US" sz="900" dirty="0"/>
          </a:p>
        </p:txBody>
      </p:sp>
      <p:pic>
        <p:nvPicPr>
          <p:cNvPr id="5" name="Image 0" descr="preencoded.png"/>
          <p:cNvPicPr>
            <a:picLocks noChangeAspect="1"/>
          </p:cNvPicPr>
          <p:nvPr/>
        </p:nvPicPr>
        <p:blipFill>
          <a:blip r:embed="rId3"/>
          <a:stretch>
            <a:fillRect/>
          </a:stretch>
        </p:blipFill>
        <p:spPr>
          <a:xfrm>
            <a:off x="7680960" y="164592"/>
            <a:ext cx="1188720" cy="265176"/>
          </a:xfrm>
          <a:prstGeom prst="rect">
            <a:avLst/>
          </a:prstGeom>
        </p:spPr>
      </p:pic>
      <p:sp>
        <p:nvSpPr>
          <p:cNvPr id="6" name="Shape 3"/>
          <p:cNvSpPr/>
          <p:nvPr/>
        </p:nvSpPr>
        <p:spPr>
          <a:xfrm>
            <a:off x="0" y="4869180"/>
            <a:ext cx="9144000" cy="274320"/>
          </a:xfrm>
          <a:prstGeom prst="rect">
            <a:avLst/>
          </a:prstGeom>
          <a:solidFill>
            <a:srgbClr val="1CADE4"/>
          </a:solidFill>
          <a:ln/>
        </p:spPr>
      </p:sp>
      <p:sp>
        <p:nvSpPr>
          <p:cNvPr id="7" name="Text 4"/>
          <p:cNvSpPr/>
          <p:nvPr/>
        </p:nvSpPr>
        <p:spPr>
          <a:xfrm>
            <a:off x="457200" y="4869180"/>
            <a:ext cx="82296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Meiryo UI" pitchFamily="34" charset="0"/>
                <a:ea typeface="Meiryo UI" pitchFamily="34" charset="-122"/>
                <a:cs typeface="Meiryo UI" pitchFamily="34" charset="-120"/>
              </a:rPr>
              <a:t>Copyright© 2002-2026 SAGBRAIN Corp. All rights reserved.</a:t>
            </a:r>
            <a:endParaRPr lang="en-US" sz="900" dirty="0"/>
          </a:p>
        </p:txBody>
      </p:sp>
      <p:sp>
        <p:nvSpPr>
          <p:cNvPr id="8" name="Text 5"/>
          <p:cNvSpPr/>
          <p:nvPr/>
        </p:nvSpPr>
        <p:spPr>
          <a:xfrm>
            <a:off x="8503920" y="4869180"/>
            <a:ext cx="502920" cy="274320"/>
          </a:xfrm>
          <a:prstGeom prst="rect">
            <a:avLst/>
          </a:prstGeom>
          <a:noFill/>
          <a:ln/>
        </p:spPr>
        <p:txBody>
          <a:bodyPr wrap="square" lIns="0" tIns="0" rIns="0" bIns="0" rtlCol="0" anchor="ctr"/>
          <a:lstStyle/>
          <a:p>
            <a:pPr marL="0" indent="0" algn="r">
              <a:buNone/>
            </a:pPr>
            <a:r>
              <a:rPr lang="en-US" sz="1000" b="1" dirty="0">
                <a:solidFill>
                  <a:srgbClr val="FFFFFF"/>
                </a:solidFill>
                <a:latin typeface="Meiryo UI" pitchFamily="34" charset="0"/>
                <a:ea typeface="Meiryo UI" pitchFamily="34" charset="-122"/>
                <a:cs typeface="Meiryo UI" pitchFamily="34" charset="-120"/>
              </a:rPr>
              <a:t>13</a:t>
            </a:r>
            <a:endParaRPr lang="en-US" sz="1000" dirty="0"/>
          </a:p>
        </p:txBody>
      </p:sp>
      <p:sp>
        <p:nvSpPr>
          <p:cNvPr id="9" name="Text 6"/>
          <p:cNvSpPr/>
          <p:nvPr/>
        </p:nvSpPr>
        <p:spPr>
          <a:xfrm>
            <a:off x="365760" y="868680"/>
            <a:ext cx="8412480" cy="365760"/>
          </a:xfrm>
          <a:prstGeom prst="rect">
            <a:avLst/>
          </a:prstGeom>
          <a:noFill/>
          <a:ln/>
        </p:spPr>
        <p:txBody>
          <a:bodyPr wrap="square" lIns="0" tIns="0" rIns="0" bIns="0" rtlCol="0" anchor="ctr"/>
          <a:lstStyle/>
          <a:p>
            <a:pPr marL="0" indent="0" algn="l">
              <a:buNone/>
            </a:pPr>
            <a:r>
              <a:rPr lang="en-US" sz="1600" b="1" dirty="0">
                <a:solidFill>
                  <a:srgbClr val="1E3A5F"/>
                </a:solidFill>
                <a:latin typeface="Meiryo UI" pitchFamily="34" charset="0"/>
                <a:ea typeface="Meiryo UI" pitchFamily="34" charset="-122"/>
                <a:cs typeface="Meiryo UI" pitchFamily="34" charset="-120"/>
              </a:rPr>
              <a:t>FAX・メール・Web 注文を受け取った瞬間、納期回答ドラフトまで自動で。</a:t>
            </a:r>
            <a:endParaRPr lang="en-US" sz="1600" dirty="0"/>
          </a:p>
        </p:txBody>
      </p:sp>
      <p:sp>
        <p:nvSpPr>
          <p:cNvPr id="10" name="Shape 7"/>
          <p:cNvSpPr/>
          <p:nvPr/>
        </p:nvSpPr>
        <p:spPr>
          <a:xfrm>
            <a:off x="365760" y="1325880"/>
            <a:ext cx="8412480" cy="1417320"/>
          </a:xfrm>
          <a:prstGeom prst="rect">
            <a:avLst/>
          </a:prstGeom>
          <a:solidFill>
            <a:srgbClr val="EFF6FF"/>
          </a:solidFill>
          <a:ln w="6350">
            <a:solidFill>
              <a:srgbClr val="E2E8F0"/>
            </a:solidFill>
            <a:prstDash val="solid"/>
          </a:ln>
        </p:spPr>
      </p:sp>
      <p:sp>
        <p:nvSpPr>
          <p:cNvPr id="11" name="Text 8"/>
          <p:cNvSpPr/>
          <p:nvPr/>
        </p:nvSpPr>
        <p:spPr>
          <a:xfrm>
            <a:off x="502920" y="1362456"/>
            <a:ext cx="2743200" cy="219456"/>
          </a:xfrm>
          <a:prstGeom prst="rect">
            <a:avLst/>
          </a:prstGeom>
          <a:noFill/>
          <a:ln/>
        </p:spPr>
        <p:txBody>
          <a:bodyPr wrap="square" rtlCol="0" anchor="ctr"/>
          <a:lstStyle/>
          <a:p>
            <a:pPr marL="0" indent="0">
              <a:buNone/>
            </a:pPr>
            <a:r>
              <a:rPr lang="en-US" sz="900" i="1" dirty="0">
                <a:solidFill>
                  <a:srgbClr val="64748B"/>
                </a:solidFill>
                <a:latin typeface="Meiryo UI" pitchFamily="34" charset="0"/>
                <a:ea typeface="Meiryo UI" pitchFamily="34" charset="-122"/>
                <a:cs typeface="Meiryo UI" pitchFamily="34" charset="-120"/>
              </a:rPr>
              <a:t>データフロー</a:t>
            </a:r>
            <a:endParaRPr lang="en-US" sz="900" dirty="0"/>
          </a:p>
        </p:txBody>
      </p:sp>
      <p:sp>
        <p:nvSpPr>
          <p:cNvPr id="12" name="Shape 9"/>
          <p:cNvSpPr/>
          <p:nvPr/>
        </p:nvSpPr>
        <p:spPr>
          <a:xfrm>
            <a:off x="502920" y="1783080"/>
            <a:ext cx="1417320" cy="640080"/>
          </a:xfrm>
          <a:prstGeom prst="roundRect">
            <a:avLst>
              <a:gd name="adj" fmla="val 8571"/>
            </a:avLst>
          </a:prstGeom>
          <a:solidFill>
            <a:srgbClr val="FFFFFF"/>
          </a:solidFill>
          <a:ln w="15240">
            <a:solidFill>
              <a:srgbClr val="64748B"/>
            </a:solidFill>
            <a:prstDash val="solid"/>
          </a:ln>
        </p:spPr>
      </p:sp>
      <p:sp>
        <p:nvSpPr>
          <p:cNvPr id="13" name="Text 10"/>
          <p:cNvSpPr/>
          <p:nvPr/>
        </p:nvSpPr>
        <p:spPr>
          <a:xfrm>
            <a:off x="502920" y="1819656"/>
            <a:ext cx="1417320" cy="274320"/>
          </a:xfrm>
          <a:prstGeom prst="rect">
            <a:avLst/>
          </a:prstGeom>
          <a:noFill/>
          <a:ln/>
        </p:spPr>
        <p:txBody>
          <a:bodyPr wrap="square" lIns="0" tIns="0" rIns="0" bIns="0" rtlCol="0" anchor="ctr"/>
          <a:lstStyle/>
          <a:p>
            <a:pPr marL="0" indent="0" algn="ctr">
              <a:buNone/>
            </a:pPr>
            <a:r>
              <a:rPr lang="en-US" sz="1100" b="1" dirty="0">
                <a:solidFill>
                  <a:srgbClr val="64748B"/>
                </a:solidFill>
                <a:latin typeface="Meiryo UI" pitchFamily="34" charset="0"/>
                <a:ea typeface="Meiryo UI" pitchFamily="34" charset="-122"/>
                <a:cs typeface="Meiryo UI" pitchFamily="34" charset="-120"/>
              </a:rPr>
              <a:t>顧客</a:t>
            </a:r>
            <a:endParaRPr lang="en-US" sz="1100" dirty="0"/>
          </a:p>
        </p:txBody>
      </p:sp>
      <p:sp>
        <p:nvSpPr>
          <p:cNvPr id="14" name="Text 11"/>
          <p:cNvSpPr/>
          <p:nvPr/>
        </p:nvSpPr>
        <p:spPr>
          <a:xfrm>
            <a:off x="502920" y="2112264"/>
            <a:ext cx="1417320" cy="256032"/>
          </a:xfrm>
          <a:prstGeom prst="rect">
            <a:avLst/>
          </a:prstGeom>
          <a:noFill/>
          <a:ln/>
        </p:spPr>
        <p:txBody>
          <a:bodyPr wrap="square" lIns="0" tIns="0" rIns="0" bIns="0" rtlCol="0" anchor="ctr"/>
          <a:lstStyle/>
          <a:p>
            <a:pPr marL="0" indent="0" algn="ctr">
              <a:buNone/>
            </a:pPr>
            <a:r>
              <a:rPr lang="en-US" sz="850" dirty="0">
                <a:solidFill>
                  <a:srgbClr val="64748B"/>
                </a:solidFill>
                <a:latin typeface="Meiryo UI" pitchFamily="34" charset="0"/>
                <a:ea typeface="Meiryo UI" pitchFamily="34" charset="-122"/>
                <a:cs typeface="Meiryo UI" pitchFamily="34" charset="-120"/>
              </a:rPr>
              <a:t>FAX/PDF/メール/Web</a:t>
            </a:r>
            <a:endParaRPr lang="en-US" sz="850" dirty="0"/>
          </a:p>
        </p:txBody>
      </p:sp>
      <p:sp>
        <p:nvSpPr>
          <p:cNvPr id="15" name="Shape 12"/>
          <p:cNvSpPr/>
          <p:nvPr/>
        </p:nvSpPr>
        <p:spPr>
          <a:xfrm>
            <a:off x="2194560" y="1783080"/>
            <a:ext cx="1417320" cy="640080"/>
          </a:xfrm>
          <a:prstGeom prst="roundRect">
            <a:avLst>
              <a:gd name="adj" fmla="val 8571"/>
            </a:avLst>
          </a:prstGeom>
          <a:solidFill>
            <a:srgbClr val="FFFFFF"/>
          </a:solidFill>
          <a:ln w="15240">
            <a:solidFill>
              <a:srgbClr val="E11D48"/>
            </a:solidFill>
            <a:prstDash val="solid"/>
          </a:ln>
        </p:spPr>
      </p:sp>
      <p:sp>
        <p:nvSpPr>
          <p:cNvPr id="16" name="Text 13"/>
          <p:cNvSpPr/>
          <p:nvPr/>
        </p:nvSpPr>
        <p:spPr>
          <a:xfrm>
            <a:off x="2194560" y="1819656"/>
            <a:ext cx="1417320" cy="274320"/>
          </a:xfrm>
          <a:prstGeom prst="rect">
            <a:avLst/>
          </a:prstGeom>
          <a:noFill/>
          <a:ln/>
        </p:spPr>
        <p:txBody>
          <a:bodyPr wrap="square" lIns="0" tIns="0" rIns="0" bIns="0" rtlCol="0" anchor="ctr"/>
          <a:lstStyle/>
          <a:p>
            <a:pPr marL="0" indent="0" algn="ctr">
              <a:buNone/>
            </a:pPr>
            <a:r>
              <a:rPr lang="en-US" sz="1100" b="1" dirty="0">
                <a:solidFill>
                  <a:srgbClr val="E11D48"/>
                </a:solidFill>
                <a:latin typeface="Meiryo UI" pitchFamily="34" charset="0"/>
                <a:ea typeface="Meiryo UI" pitchFamily="34" charset="-122"/>
                <a:cs typeface="Meiryo UI" pitchFamily="34" charset="-120"/>
              </a:rPr>
              <a:t>ORDIA</a:t>
            </a:r>
            <a:endParaRPr lang="en-US" sz="1100" dirty="0"/>
          </a:p>
        </p:txBody>
      </p:sp>
      <p:sp>
        <p:nvSpPr>
          <p:cNvPr id="17" name="Text 14"/>
          <p:cNvSpPr/>
          <p:nvPr/>
        </p:nvSpPr>
        <p:spPr>
          <a:xfrm>
            <a:off x="2194560" y="2112264"/>
            <a:ext cx="1417320" cy="256032"/>
          </a:xfrm>
          <a:prstGeom prst="rect">
            <a:avLst/>
          </a:prstGeom>
          <a:noFill/>
          <a:ln/>
        </p:spPr>
        <p:txBody>
          <a:bodyPr wrap="square" lIns="0" tIns="0" rIns="0" bIns="0" rtlCol="0" anchor="ctr"/>
          <a:lstStyle/>
          <a:p>
            <a:pPr marL="0" indent="0" algn="ctr">
              <a:buNone/>
            </a:pPr>
            <a:r>
              <a:rPr lang="en-US" sz="850" dirty="0">
                <a:solidFill>
                  <a:srgbClr val="64748B"/>
                </a:solidFill>
                <a:latin typeface="Meiryo UI" pitchFamily="34" charset="0"/>
                <a:ea typeface="Meiryo UI" pitchFamily="34" charset="-122"/>
                <a:cs typeface="Meiryo UI" pitchFamily="34" charset="-120"/>
              </a:rPr>
              <a:t>AI正規化＋在庫・納期照会</a:t>
            </a:r>
            <a:endParaRPr lang="en-US" sz="850" dirty="0"/>
          </a:p>
        </p:txBody>
      </p:sp>
      <p:sp>
        <p:nvSpPr>
          <p:cNvPr id="18" name="Shape 15"/>
          <p:cNvSpPr/>
          <p:nvPr/>
        </p:nvSpPr>
        <p:spPr>
          <a:xfrm>
            <a:off x="3886200" y="1783080"/>
            <a:ext cx="1417320" cy="640080"/>
          </a:xfrm>
          <a:prstGeom prst="roundRect">
            <a:avLst>
              <a:gd name="adj" fmla="val 8571"/>
            </a:avLst>
          </a:prstGeom>
          <a:solidFill>
            <a:srgbClr val="FFFFFF"/>
          </a:solidFill>
          <a:ln w="15240">
            <a:solidFill>
              <a:srgbClr val="2563EB"/>
            </a:solidFill>
            <a:prstDash val="solid"/>
          </a:ln>
        </p:spPr>
      </p:sp>
      <p:sp>
        <p:nvSpPr>
          <p:cNvPr id="19" name="Text 16"/>
          <p:cNvSpPr/>
          <p:nvPr/>
        </p:nvSpPr>
        <p:spPr>
          <a:xfrm>
            <a:off x="3886200" y="1819656"/>
            <a:ext cx="1417320" cy="274320"/>
          </a:xfrm>
          <a:prstGeom prst="rect">
            <a:avLst/>
          </a:prstGeom>
          <a:noFill/>
          <a:ln/>
        </p:spPr>
        <p:txBody>
          <a:bodyPr wrap="square" lIns="0" tIns="0" rIns="0" bIns="0" rtlCol="0" anchor="ctr"/>
          <a:lstStyle/>
          <a:p>
            <a:pPr marL="0" indent="0" algn="ctr">
              <a:buNone/>
            </a:pPr>
            <a:r>
              <a:rPr lang="en-US" sz="1100" b="1" dirty="0">
                <a:solidFill>
                  <a:srgbClr val="2563EB"/>
                </a:solidFill>
                <a:latin typeface="Meiryo UI" pitchFamily="34" charset="0"/>
                <a:ea typeface="Meiryo UI" pitchFamily="34" charset="-122"/>
                <a:cs typeface="Meiryo UI" pitchFamily="34" charset="-120"/>
              </a:rPr>
              <a:t>Onevio 受注DB</a:t>
            </a:r>
            <a:endParaRPr lang="en-US" sz="1100" dirty="0"/>
          </a:p>
        </p:txBody>
      </p:sp>
      <p:sp>
        <p:nvSpPr>
          <p:cNvPr id="20" name="Text 17"/>
          <p:cNvSpPr/>
          <p:nvPr/>
        </p:nvSpPr>
        <p:spPr>
          <a:xfrm>
            <a:off x="3886200" y="2112264"/>
            <a:ext cx="1417320" cy="256032"/>
          </a:xfrm>
          <a:prstGeom prst="rect">
            <a:avLst/>
          </a:prstGeom>
          <a:noFill/>
          <a:ln/>
        </p:spPr>
        <p:txBody>
          <a:bodyPr wrap="square" lIns="0" tIns="0" rIns="0" bIns="0" rtlCol="0" anchor="ctr"/>
          <a:lstStyle/>
          <a:p>
            <a:pPr marL="0" indent="0" algn="ctr">
              <a:buNone/>
            </a:pPr>
            <a:r>
              <a:rPr lang="en-US" sz="850" dirty="0">
                <a:solidFill>
                  <a:srgbClr val="64748B"/>
                </a:solidFill>
                <a:latin typeface="Meiryo UI" pitchFamily="34" charset="0"/>
                <a:ea typeface="Meiryo UI" pitchFamily="34" charset="-122"/>
                <a:cs typeface="Meiryo UI" pitchFamily="34" charset="-120"/>
              </a:rPr>
              <a:t>受注計上</a:t>
            </a:r>
            <a:endParaRPr lang="en-US" sz="850" dirty="0"/>
          </a:p>
        </p:txBody>
      </p:sp>
      <p:sp>
        <p:nvSpPr>
          <p:cNvPr id="21" name="Shape 18"/>
          <p:cNvSpPr/>
          <p:nvPr/>
        </p:nvSpPr>
        <p:spPr>
          <a:xfrm>
            <a:off x="5577840" y="1783080"/>
            <a:ext cx="1417320" cy="640080"/>
          </a:xfrm>
          <a:prstGeom prst="roundRect">
            <a:avLst>
              <a:gd name="adj" fmla="val 8571"/>
            </a:avLst>
          </a:prstGeom>
          <a:solidFill>
            <a:srgbClr val="FFFFFF"/>
          </a:solidFill>
          <a:ln w="15240">
            <a:solidFill>
              <a:srgbClr val="0D9488"/>
            </a:solidFill>
            <a:prstDash val="solid"/>
          </a:ln>
        </p:spPr>
      </p:sp>
      <p:sp>
        <p:nvSpPr>
          <p:cNvPr id="22" name="Text 19"/>
          <p:cNvSpPr/>
          <p:nvPr/>
        </p:nvSpPr>
        <p:spPr>
          <a:xfrm>
            <a:off x="5577840" y="1819656"/>
            <a:ext cx="1417320" cy="274320"/>
          </a:xfrm>
          <a:prstGeom prst="rect">
            <a:avLst/>
          </a:prstGeom>
          <a:noFill/>
          <a:ln/>
        </p:spPr>
        <p:txBody>
          <a:bodyPr wrap="square" lIns="0" tIns="0" rIns="0" bIns="0" rtlCol="0" anchor="ctr"/>
          <a:lstStyle/>
          <a:p>
            <a:pPr marL="0" indent="0" algn="ctr">
              <a:buNone/>
            </a:pPr>
            <a:r>
              <a:rPr lang="en-US" sz="1100" b="1" dirty="0">
                <a:solidFill>
                  <a:srgbClr val="0D9488"/>
                </a:solidFill>
                <a:latin typeface="Meiryo UI" pitchFamily="34" charset="0"/>
                <a:ea typeface="Meiryo UI" pitchFamily="34" charset="-122"/>
                <a:cs typeface="Meiryo UI" pitchFamily="34" charset="-120"/>
              </a:rPr>
              <a:t>DOG</a:t>
            </a:r>
            <a:endParaRPr lang="en-US" sz="1100" dirty="0"/>
          </a:p>
        </p:txBody>
      </p:sp>
      <p:sp>
        <p:nvSpPr>
          <p:cNvPr id="23" name="Text 20"/>
          <p:cNvSpPr/>
          <p:nvPr/>
        </p:nvSpPr>
        <p:spPr>
          <a:xfrm>
            <a:off x="5577840" y="2112264"/>
            <a:ext cx="1417320" cy="256032"/>
          </a:xfrm>
          <a:prstGeom prst="rect">
            <a:avLst/>
          </a:prstGeom>
          <a:noFill/>
          <a:ln/>
        </p:spPr>
        <p:txBody>
          <a:bodyPr wrap="square" lIns="0" tIns="0" rIns="0" bIns="0" rtlCol="0" anchor="ctr"/>
          <a:lstStyle/>
          <a:p>
            <a:pPr marL="0" indent="0" algn="ctr">
              <a:buNone/>
            </a:pPr>
            <a:r>
              <a:rPr lang="en-US" sz="850" dirty="0">
                <a:solidFill>
                  <a:srgbClr val="64748B"/>
                </a:solidFill>
                <a:latin typeface="Meiryo UI" pitchFamily="34" charset="0"/>
                <a:ea typeface="Meiryo UI" pitchFamily="34" charset="-122"/>
                <a:cs typeface="Meiryo UI" pitchFamily="34" charset="-120"/>
              </a:rPr>
              <a:t>不足分の発注</a:t>
            </a:r>
            <a:endParaRPr lang="en-US" sz="850" dirty="0"/>
          </a:p>
        </p:txBody>
      </p:sp>
      <p:sp>
        <p:nvSpPr>
          <p:cNvPr id="24" name="Shape 21"/>
          <p:cNvSpPr/>
          <p:nvPr/>
        </p:nvSpPr>
        <p:spPr>
          <a:xfrm>
            <a:off x="7269480" y="1783080"/>
            <a:ext cx="1417320" cy="640080"/>
          </a:xfrm>
          <a:prstGeom prst="roundRect">
            <a:avLst>
              <a:gd name="adj" fmla="val 8571"/>
            </a:avLst>
          </a:prstGeom>
          <a:solidFill>
            <a:srgbClr val="FFFFFF"/>
          </a:solidFill>
          <a:ln w="15240">
            <a:solidFill>
              <a:srgbClr val="F59E0B"/>
            </a:solidFill>
            <a:prstDash val="solid"/>
          </a:ln>
        </p:spPr>
      </p:sp>
      <p:sp>
        <p:nvSpPr>
          <p:cNvPr id="25" name="Text 22"/>
          <p:cNvSpPr/>
          <p:nvPr/>
        </p:nvSpPr>
        <p:spPr>
          <a:xfrm>
            <a:off x="7269480" y="1819656"/>
            <a:ext cx="1417320" cy="274320"/>
          </a:xfrm>
          <a:prstGeom prst="rect">
            <a:avLst/>
          </a:prstGeom>
          <a:noFill/>
          <a:ln/>
        </p:spPr>
        <p:txBody>
          <a:bodyPr wrap="square" lIns="0" tIns="0" rIns="0" bIns="0" rtlCol="0" anchor="ctr"/>
          <a:lstStyle/>
          <a:p>
            <a:pPr marL="0" indent="0" algn="ctr">
              <a:buNone/>
            </a:pPr>
            <a:r>
              <a:rPr lang="en-US" sz="1100" b="1" dirty="0">
                <a:solidFill>
                  <a:srgbClr val="F59E0B"/>
                </a:solidFill>
                <a:latin typeface="Meiryo UI" pitchFamily="34" charset="0"/>
                <a:ea typeface="Meiryo UI" pitchFamily="34" charset="-122"/>
                <a:cs typeface="Meiryo UI" pitchFamily="34" charset="-120"/>
              </a:rPr>
              <a:t>顧客（納期回答）</a:t>
            </a:r>
            <a:endParaRPr lang="en-US" sz="1100" dirty="0"/>
          </a:p>
        </p:txBody>
      </p:sp>
      <p:sp>
        <p:nvSpPr>
          <p:cNvPr id="26" name="Text 23"/>
          <p:cNvSpPr/>
          <p:nvPr/>
        </p:nvSpPr>
        <p:spPr>
          <a:xfrm>
            <a:off x="7269480" y="2112264"/>
            <a:ext cx="1417320" cy="256032"/>
          </a:xfrm>
          <a:prstGeom prst="rect">
            <a:avLst/>
          </a:prstGeom>
          <a:noFill/>
          <a:ln/>
        </p:spPr>
        <p:txBody>
          <a:bodyPr wrap="square" lIns="0" tIns="0" rIns="0" bIns="0" rtlCol="0" anchor="ctr"/>
          <a:lstStyle/>
          <a:p>
            <a:pPr marL="0" indent="0" algn="ctr">
              <a:buNone/>
            </a:pPr>
            <a:r>
              <a:rPr lang="en-US" sz="850" dirty="0">
                <a:solidFill>
                  <a:srgbClr val="64748B"/>
                </a:solidFill>
                <a:latin typeface="Meiryo UI" pitchFamily="34" charset="0"/>
                <a:ea typeface="Meiryo UI" pitchFamily="34" charset="-122"/>
                <a:cs typeface="Meiryo UI" pitchFamily="34" charset="-120"/>
              </a:rPr>
              <a:t>ドラフト自動生成</a:t>
            </a:r>
            <a:endParaRPr lang="en-US" sz="850" dirty="0"/>
          </a:p>
        </p:txBody>
      </p:sp>
      <p:sp>
        <p:nvSpPr>
          <p:cNvPr id="27" name="Shape 24"/>
          <p:cNvSpPr/>
          <p:nvPr/>
        </p:nvSpPr>
        <p:spPr>
          <a:xfrm>
            <a:off x="1938528" y="1984248"/>
            <a:ext cx="237744" cy="237744"/>
          </a:xfrm>
          <a:prstGeom prst="rightArrow">
            <a:avLst/>
          </a:prstGeom>
          <a:solidFill>
            <a:srgbClr val="64748B"/>
          </a:solidFill>
          <a:ln/>
        </p:spPr>
      </p:sp>
      <p:sp>
        <p:nvSpPr>
          <p:cNvPr id="28" name="Shape 25"/>
          <p:cNvSpPr/>
          <p:nvPr/>
        </p:nvSpPr>
        <p:spPr>
          <a:xfrm>
            <a:off x="3630168" y="1984248"/>
            <a:ext cx="237744" cy="237744"/>
          </a:xfrm>
          <a:prstGeom prst="rightArrow">
            <a:avLst/>
          </a:prstGeom>
          <a:solidFill>
            <a:srgbClr val="64748B"/>
          </a:solidFill>
          <a:ln/>
        </p:spPr>
      </p:sp>
      <p:sp>
        <p:nvSpPr>
          <p:cNvPr id="29" name="Shape 26"/>
          <p:cNvSpPr/>
          <p:nvPr/>
        </p:nvSpPr>
        <p:spPr>
          <a:xfrm>
            <a:off x="5321808" y="1984248"/>
            <a:ext cx="237744" cy="237744"/>
          </a:xfrm>
          <a:prstGeom prst="rightArrow">
            <a:avLst/>
          </a:prstGeom>
          <a:solidFill>
            <a:srgbClr val="0D9488"/>
          </a:solidFill>
          <a:ln/>
        </p:spPr>
      </p:sp>
      <p:sp>
        <p:nvSpPr>
          <p:cNvPr id="30" name="Shape 27"/>
          <p:cNvSpPr/>
          <p:nvPr/>
        </p:nvSpPr>
        <p:spPr>
          <a:xfrm>
            <a:off x="7013448" y="1984248"/>
            <a:ext cx="237744" cy="237744"/>
          </a:xfrm>
          <a:prstGeom prst="rightArrow">
            <a:avLst/>
          </a:prstGeom>
          <a:solidFill>
            <a:srgbClr val="64748B"/>
          </a:solidFill>
          <a:ln/>
        </p:spPr>
      </p:sp>
      <p:sp>
        <p:nvSpPr>
          <p:cNvPr id="31" name="Text 28"/>
          <p:cNvSpPr/>
          <p:nvPr/>
        </p:nvSpPr>
        <p:spPr>
          <a:xfrm>
            <a:off x="5029200" y="1490472"/>
            <a:ext cx="1965960" cy="219456"/>
          </a:xfrm>
          <a:prstGeom prst="rect">
            <a:avLst/>
          </a:prstGeom>
          <a:noFill/>
          <a:ln/>
        </p:spPr>
        <p:txBody>
          <a:bodyPr wrap="square" lIns="0" tIns="0" rIns="0" bIns="0" rtlCol="0" anchor="ctr"/>
          <a:lstStyle/>
          <a:p>
            <a:pPr marL="0" indent="0" algn="ctr">
              <a:buNone/>
            </a:pPr>
            <a:r>
              <a:rPr lang="en-US" sz="800" i="1" dirty="0">
                <a:solidFill>
                  <a:srgbClr val="0D9488"/>
                </a:solidFill>
                <a:latin typeface="Meiryo UI" pitchFamily="34" charset="0"/>
                <a:ea typeface="Meiryo UI" pitchFamily="34" charset="-122"/>
                <a:cs typeface="Meiryo UI" pitchFamily="34" charset="-120"/>
              </a:rPr>
              <a:t>仕入先在庫が必要な場合のみ</a:t>
            </a:r>
            <a:endParaRPr lang="en-US" sz="800" dirty="0"/>
          </a:p>
        </p:txBody>
      </p:sp>
      <p:sp>
        <p:nvSpPr>
          <p:cNvPr id="32" name="Shape 29"/>
          <p:cNvSpPr/>
          <p:nvPr/>
        </p:nvSpPr>
        <p:spPr>
          <a:xfrm>
            <a:off x="365760" y="2926080"/>
            <a:ext cx="4114800" cy="1691640"/>
          </a:xfrm>
          <a:prstGeom prst="rect">
            <a:avLst/>
          </a:prstGeom>
          <a:solidFill>
            <a:srgbClr val="F8FAFC"/>
          </a:solidFill>
          <a:ln w="6350">
            <a:solidFill>
              <a:srgbClr val="E2E8F0"/>
            </a:solidFill>
            <a:prstDash val="solid"/>
          </a:ln>
        </p:spPr>
      </p:sp>
      <p:sp>
        <p:nvSpPr>
          <p:cNvPr id="33" name="Text 30"/>
          <p:cNvSpPr/>
          <p:nvPr/>
        </p:nvSpPr>
        <p:spPr>
          <a:xfrm>
            <a:off x="502920" y="2980944"/>
            <a:ext cx="3840480" cy="274320"/>
          </a:xfrm>
          <a:prstGeom prst="rect">
            <a:avLst/>
          </a:prstGeom>
          <a:noFill/>
          <a:ln/>
        </p:spPr>
        <p:txBody>
          <a:bodyPr wrap="square" rtlCol="0" anchor="ctr"/>
          <a:lstStyle/>
          <a:p>
            <a:pPr marL="0" indent="0">
              <a:buNone/>
            </a:pPr>
            <a:r>
              <a:rPr lang="en-US" sz="1200" b="1" dirty="0">
                <a:solidFill>
                  <a:srgbClr val="64748B"/>
                </a:solidFill>
                <a:latin typeface="Meiryo UI" pitchFamily="34" charset="0"/>
                <a:ea typeface="Meiryo UI" pitchFamily="34" charset="-122"/>
                <a:cs typeface="Meiryo UI" pitchFamily="34" charset="-120"/>
              </a:rPr>
              <a:t>Before：よくある現場</a:t>
            </a:r>
            <a:endParaRPr lang="en-US" sz="1200" dirty="0"/>
          </a:p>
        </p:txBody>
      </p:sp>
      <p:sp>
        <p:nvSpPr>
          <p:cNvPr id="34" name="Text 31"/>
          <p:cNvSpPr/>
          <p:nvPr/>
        </p:nvSpPr>
        <p:spPr>
          <a:xfrm>
            <a:off x="502920" y="3291840"/>
            <a:ext cx="3840480" cy="1234440"/>
          </a:xfrm>
          <a:prstGeom prst="rect">
            <a:avLst/>
          </a:prstGeom>
          <a:noFill/>
          <a:ln/>
        </p:spPr>
        <p:txBody>
          <a:bodyPr wrap="square" lIns="0" tIns="0" rIns="0" bIns="0" rtlCol="0" anchor="t"/>
          <a:lstStyle/>
          <a:p>
            <a:pPr marL="0" indent="0">
              <a:spcAft>
                <a:spcPts val="400"/>
              </a:spcAft>
              <a:buNone/>
            </a:pPr>
            <a:r>
              <a:rPr lang="en-US" sz="1000" dirty="0">
                <a:solidFill>
                  <a:srgbClr val="1F2937"/>
                </a:solidFill>
                <a:latin typeface="Meiryo UI" pitchFamily="34" charset="0"/>
                <a:ea typeface="Meiryo UI" pitchFamily="34" charset="-122"/>
                <a:cs typeface="Meiryo UI" pitchFamily="34" charset="-120"/>
              </a:rPr>
              <a:t>• FAX・PDF・メール注文を担当者が読み下して基幹入力（誤読・転記ミス）
• 在庫確認 → 不足は仕入先に問合せ → 顧客へ折り返し
• 1件10〜30分、属人化、新人習熟に時間</a:t>
            </a:r>
            <a:endParaRPr lang="en-US" sz="1000" dirty="0"/>
          </a:p>
        </p:txBody>
      </p:sp>
      <p:sp>
        <p:nvSpPr>
          <p:cNvPr id="35" name="Shape 32"/>
          <p:cNvSpPr/>
          <p:nvPr/>
        </p:nvSpPr>
        <p:spPr>
          <a:xfrm>
            <a:off x="4663440" y="2926080"/>
            <a:ext cx="4114800" cy="1691640"/>
          </a:xfrm>
          <a:prstGeom prst="rect">
            <a:avLst/>
          </a:prstGeom>
          <a:solidFill>
            <a:srgbClr val="FFE4E6"/>
          </a:solidFill>
          <a:ln w="12700">
            <a:solidFill>
              <a:srgbClr val="E11D48"/>
            </a:solidFill>
            <a:prstDash val="solid"/>
          </a:ln>
        </p:spPr>
      </p:sp>
      <p:sp>
        <p:nvSpPr>
          <p:cNvPr id="36" name="Text 33"/>
          <p:cNvSpPr/>
          <p:nvPr/>
        </p:nvSpPr>
        <p:spPr>
          <a:xfrm>
            <a:off x="4800600" y="2980944"/>
            <a:ext cx="3840480" cy="274320"/>
          </a:xfrm>
          <a:prstGeom prst="rect">
            <a:avLst/>
          </a:prstGeom>
          <a:noFill/>
          <a:ln/>
        </p:spPr>
        <p:txBody>
          <a:bodyPr wrap="square" rtlCol="0" anchor="ctr"/>
          <a:lstStyle/>
          <a:p>
            <a:pPr marL="0" indent="0">
              <a:buNone/>
            </a:pPr>
            <a:r>
              <a:rPr lang="en-US" sz="1200" b="1" dirty="0">
                <a:solidFill>
                  <a:srgbClr val="E11D48"/>
                </a:solidFill>
                <a:latin typeface="Meiryo UI" pitchFamily="34" charset="0"/>
                <a:ea typeface="Meiryo UI" pitchFamily="34" charset="-122"/>
                <a:cs typeface="Meiryo UI" pitchFamily="34" charset="-120"/>
              </a:rPr>
              <a:t>After：Onevio 導入後</a:t>
            </a:r>
            <a:endParaRPr lang="en-US" sz="1200" dirty="0"/>
          </a:p>
        </p:txBody>
      </p:sp>
      <p:sp>
        <p:nvSpPr>
          <p:cNvPr id="37" name="Text 34"/>
          <p:cNvSpPr/>
          <p:nvPr/>
        </p:nvSpPr>
        <p:spPr>
          <a:xfrm>
            <a:off x="4800600" y="3291840"/>
            <a:ext cx="3840480" cy="1234440"/>
          </a:xfrm>
          <a:prstGeom prst="rect">
            <a:avLst/>
          </a:prstGeom>
          <a:noFill/>
          <a:ln/>
        </p:spPr>
        <p:txBody>
          <a:bodyPr wrap="square" lIns="0" tIns="0" rIns="0" bIns="0" rtlCol="0" anchor="t"/>
          <a:lstStyle/>
          <a:p>
            <a:pPr marL="0" indent="0">
              <a:spcAft>
                <a:spcPts val="400"/>
              </a:spcAft>
              <a:buNone/>
            </a:pPr>
            <a:r>
              <a:rPr lang="en-US" sz="1000" dirty="0">
                <a:solidFill>
                  <a:srgbClr val="1F2937"/>
                </a:solidFill>
                <a:latin typeface="Meiryo UI" pitchFamily="34" charset="0"/>
                <a:ea typeface="Meiryo UI" pitchFamily="34" charset="-122"/>
                <a:cs typeface="Meiryo UI" pitchFamily="34" charset="-120"/>
              </a:rPr>
              <a:t>• ORDIA が FAX/PDF/メール/Web 注文を AI 正規化し Onevio 受注DB へ
• ORDIAのRPAがメーカーサイトを品番で検索し、
在庫・出荷日を取得。不足分はDOG経由で仕入先発注を準備
• 納期回答ドラフトを自動生成、担当者は確認・送信のみ</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7132320" cy="502920"/>
          </a:xfrm>
          <a:prstGeom prst="rect">
            <a:avLst/>
          </a:prstGeom>
          <a:noFill/>
          <a:ln/>
        </p:spPr>
        <p:txBody>
          <a:bodyPr wrap="square" lIns="0" tIns="0" rIns="0" bIns="0" rtlCol="0" anchor="ctr"/>
          <a:lstStyle/>
          <a:p>
            <a:pPr marL="0" indent="0" algn="l">
              <a:buNone/>
            </a:pPr>
            <a:r>
              <a:rPr lang="en-US" sz="2200" b="1" dirty="0">
                <a:solidFill>
                  <a:srgbClr val="1E3A5F"/>
                </a:solidFill>
                <a:latin typeface="Meiryo UI" pitchFamily="34" charset="0"/>
                <a:ea typeface="Meiryo UI" pitchFamily="34" charset="-122"/>
                <a:cs typeface="Meiryo UI" pitchFamily="34" charset="-120"/>
              </a:rPr>
              <a:t>BPM・認定エリアパートナー制度（バイオ業界向け）</a:t>
            </a:r>
            <a:endParaRPr lang="en-US" sz="2200" dirty="0"/>
          </a:p>
        </p:txBody>
      </p:sp>
      <p:sp>
        <p:nvSpPr>
          <p:cNvPr id="3" name="Shape 1"/>
          <p:cNvSpPr/>
          <p:nvPr/>
        </p:nvSpPr>
        <p:spPr>
          <a:xfrm>
            <a:off x="365760" y="758952"/>
            <a:ext cx="8412480" cy="0"/>
          </a:xfrm>
          <a:prstGeom prst="line">
            <a:avLst/>
          </a:prstGeom>
          <a:noFill/>
          <a:ln w="6350">
            <a:solidFill>
              <a:srgbClr val="64748B"/>
            </a:solidFill>
            <a:prstDash val="solid"/>
          </a:ln>
        </p:spPr>
      </p:sp>
      <p:pic>
        <p:nvPicPr>
          <p:cNvPr id="4" name="Image 0" descr="preencoded.png"/>
          <p:cNvPicPr>
            <a:picLocks noChangeAspect="1"/>
          </p:cNvPicPr>
          <p:nvPr/>
        </p:nvPicPr>
        <p:blipFill>
          <a:blip r:embed="rId2"/>
          <a:stretch>
            <a:fillRect/>
          </a:stretch>
        </p:blipFill>
        <p:spPr>
          <a:xfrm>
            <a:off x="7680960" y="164592"/>
            <a:ext cx="1188720" cy="265176"/>
          </a:xfrm>
          <a:prstGeom prst="rect">
            <a:avLst/>
          </a:prstGeom>
        </p:spPr>
      </p:pic>
      <p:sp>
        <p:nvSpPr>
          <p:cNvPr id="5" name="Shape 2"/>
          <p:cNvSpPr/>
          <p:nvPr/>
        </p:nvSpPr>
        <p:spPr>
          <a:xfrm>
            <a:off x="0" y="4869180"/>
            <a:ext cx="9144000" cy="274320"/>
          </a:xfrm>
          <a:prstGeom prst="rect">
            <a:avLst/>
          </a:prstGeom>
          <a:solidFill>
            <a:srgbClr val="1CADE4"/>
          </a:solidFill>
          <a:ln/>
        </p:spPr>
      </p:sp>
      <p:sp>
        <p:nvSpPr>
          <p:cNvPr id="6" name="Text 3"/>
          <p:cNvSpPr/>
          <p:nvPr/>
        </p:nvSpPr>
        <p:spPr>
          <a:xfrm>
            <a:off x="457200" y="4869180"/>
            <a:ext cx="82296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Meiryo UI" pitchFamily="34" charset="0"/>
                <a:ea typeface="Meiryo UI" pitchFamily="34" charset="-122"/>
                <a:cs typeface="Meiryo UI" pitchFamily="34" charset="-120"/>
              </a:rPr>
              <a:t>Copyright© 2002-2026 SAGBRAIN Corp. All rights reserved.</a:t>
            </a:r>
            <a:endParaRPr lang="en-US" sz="900" dirty="0"/>
          </a:p>
        </p:txBody>
      </p:sp>
      <p:sp>
        <p:nvSpPr>
          <p:cNvPr id="7" name="Text 4"/>
          <p:cNvSpPr/>
          <p:nvPr/>
        </p:nvSpPr>
        <p:spPr>
          <a:xfrm>
            <a:off x="8503920" y="4869180"/>
            <a:ext cx="502920" cy="274320"/>
          </a:xfrm>
          <a:prstGeom prst="rect">
            <a:avLst/>
          </a:prstGeom>
          <a:noFill/>
          <a:ln/>
        </p:spPr>
        <p:txBody>
          <a:bodyPr wrap="square" lIns="0" tIns="0" rIns="0" bIns="0" rtlCol="0" anchor="ctr"/>
          <a:lstStyle/>
          <a:p>
            <a:pPr marL="0" indent="0" algn="r">
              <a:buNone/>
            </a:pPr>
            <a:r>
              <a:rPr lang="en-US" sz="1000" b="1" dirty="0">
                <a:solidFill>
                  <a:srgbClr val="FFFFFF"/>
                </a:solidFill>
                <a:latin typeface="Meiryo UI" pitchFamily="34" charset="0"/>
                <a:ea typeface="Meiryo UI" pitchFamily="34" charset="-122"/>
                <a:cs typeface="Meiryo UI" pitchFamily="34" charset="-120"/>
              </a:rPr>
              <a:t>14</a:t>
            </a:r>
            <a:endParaRPr lang="en-US" sz="1000" dirty="0"/>
          </a:p>
        </p:txBody>
      </p:sp>
      <p:sp>
        <p:nvSpPr>
          <p:cNvPr id="8" name="Text 5"/>
          <p:cNvSpPr/>
          <p:nvPr/>
        </p:nvSpPr>
        <p:spPr>
          <a:xfrm>
            <a:off x="365760" y="1097280"/>
            <a:ext cx="8412480" cy="256032"/>
          </a:xfrm>
          <a:prstGeom prst="rect">
            <a:avLst/>
          </a:prstGeom>
          <a:noFill/>
          <a:ln/>
        </p:spPr>
        <p:txBody>
          <a:bodyPr wrap="square" lIns="0" tIns="0" rIns="0" bIns="0" rtlCol="0" anchor="ctr"/>
          <a:lstStyle/>
          <a:p>
            <a:pPr marL="0" indent="0">
              <a:buNone/>
            </a:pPr>
            <a:r>
              <a:rPr lang="en-US" sz="1100" dirty="0">
                <a:solidFill>
                  <a:srgbClr val="1F2937"/>
                </a:solidFill>
                <a:latin typeface="Meiryo UI" pitchFamily="34" charset="0"/>
                <a:ea typeface="Meiryo UI" pitchFamily="34" charset="-122"/>
                <a:cs typeface="Meiryo UI" pitchFamily="34" charset="-120"/>
              </a:rPr>
              <a:t>研究室（大学・国研・製薬）の注文を、認定した理化学ディーラー（エリアパートナー）経由で自動受注。</a:t>
            </a:r>
            <a:endParaRPr lang="en-US" sz="1100" dirty="0"/>
          </a:p>
        </p:txBody>
      </p:sp>
      <p:sp>
        <p:nvSpPr>
          <p:cNvPr id="11" name="Text 7"/>
          <p:cNvSpPr/>
          <p:nvPr/>
        </p:nvSpPr>
        <p:spPr>
          <a:xfrm>
            <a:off x="365760" y="1371600"/>
            <a:ext cx="8412480" cy="237744"/>
          </a:xfrm>
          <a:prstGeom prst="rect">
            <a:avLst/>
          </a:prstGeom>
          <a:noFill/>
          <a:ln/>
        </p:spPr>
        <p:txBody>
          <a:bodyPr wrap="square" lIns="0" tIns="0" rIns="0" bIns="0" rtlCol="0" anchor="ctr"/>
          <a:lstStyle/>
          <a:p>
            <a:pPr marL="0" indent="0">
              <a:buNone/>
            </a:pPr>
            <a:r>
              <a:rPr lang="en-US" sz="1100" b="1" dirty="0">
                <a:solidFill>
                  <a:srgbClr val="2563EB"/>
                </a:solidFill>
                <a:latin typeface="Meiryo UI" pitchFamily="34" charset="0"/>
                <a:ea typeface="Meiryo UI" pitchFamily="34" charset="-122"/>
                <a:cs typeface="Meiryo UI" pitchFamily="34" charset="-120"/>
              </a:rPr>
              <a:t>BPM（エンドカスタマー連携・認定エリアパートナー制度）</a:t>
            </a:r>
            <a:endParaRPr lang="en-US" sz="1100" dirty="0"/>
          </a:p>
        </p:txBody>
      </p:sp>
      <p:graphicFrame>
        <p:nvGraphicFramePr>
          <p:cNvPr id="65" name="Table 1"/>
          <p:cNvGraphicFramePr>
            <a:graphicFrameLocks noGrp="1"/>
          </p:cNvGraphicFramePr>
          <p:nvPr>
            <p:extLst>
              <p:ext uri="{D42A27DB-BD31-4B8C-83A1-F6EECF244321}">
                <p14:modId xmlns:p14="http://schemas.microsoft.com/office/powerpoint/2010/main" val="1579011935"/>
              </p:ext>
            </p:extLst>
          </p:nvPr>
        </p:nvGraphicFramePr>
        <p:xfrm>
          <a:off x="365760" y="1627632"/>
          <a:ext cx="841248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256032">
                <a:tc>
                  <a:txBody>
                    <a:bodyPr/>
                    <a:lstStyle/>
                    <a:p>
                      <a:pPr marL="0" indent="0" algn="ctr">
                        <a:buNone/>
                      </a:pPr>
                      <a:r>
                        <a:rPr lang="en-US" sz="1000" b="1" dirty="0">
                          <a:solidFill>
                            <a:srgbClr val="FFFFFF"/>
                          </a:solidFill>
                          <a:latin typeface="Meiryo UI" pitchFamily="34" charset="0"/>
                          <a:ea typeface="Meiryo UI" pitchFamily="34" charset="-122"/>
                          <a:cs typeface="Meiryo UI" pitchFamily="34" charset="-120"/>
                        </a:rPr>
                        <a:t>プラン</a:t>
                      </a:r>
                      <a:endParaRPr lang="en-US" sz="100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marL="0" indent="0" algn="ctr">
                        <a:buNone/>
                      </a:pPr>
                      <a:r>
                        <a:rPr lang="en-US" sz="1000" b="1" dirty="0">
                          <a:solidFill>
                            <a:srgbClr val="FFFFFF"/>
                          </a:solidFill>
                          <a:latin typeface="Meiryo UI" pitchFamily="34" charset="0"/>
                          <a:ea typeface="Meiryo UI" pitchFamily="34" charset="-122"/>
                          <a:cs typeface="Meiryo UI" pitchFamily="34" charset="-120"/>
                        </a:rPr>
                        <a:t>価格</a:t>
                      </a:r>
                      <a:endParaRPr lang="en-US" sz="100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marL="0" indent="0" algn="ctr">
                        <a:buNone/>
                      </a:pPr>
                      <a:r>
                        <a:rPr lang="en-US" sz="1000" b="1" dirty="0">
                          <a:solidFill>
                            <a:srgbClr val="FFFFFF"/>
                          </a:solidFill>
                          <a:latin typeface="Meiryo UI" pitchFamily="34" charset="0"/>
                          <a:ea typeface="Meiryo UI" pitchFamily="34" charset="-122"/>
                          <a:cs typeface="Meiryo UI" pitchFamily="34" charset="-120"/>
                        </a:rPr>
                        <a:t>備考</a:t>
                      </a:r>
                      <a:endParaRPr lang="en-US" sz="100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420624">
                <a:tc>
                  <a:txBody>
                    <a:bodyPr/>
                    <a:lstStyle/>
                    <a:p>
                      <a:pPr marL="0" indent="0">
                        <a:buNone/>
                      </a:pPr>
                      <a:r>
                        <a:rPr lang="en-US" sz="950" dirty="0">
                          <a:solidFill>
                            <a:srgbClr val="1F2937"/>
                          </a:solidFill>
                          <a:latin typeface="Meiryo UI" pitchFamily="34" charset="0"/>
                          <a:ea typeface="Meiryo UI" pitchFamily="34" charset="-122"/>
                          <a:cs typeface="Meiryo UI" pitchFamily="34" charset="-120"/>
                        </a:rPr>
                        <a:t>エリアパートナー</a:t>
                      </a:r>
                      <a:endParaRPr lang="en-US" sz="95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1F2937"/>
                          </a:solidFill>
                          <a:latin typeface="Meiryo UI" pitchFamily="34" charset="0"/>
                          <a:ea typeface="Meiryo UI" pitchFamily="34" charset="-122"/>
                          <a:cs typeface="Meiryo UI" pitchFamily="34" charset="-120"/>
                        </a:rPr>
                        <a:t>1エリア目 30万円／月、2エリア目 15万円／月</a:t>
                      </a:r>
                      <a:endParaRPr lang="en-US" sz="950" dirty="0">
                        <a:latin typeface="Meiryo UI" charset="0"/>
                        <a:ea typeface="Meiryo UI" charset="0"/>
                        <a:cs typeface="Meiryo UI" charset="0"/>
                      </a:endParaRPr>
                    </a:p>
                    <a:p>
                      <a:pPr marL="0" indent="0">
                        <a:buNone/>
                      </a:pPr>
                      <a:r>
                        <a:rPr lang="en-US" sz="950" dirty="0">
                          <a:solidFill>
                            <a:srgbClr val="1F2937"/>
                          </a:solidFill>
                          <a:latin typeface="Meiryo UI" pitchFamily="34" charset="0"/>
                          <a:ea typeface="Meiryo UI" pitchFamily="34" charset="-122"/>
                          <a:cs typeface="Meiryo UI" pitchFamily="34" charset="-120"/>
                        </a:rPr>
                        <a:t>3エリア目以降 10万円／月</a:t>
                      </a:r>
                      <a:endParaRPr lang="en-US" sz="95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i="1" dirty="0">
                          <a:solidFill>
                            <a:srgbClr val="64748B"/>
                          </a:solidFill>
                          <a:latin typeface="Meiryo UI" pitchFamily="34" charset="0"/>
                          <a:ea typeface="Meiryo UI" pitchFamily="34" charset="-122"/>
                          <a:cs typeface="Meiryo UI" pitchFamily="34" charset="-120"/>
                        </a:rPr>
                        <a:t>都道府県単位の独占的利用権（認定制度）</a:t>
                      </a:r>
                      <a:endParaRPr lang="en-US" sz="90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marL="0" indent="0">
                        <a:buNone/>
                      </a:pPr>
                      <a:r>
                        <a:rPr lang="en-US" sz="950" dirty="0">
                          <a:solidFill>
                            <a:srgbClr val="1F2937"/>
                          </a:solidFill>
                          <a:latin typeface="Meiryo UI" pitchFamily="34" charset="0"/>
                          <a:ea typeface="Meiryo UI" pitchFamily="34" charset="-122"/>
                          <a:cs typeface="Meiryo UI" pitchFamily="34" charset="-120"/>
                        </a:rPr>
                        <a:t>BPM Lite</a:t>
                      </a:r>
                      <a:endParaRPr lang="en-US" sz="95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1F2937"/>
                          </a:solidFill>
                          <a:latin typeface="Meiryo UI" pitchFamily="34" charset="0"/>
                          <a:ea typeface="Meiryo UI" pitchFamily="34" charset="-122"/>
                          <a:cs typeface="Meiryo UI" pitchFamily="34" charset="-120"/>
                        </a:rPr>
                        <a:t>月額 1万円〜＋購買高 1%</a:t>
                      </a:r>
                      <a:endParaRPr lang="en-US" sz="95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i="1" dirty="0">
                          <a:solidFill>
                            <a:srgbClr val="64748B"/>
                          </a:solidFill>
                          <a:latin typeface="Meiryo UI" pitchFamily="34" charset="0"/>
                          <a:ea typeface="Meiryo UI" pitchFamily="34" charset="-122"/>
                          <a:cs typeface="Meiryo UI" pitchFamily="34" charset="-120"/>
                        </a:rPr>
                        <a:t>最大5機関のエンドカスタマーへ提供可</a:t>
                      </a:r>
                      <a:endParaRPr lang="en-US" sz="90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marL="0" indent="0">
                        <a:buNone/>
                      </a:pPr>
                      <a:r>
                        <a:rPr lang="en-US" sz="950" dirty="0">
                          <a:solidFill>
                            <a:srgbClr val="1F2937"/>
                          </a:solidFill>
                          <a:latin typeface="Meiryo UI" pitchFamily="34" charset="0"/>
                          <a:ea typeface="Meiryo UI" pitchFamily="34" charset="-122"/>
                          <a:cs typeface="Meiryo UI" pitchFamily="34" charset="-120"/>
                        </a:rPr>
                        <a:t>アカデミアプラン</a:t>
                      </a:r>
                      <a:endParaRPr lang="en-US" sz="95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1F2937"/>
                          </a:solidFill>
                          <a:latin typeface="Meiryo UI" pitchFamily="34" charset="0"/>
                          <a:ea typeface="Meiryo UI" pitchFamily="34" charset="-122"/>
                          <a:cs typeface="Meiryo UI" pitchFamily="34" charset="-120"/>
                        </a:rPr>
                        <a:t>購買高 1%</a:t>
                      </a:r>
                      <a:endParaRPr lang="en-US" sz="95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i="1" dirty="0">
                          <a:solidFill>
                            <a:srgbClr val="64748B"/>
                          </a:solidFill>
                          <a:latin typeface="Meiryo UI" pitchFamily="34" charset="0"/>
                          <a:ea typeface="Meiryo UI" pitchFamily="34" charset="-122"/>
                          <a:cs typeface="Meiryo UI" pitchFamily="34" charset="-120"/>
                        </a:rPr>
                        <a:t>エンドカスタマー主導（顧客が参加）</a:t>
                      </a:r>
                      <a:endParaRPr lang="en-US" sz="90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37744">
                <a:tc>
                  <a:txBody>
                    <a:bodyPr/>
                    <a:lstStyle/>
                    <a:p>
                      <a:pPr marL="0" indent="0">
                        <a:buNone/>
                      </a:pPr>
                      <a:r>
                        <a:rPr lang="en-US" sz="950" dirty="0">
                          <a:solidFill>
                            <a:srgbClr val="1F2937"/>
                          </a:solidFill>
                          <a:latin typeface="Meiryo UI" pitchFamily="34" charset="0"/>
                          <a:ea typeface="Meiryo UI" pitchFamily="34" charset="-122"/>
                          <a:cs typeface="Meiryo UI" pitchFamily="34" charset="-120"/>
                        </a:rPr>
                        <a:t>パンチアウト接続</a:t>
                      </a:r>
                      <a:endParaRPr lang="en-US" sz="95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1F2937"/>
                          </a:solidFill>
                          <a:latin typeface="Meiryo UI" pitchFamily="34" charset="0"/>
                          <a:ea typeface="Meiryo UI" pitchFamily="34" charset="-122"/>
                          <a:cs typeface="Meiryo UI" pitchFamily="34" charset="-120"/>
                        </a:rPr>
                        <a:t>1接続 30万円〜</a:t>
                      </a:r>
                      <a:endParaRPr lang="en-US" sz="95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i="1" dirty="0">
                          <a:solidFill>
                            <a:srgbClr val="64748B"/>
                          </a:solidFill>
                          <a:latin typeface="Meiryo UI" pitchFamily="34" charset="0"/>
                          <a:ea typeface="Meiryo UI" pitchFamily="34" charset="-122"/>
                          <a:cs typeface="Meiryo UI" pitchFamily="34" charset="-120"/>
                        </a:rPr>
                        <a:t>セットアップ費用（接続先の顧客法人単位）</a:t>
                      </a:r>
                      <a:endParaRPr lang="en-US" sz="900" dirty="0">
                        <a:latin typeface="Meiryo UI" charset="0"/>
                        <a:ea typeface="Meiryo UI" charset="0"/>
                        <a:cs typeface="Meiryo U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Text 8"/>
          <p:cNvSpPr/>
          <p:nvPr/>
        </p:nvSpPr>
        <p:spPr>
          <a:xfrm>
            <a:off x="365760" y="4572000"/>
            <a:ext cx="8412480" cy="201168"/>
          </a:xfrm>
          <a:prstGeom prst="rect">
            <a:avLst/>
          </a:prstGeom>
          <a:noFill/>
          <a:ln/>
        </p:spPr>
        <p:txBody>
          <a:bodyPr wrap="square" lIns="0" tIns="0" rIns="0" bIns="0" rtlCol="0" anchor="ctr"/>
          <a:lstStyle/>
          <a:p>
            <a:pPr marL="0" indent="0" algn="ctr">
              <a:buNone/>
            </a:pPr>
            <a:r>
              <a:rPr lang="en-US" sz="950" dirty="0">
                <a:solidFill>
                  <a:srgbClr val="64748B"/>
                </a:solidFill>
                <a:latin typeface="Meiryo UI" pitchFamily="34" charset="0"/>
                <a:ea typeface="Meiryo UI" pitchFamily="34" charset="-122"/>
                <a:cs typeface="Meiryo UI" pitchFamily="34" charset="-120"/>
              </a:rPr>
              <a:t>※ プラットフォーム共通の基盤料金はかかりません。料金は各モジュール単位。価格は税別。最終はお見積もりにて。</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7132320" cy="502920"/>
          </a:xfrm>
          <a:prstGeom prst="rect">
            <a:avLst/>
          </a:prstGeom>
          <a:noFill/>
          <a:ln/>
        </p:spPr>
        <p:txBody>
          <a:bodyPr wrap="square" lIns="0" tIns="0" rIns="0" bIns="0" rtlCol="0" anchor="ctr"/>
          <a:lstStyle/>
          <a:p>
            <a:pPr marL="0" indent="0" algn="l">
              <a:buNone/>
            </a:pPr>
            <a:r>
              <a:rPr lang="en-US" sz="2200" b="1" dirty="0">
                <a:solidFill>
                  <a:srgbClr val="1E3A5F"/>
                </a:solidFill>
                <a:latin typeface="Meiryo UI" pitchFamily="34" charset="0"/>
                <a:ea typeface="Meiryo UI" pitchFamily="34" charset="-122"/>
                <a:cs typeface="Meiryo UI" pitchFamily="34" charset="-120"/>
              </a:rPr>
              <a:t>会社紹介・お問い合わせ</a:t>
            </a:r>
            <a:endParaRPr lang="en-US" sz="2200" dirty="0"/>
          </a:p>
        </p:txBody>
      </p:sp>
      <p:sp>
        <p:nvSpPr>
          <p:cNvPr id="3" name="Shape 1"/>
          <p:cNvSpPr/>
          <p:nvPr/>
        </p:nvSpPr>
        <p:spPr>
          <a:xfrm>
            <a:off x="365760" y="758952"/>
            <a:ext cx="8412480" cy="0"/>
          </a:xfrm>
          <a:prstGeom prst="line">
            <a:avLst/>
          </a:prstGeom>
          <a:noFill/>
          <a:ln w="6350">
            <a:solidFill>
              <a:srgbClr val="64748B"/>
            </a:solidFill>
            <a:prstDash val="solid"/>
          </a:ln>
        </p:spPr>
      </p:sp>
      <p:pic>
        <p:nvPicPr>
          <p:cNvPr id="4" name="Image 0" descr="preencoded.png"/>
          <p:cNvPicPr>
            <a:picLocks noChangeAspect="1"/>
          </p:cNvPicPr>
          <p:nvPr/>
        </p:nvPicPr>
        <p:blipFill>
          <a:blip r:embed="rId3"/>
          <a:stretch>
            <a:fillRect/>
          </a:stretch>
        </p:blipFill>
        <p:spPr>
          <a:xfrm>
            <a:off x="7680960" y="164592"/>
            <a:ext cx="1188720" cy="265176"/>
          </a:xfrm>
          <a:prstGeom prst="rect">
            <a:avLst/>
          </a:prstGeom>
        </p:spPr>
      </p:pic>
      <p:sp>
        <p:nvSpPr>
          <p:cNvPr id="5" name="Shape 2"/>
          <p:cNvSpPr/>
          <p:nvPr/>
        </p:nvSpPr>
        <p:spPr>
          <a:xfrm>
            <a:off x="0" y="4869180"/>
            <a:ext cx="9144000" cy="274320"/>
          </a:xfrm>
          <a:prstGeom prst="rect">
            <a:avLst/>
          </a:prstGeom>
          <a:solidFill>
            <a:srgbClr val="1CADE4"/>
          </a:solidFill>
          <a:ln/>
        </p:spPr>
      </p:sp>
      <p:sp>
        <p:nvSpPr>
          <p:cNvPr id="6" name="Text 3"/>
          <p:cNvSpPr/>
          <p:nvPr/>
        </p:nvSpPr>
        <p:spPr>
          <a:xfrm>
            <a:off x="457200" y="4869180"/>
            <a:ext cx="82296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Meiryo UI" pitchFamily="34" charset="0"/>
                <a:ea typeface="Meiryo UI" pitchFamily="34" charset="-122"/>
                <a:cs typeface="Meiryo UI" pitchFamily="34" charset="-120"/>
              </a:rPr>
              <a:t>Copyright© 2002-2026 SAGBRAIN Corp. All rights reserved.</a:t>
            </a:r>
            <a:endParaRPr lang="en-US" sz="900" dirty="0"/>
          </a:p>
        </p:txBody>
      </p:sp>
      <p:sp>
        <p:nvSpPr>
          <p:cNvPr id="7" name="Text 4"/>
          <p:cNvSpPr/>
          <p:nvPr/>
        </p:nvSpPr>
        <p:spPr>
          <a:xfrm>
            <a:off x="8503920" y="4869180"/>
            <a:ext cx="502920" cy="274320"/>
          </a:xfrm>
          <a:prstGeom prst="rect">
            <a:avLst/>
          </a:prstGeom>
          <a:noFill/>
          <a:ln/>
        </p:spPr>
        <p:txBody>
          <a:bodyPr wrap="square" lIns="0" tIns="0" rIns="0" bIns="0" rtlCol="0" anchor="ctr"/>
          <a:lstStyle/>
          <a:p>
            <a:pPr marL="0" indent="0" algn="r">
              <a:buNone/>
            </a:pPr>
            <a:r>
              <a:rPr lang="en-US" sz="1000" b="1" dirty="0">
                <a:solidFill>
                  <a:srgbClr val="FFFFFF"/>
                </a:solidFill>
                <a:latin typeface="Meiryo UI" pitchFamily="34" charset="0"/>
                <a:ea typeface="Meiryo UI" pitchFamily="34" charset="-122"/>
                <a:cs typeface="Meiryo UI" pitchFamily="34" charset="-120"/>
              </a:rPr>
              <a:t>15</a:t>
            </a:r>
            <a:endParaRPr lang="en-US" sz="1000" dirty="0"/>
          </a:p>
        </p:txBody>
      </p:sp>
      <p:sp>
        <p:nvSpPr>
          <p:cNvPr id="8" name="Shape 5"/>
          <p:cNvSpPr/>
          <p:nvPr/>
        </p:nvSpPr>
        <p:spPr>
          <a:xfrm>
            <a:off x="365760" y="1097280"/>
            <a:ext cx="4846320" cy="3520440"/>
          </a:xfrm>
          <a:prstGeom prst="rect">
            <a:avLst/>
          </a:prstGeom>
          <a:solidFill>
            <a:srgbClr val="F8FAFC"/>
          </a:solidFill>
          <a:ln w="9525">
            <a:solidFill>
              <a:srgbClr val="E2E8F0"/>
            </a:solidFill>
            <a:prstDash val="solid"/>
          </a:ln>
        </p:spPr>
      </p:sp>
      <p:sp>
        <p:nvSpPr>
          <p:cNvPr id="9" name="Text 6"/>
          <p:cNvSpPr/>
          <p:nvPr/>
        </p:nvSpPr>
        <p:spPr>
          <a:xfrm>
            <a:off x="548640" y="1188720"/>
            <a:ext cx="4572000" cy="365760"/>
          </a:xfrm>
          <a:prstGeom prst="rect">
            <a:avLst/>
          </a:prstGeom>
          <a:noFill/>
          <a:ln/>
        </p:spPr>
        <p:txBody>
          <a:bodyPr wrap="square" lIns="0" tIns="0" rIns="0" bIns="0" rtlCol="0" anchor="ctr"/>
          <a:lstStyle/>
          <a:p>
            <a:pPr marL="0" indent="0">
              <a:buNone/>
            </a:pPr>
            <a:r>
              <a:rPr lang="en-US" sz="1800" b="1" dirty="0">
                <a:solidFill>
                  <a:srgbClr val="1E3A5F"/>
                </a:solidFill>
                <a:latin typeface="Meiryo UI" pitchFamily="34" charset="0"/>
                <a:ea typeface="Meiryo UI" pitchFamily="34" charset="-122"/>
                <a:cs typeface="Meiryo UI" pitchFamily="34" charset="-120"/>
              </a:rPr>
              <a:t>株式会社サグブレイン</a:t>
            </a:r>
            <a:endParaRPr lang="en-US" sz="1800" dirty="0"/>
          </a:p>
        </p:txBody>
      </p:sp>
      <p:sp>
        <p:nvSpPr>
          <p:cNvPr id="10" name="Text 7"/>
          <p:cNvSpPr/>
          <p:nvPr/>
        </p:nvSpPr>
        <p:spPr>
          <a:xfrm>
            <a:off x="548640" y="1554480"/>
            <a:ext cx="4572000" cy="228600"/>
          </a:xfrm>
          <a:prstGeom prst="rect">
            <a:avLst/>
          </a:prstGeom>
          <a:noFill/>
          <a:ln/>
        </p:spPr>
        <p:txBody>
          <a:bodyPr wrap="square" lIns="0" tIns="0" rIns="0" bIns="0" rtlCol="0" anchor="ctr"/>
          <a:lstStyle/>
          <a:p>
            <a:pPr marL="0" indent="0">
              <a:buNone/>
            </a:pPr>
            <a:r>
              <a:rPr lang="en-US" sz="1000" i="1" dirty="0">
                <a:solidFill>
                  <a:srgbClr val="64748B"/>
                </a:solidFill>
                <a:latin typeface="Meiryo UI" pitchFamily="34" charset="0"/>
                <a:ea typeface="Meiryo UI" pitchFamily="34" charset="-122"/>
                <a:cs typeface="Meiryo UI" pitchFamily="34" charset="-120"/>
              </a:rPr>
              <a:t>SAGBRAIN CORPORATION</a:t>
            </a:r>
            <a:endParaRPr lang="en-US" sz="1000" dirty="0"/>
          </a:p>
        </p:txBody>
      </p:sp>
      <p:sp>
        <p:nvSpPr>
          <p:cNvPr id="11" name="Text 8"/>
          <p:cNvSpPr/>
          <p:nvPr/>
        </p:nvSpPr>
        <p:spPr>
          <a:xfrm>
            <a:off x="548640" y="1828800"/>
            <a:ext cx="1188720" cy="274320"/>
          </a:xfrm>
          <a:prstGeom prst="rect">
            <a:avLst/>
          </a:prstGeom>
          <a:noFill/>
          <a:ln/>
        </p:spPr>
        <p:txBody>
          <a:bodyPr wrap="square" lIns="0" tIns="0" rIns="0" bIns="0" rtlCol="0" anchor="t"/>
          <a:lstStyle/>
          <a:p>
            <a:pPr marL="0" indent="0">
              <a:buNone/>
            </a:pPr>
            <a:r>
              <a:rPr lang="en-US" sz="900" b="1" dirty="0">
                <a:solidFill>
                  <a:srgbClr val="2563EB"/>
                </a:solidFill>
                <a:latin typeface="Meiryo UI" pitchFamily="34" charset="0"/>
                <a:ea typeface="Meiryo UI" pitchFamily="34" charset="-122"/>
                <a:cs typeface="Meiryo UI" pitchFamily="34" charset="-120"/>
              </a:rPr>
              <a:t>代表取締役</a:t>
            </a:r>
            <a:endParaRPr lang="en-US" sz="900" dirty="0"/>
          </a:p>
        </p:txBody>
      </p:sp>
      <p:sp>
        <p:nvSpPr>
          <p:cNvPr id="12" name="Text 9"/>
          <p:cNvSpPr/>
          <p:nvPr/>
        </p:nvSpPr>
        <p:spPr>
          <a:xfrm>
            <a:off x="1737360" y="1828800"/>
            <a:ext cx="3383280" cy="274320"/>
          </a:xfrm>
          <a:prstGeom prst="rect">
            <a:avLst/>
          </a:prstGeom>
          <a:noFill/>
          <a:ln/>
        </p:spPr>
        <p:txBody>
          <a:bodyPr wrap="square" lIns="0" tIns="0" rIns="0" bIns="0" rtlCol="0" anchor="t"/>
          <a:lstStyle/>
          <a:p>
            <a:pPr marL="0" indent="0">
              <a:buNone/>
            </a:pPr>
            <a:r>
              <a:rPr lang="en-US" sz="950" dirty="0">
                <a:solidFill>
                  <a:srgbClr val="1F2937"/>
                </a:solidFill>
                <a:latin typeface="Meiryo UI" pitchFamily="34" charset="0"/>
                <a:ea typeface="Meiryo UI" pitchFamily="34" charset="-122"/>
                <a:cs typeface="Meiryo UI" pitchFamily="34" charset="-120"/>
              </a:rPr>
              <a:t>相楽 賢哉</a:t>
            </a:r>
            <a:endParaRPr lang="en-US" sz="950" dirty="0"/>
          </a:p>
        </p:txBody>
      </p:sp>
      <p:sp>
        <p:nvSpPr>
          <p:cNvPr id="13" name="Text 10"/>
          <p:cNvSpPr/>
          <p:nvPr/>
        </p:nvSpPr>
        <p:spPr>
          <a:xfrm>
            <a:off x="548640" y="2103120"/>
            <a:ext cx="1188720" cy="502920"/>
          </a:xfrm>
          <a:prstGeom prst="rect">
            <a:avLst/>
          </a:prstGeom>
          <a:noFill/>
          <a:ln/>
        </p:spPr>
        <p:txBody>
          <a:bodyPr wrap="square" lIns="0" tIns="0" rIns="0" bIns="0" rtlCol="0" anchor="t"/>
          <a:lstStyle/>
          <a:p>
            <a:pPr marL="0" indent="0">
              <a:buNone/>
            </a:pPr>
            <a:r>
              <a:rPr lang="en-US" sz="900" b="1" dirty="0">
                <a:solidFill>
                  <a:srgbClr val="2563EB"/>
                </a:solidFill>
                <a:latin typeface="Meiryo UI" pitchFamily="34" charset="0"/>
                <a:ea typeface="Meiryo UI" pitchFamily="34" charset="-122"/>
                <a:cs typeface="Meiryo UI" pitchFamily="34" charset="-120"/>
              </a:rPr>
              <a:t>本社所在地</a:t>
            </a:r>
            <a:endParaRPr lang="en-US" sz="900" dirty="0"/>
          </a:p>
        </p:txBody>
      </p:sp>
      <p:sp>
        <p:nvSpPr>
          <p:cNvPr id="14" name="Text 11"/>
          <p:cNvSpPr/>
          <p:nvPr/>
        </p:nvSpPr>
        <p:spPr>
          <a:xfrm>
            <a:off x="1737360" y="2103120"/>
            <a:ext cx="3383280" cy="502920"/>
          </a:xfrm>
          <a:prstGeom prst="rect">
            <a:avLst/>
          </a:prstGeom>
          <a:noFill/>
          <a:ln/>
        </p:spPr>
        <p:txBody>
          <a:bodyPr wrap="square" lIns="0" tIns="0" rIns="0" bIns="0" rtlCol="0" anchor="t"/>
          <a:lstStyle/>
          <a:p>
            <a:pPr marL="0" indent="0">
              <a:buNone/>
            </a:pPr>
            <a:r>
              <a:rPr lang="en-US" sz="950" dirty="0">
                <a:solidFill>
                  <a:srgbClr val="1F2937"/>
                </a:solidFill>
                <a:latin typeface="Meiryo UI" pitchFamily="34" charset="0"/>
                <a:ea typeface="Meiryo UI" pitchFamily="34" charset="-122"/>
                <a:cs typeface="Meiryo UI" pitchFamily="34" charset="-120"/>
              </a:rPr>
              <a:t>〒135-0034</a:t>
            </a:r>
            <a:endParaRPr lang="en-US" sz="950" dirty="0"/>
          </a:p>
          <a:p>
            <a:pPr marL="0" indent="0">
              <a:buNone/>
            </a:pPr>
            <a:r>
              <a:rPr lang="en-US" sz="950" dirty="0">
                <a:solidFill>
                  <a:srgbClr val="1F2937"/>
                </a:solidFill>
                <a:latin typeface="Meiryo UI" pitchFamily="34" charset="0"/>
                <a:ea typeface="Meiryo UI" pitchFamily="34" charset="-122"/>
                <a:cs typeface="Meiryo UI" pitchFamily="34" charset="-120"/>
              </a:rPr>
              <a:t>東京都江東区永代2-31-15 ベルウッド永代ビル5階</a:t>
            </a:r>
            <a:endParaRPr lang="en-US" sz="950" dirty="0"/>
          </a:p>
        </p:txBody>
      </p:sp>
      <p:sp>
        <p:nvSpPr>
          <p:cNvPr id="15" name="Text 12"/>
          <p:cNvSpPr/>
          <p:nvPr/>
        </p:nvSpPr>
        <p:spPr>
          <a:xfrm>
            <a:off x="548640" y="2606040"/>
            <a:ext cx="1188720" cy="274320"/>
          </a:xfrm>
          <a:prstGeom prst="rect">
            <a:avLst/>
          </a:prstGeom>
          <a:noFill/>
          <a:ln/>
        </p:spPr>
        <p:txBody>
          <a:bodyPr wrap="square" lIns="0" tIns="0" rIns="0" bIns="0" rtlCol="0" anchor="t"/>
          <a:lstStyle/>
          <a:p>
            <a:pPr marL="0" indent="0">
              <a:buNone/>
            </a:pPr>
            <a:r>
              <a:rPr lang="en-US" sz="900" b="1" dirty="0">
                <a:solidFill>
                  <a:srgbClr val="2563EB"/>
                </a:solidFill>
                <a:latin typeface="Meiryo UI" pitchFamily="34" charset="0"/>
                <a:ea typeface="Meiryo UI" pitchFamily="34" charset="-122"/>
                <a:cs typeface="Meiryo UI" pitchFamily="34" charset="-120"/>
              </a:rPr>
              <a:t>TEL</a:t>
            </a:r>
            <a:endParaRPr lang="en-US" sz="900" dirty="0"/>
          </a:p>
        </p:txBody>
      </p:sp>
      <p:sp>
        <p:nvSpPr>
          <p:cNvPr id="16" name="Text 13"/>
          <p:cNvSpPr/>
          <p:nvPr/>
        </p:nvSpPr>
        <p:spPr>
          <a:xfrm>
            <a:off x="1737360" y="2606040"/>
            <a:ext cx="3383280" cy="274320"/>
          </a:xfrm>
          <a:prstGeom prst="rect">
            <a:avLst/>
          </a:prstGeom>
          <a:noFill/>
          <a:ln/>
        </p:spPr>
        <p:txBody>
          <a:bodyPr wrap="square" lIns="0" tIns="0" rIns="0" bIns="0" rtlCol="0" anchor="t"/>
          <a:lstStyle/>
          <a:p>
            <a:pPr marL="0" indent="0">
              <a:buNone/>
            </a:pPr>
            <a:r>
              <a:rPr lang="en-US" sz="950" dirty="0">
                <a:solidFill>
                  <a:srgbClr val="1F2937"/>
                </a:solidFill>
                <a:latin typeface="Meiryo UI" pitchFamily="34" charset="0"/>
                <a:ea typeface="Meiryo UI" pitchFamily="34" charset="-122"/>
                <a:cs typeface="Meiryo UI" pitchFamily="34" charset="-120"/>
              </a:rPr>
              <a:t>03-6661-3300</a:t>
            </a:r>
            <a:endParaRPr lang="en-US" sz="950" dirty="0"/>
          </a:p>
        </p:txBody>
      </p:sp>
      <p:sp>
        <p:nvSpPr>
          <p:cNvPr id="17" name="Text 14"/>
          <p:cNvSpPr/>
          <p:nvPr/>
        </p:nvSpPr>
        <p:spPr>
          <a:xfrm>
            <a:off x="548640" y="2880360"/>
            <a:ext cx="1188720" cy="274320"/>
          </a:xfrm>
          <a:prstGeom prst="rect">
            <a:avLst/>
          </a:prstGeom>
          <a:noFill/>
          <a:ln/>
        </p:spPr>
        <p:txBody>
          <a:bodyPr wrap="square" lIns="0" tIns="0" rIns="0" bIns="0" rtlCol="0" anchor="t"/>
          <a:lstStyle/>
          <a:p>
            <a:pPr marL="0" indent="0">
              <a:buNone/>
            </a:pPr>
            <a:r>
              <a:rPr lang="en-US" sz="900" b="1" dirty="0">
                <a:solidFill>
                  <a:srgbClr val="2563EB"/>
                </a:solidFill>
                <a:latin typeface="Meiryo UI" pitchFamily="34" charset="0"/>
                <a:ea typeface="Meiryo UI" pitchFamily="34" charset="-122"/>
                <a:cs typeface="Meiryo UI" pitchFamily="34" charset="-120"/>
              </a:rPr>
              <a:t>事業開始</a:t>
            </a:r>
            <a:endParaRPr lang="en-US" sz="900" dirty="0"/>
          </a:p>
        </p:txBody>
      </p:sp>
      <p:sp>
        <p:nvSpPr>
          <p:cNvPr id="18" name="Text 15"/>
          <p:cNvSpPr/>
          <p:nvPr/>
        </p:nvSpPr>
        <p:spPr>
          <a:xfrm>
            <a:off x="1737360" y="2880360"/>
            <a:ext cx="3383280" cy="274320"/>
          </a:xfrm>
          <a:prstGeom prst="rect">
            <a:avLst/>
          </a:prstGeom>
          <a:noFill/>
          <a:ln/>
        </p:spPr>
        <p:txBody>
          <a:bodyPr wrap="square" lIns="0" tIns="0" rIns="0" bIns="0" rtlCol="0" anchor="t"/>
          <a:lstStyle/>
          <a:p>
            <a:pPr marL="0" indent="0">
              <a:buNone/>
            </a:pPr>
            <a:r>
              <a:rPr lang="en-US" sz="950" dirty="0">
                <a:solidFill>
                  <a:srgbClr val="1F2937"/>
                </a:solidFill>
                <a:latin typeface="Meiryo UI" pitchFamily="34" charset="0"/>
                <a:ea typeface="Meiryo UI" pitchFamily="34" charset="-122"/>
                <a:cs typeface="Meiryo UI" pitchFamily="34" charset="-120"/>
              </a:rPr>
              <a:t>2002年10月1日</a:t>
            </a:r>
            <a:endParaRPr lang="en-US" sz="950" dirty="0"/>
          </a:p>
        </p:txBody>
      </p:sp>
      <p:sp>
        <p:nvSpPr>
          <p:cNvPr id="19" name="Text 16"/>
          <p:cNvSpPr/>
          <p:nvPr/>
        </p:nvSpPr>
        <p:spPr>
          <a:xfrm>
            <a:off x="548640" y="3154680"/>
            <a:ext cx="1188720" cy="274320"/>
          </a:xfrm>
          <a:prstGeom prst="rect">
            <a:avLst/>
          </a:prstGeom>
          <a:noFill/>
          <a:ln/>
        </p:spPr>
        <p:txBody>
          <a:bodyPr wrap="square" lIns="0" tIns="0" rIns="0" bIns="0" rtlCol="0" anchor="t"/>
          <a:lstStyle/>
          <a:p>
            <a:pPr marL="0" indent="0">
              <a:buNone/>
            </a:pPr>
            <a:r>
              <a:rPr lang="en-US" sz="900" b="1" dirty="0">
                <a:solidFill>
                  <a:srgbClr val="2563EB"/>
                </a:solidFill>
                <a:latin typeface="Meiryo UI" pitchFamily="34" charset="0"/>
                <a:ea typeface="Meiryo UI" pitchFamily="34" charset="-122"/>
                <a:cs typeface="Meiryo UI" pitchFamily="34" charset="-120"/>
              </a:rPr>
              <a:t>資本金</a:t>
            </a:r>
            <a:endParaRPr lang="en-US" sz="900" dirty="0"/>
          </a:p>
        </p:txBody>
      </p:sp>
      <p:sp>
        <p:nvSpPr>
          <p:cNvPr id="20" name="Text 17"/>
          <p:cNvSpPr/>
          <p:nvPr/>
        </p:nvSpPr>
        <p:spPr>
          <a:xfrm>
            <a:off x="1737360" y="3154680"/>
            <a:ext cx="3383280" cy="274320"/>
          </a:xfrm>
          <a:prstGeom prst="rect">
            <a:avLst/>
          </a:prstGeom>
          <a:noFill/>
          <a:ln/>
        </p:spPr>
        <p:txBody>
          <a:bodyPr wrap="square" lIns="0" tIns="0" rIns="0" bIns="0" rtlCol="0" anchor="t"/>
          <a:lstStyle/>
          <a:p>
            <a:pPr marL="0" indent="0">
              <a:buNone/>
            </a:pPr>
            <a:r>
              <a:rPr lang="en-US" sz="950" dirty="0">
                <a:solidFill>
                  <a:srgbClr val="1F2937"/>
                </a:solidFill>
                <a:latin typeface="Meiryo UI" pitchFamily="34" charset="0"/>
                <a:ea typeface="Meiryo UI" pitchFamily="34" charset="-122"/>
                <a:cs typeface="Meiryo UI" pitchFamily="34" charset="-120"/>
              </a:rPr>
              <a:t>20,000,000円</a:t>
            </a:r>
            <a:endParaRPr lang="en-US" sz="950" dirty="0"/>
          </a:p>
        </p:txBody>
      </p:sp>
      <p:sp>
        <p:nvSpPr>
          <p:cNvPr id="21" name="Text 18"/>
          <p:cNvSpPr/>
          <p:nvPr/>
        </p:nvSpPr>
        <p:spPr>
          <a:xfrm>
            <a:off x="548640" y="3429000"/>
            <a:ext cx="1188720" cy="274320"/>
          </a:xfrm>
          <a:prstGeom prst="rect">
            <a:avLst/>
          </a:prstGeom>
          <a:noFill/>
          <a:ln/>
        </p:spPr>
        <p:txBody>
          <a:bodyPr wrap="square" lIns="0" tIns="0" rIns="0" bIns="0" rtlCol="0" anchor="t"/>
          <a:lstStyle/>
          <a:p>
            <a:pPr marL="0" indent="0">
              <a:buNone/>
            </a:pPr>
            <a:r>
              <a:rPr lang="en-US" sz="900" b="1" dirty="0">
                <a:solidFill>
                  <a:srgbClr val="2563EB"/>
                </a:solidFill>
                <a:latin typeface="Meiryo UI" pitchFamily="34" charset="0"/>
                <a:ea typeface="Meiryo UI" pitchFamily="34" charset="-122"/>
                <a:cs typeface="Meiryo UI" pitchFamily="34" charset="-120"/>
              </a:rPr>
              <a:t>ミッション</a:t>
            </a:r>
            <a:endParaRPr lang="en-US" sz="900" dirty="0"/>
          </a:p>
        </p:txBody>
      </p:sp>
      <p:sp>
        <p:nvSpPr>
          <p:cNvPr id="22" name="Text 19"/>
          <p:cNvSpPr/>
          <p:nvPr/>
        </p:nvSpPr>
        <p:spPr>
          <a:xfrm>
            <a:off x="1737360" y="3429000"/>
            <a:ext cx="3383280" cy="274320"/>
          </a:xfrm>
          <a:prstGeom prst="rect">
            <a:avLst/>
          </a:prstGeom>
          <a:noFill/>
          <a:ln/>
        </p:spPr>
        <p:txBody>
          <a:bodyPr wrap="square" lIns="0" tIns="0" rIns="0" bIns="0" rtlCol="0" anchor="t"/>
          <a:lstStyle/>
          <a:p>
            <a:pPr marL="0" indent="0">
              <a:buNone/>
            </a:pPr>
            <a:r>
              <a:rPr lang="en-US" sz="950" dirty="0">
                <a:solidFill>
                  <a:srgbClr val="1F2937"/>
                </a:solidFill>
                <a:latin typeface="Meiryo UI" pitchFamily="34" charset="0"/>
                <a:ea typeface="Meiryo UI" pitchFamily="34" charset="-122"/>
                <a:cs typeface="Meiryo UI" pitchFamily="34" charset="-120"/>
              </a:rPr>
              <a:t>日本の基礎研究を世界の力へ</a:t>
            </a:r>
            <a:endParaRPr lang="en-US" sz="950" dirty="0"/>
          </a:p>
        </p:txBody>
      </p:sp>
      <p:sp>
        <p:nvSpPr>
          <p:cNvPr id="23" name="Text 20"/>
          <p:cNvSpPr/>
          <p:nvPr/>
        </p:nvSpPr>
        <p:spPr>
          <a:xfrm>
            <a:off x="548640" y="3703320"/>
            <a:ext cx="1188720" cy="329184"/>
          </a:xfrm>
          <a:prstGeom prst="rect">
            <a:avLst/>
          </a:prstGeom>
          <a:noFill/>
          <a:ln/>
        </p:spPr>
        <p:txBody>
          <a:bodyPr wrap="square" lIns="0" tIns="0" rIns="0" bIns="0" rtlCol="0" anchor="t"/>
          <a:lstStyle/>
          <a:p>
            <a:pPr marL="0" indent="0">
              <a:buNone/>
            </a:pPr>
            <a:r>
              <a:rPr lang="en-US" sz="900" b="1" dirty="0">
                <a:solidFill>
                  <a:srgbClr val="2563EB"/>
                </a:solidFill>
                <a:latin typeface="Meiryo UI" pitchFamily="34" charset="0"/>
                <a:ea typeface="Meiryo UI" pitchFamily="34" charset="-122"/>
                <a:cs typeface="Meiryo UI" pitchFamily="34" charset="-120"/>
              </a:rPr>
              <a:t>ビジョン</a:t>
            </a:r>
            <a:endParaRPr lang="en-US" sz="900" dirty="0"/>
          </a:p>
        </p:txBody>
      </p:sp>
      <p:sp>
        <p:nvSpPr>
          <p:cNvPr id="24" name="Text 21"/>
          <p:cNvSpPr/>
          <p:nvPr/>
        </p:nvSpPr>
        <p:spPr>
          <a:xfrm>
            <a:off x="1737360" y="3703320"/>
            <a:ext cx="3383280" cy="329184"/>
          </a:xfrm>
          <a:prstGeom prst="rect">
            <a:avLst/>
          </a:prstGeom>
          <a:noFill/>
          <a:ln/>
        </p:spPr>
        <p:txBody>
          <a:bodyPr wrap="square" lIns="0" tIns="0" rIns="0" bIns="0" rtlCol="0" anchor="t"/>
          <a:lstStyle/>
          <a:p>
            <a:pPr marL="0" indent="0">
              <a:buNone/>
            </a:pPr>
            <a:r>
              <a:rPr lang="en-US" sz="950" dirty="0">
                <a:solidFill>
                  <a:srgbClr val="1F2937"/>
                </a:solidFill>
                <a:latin typeface="Meiryo UI" pitchFamily="34" charset="0"/>
                <a:ea typeface="Meiryo UI" pitchFamily="34" charset="-122"/>
                <a:cs typeface="Meiryo UI" pitchFamily="34" charset="-120"/>
              </a:rPr>
              <a:t>ITでバイオサイエンス業界の持続的成長を促進する</a:t>
            </a:r>
            <a:endParaRPr lang="en-US" sz="950" dirty="0"/>
          </a:p>
        </p:txBody>
      </p:sp>
      <p:sp>
        <p:nvSpPr>
          <p:cNvPr id="25" name="Text 22"/>
          <p:cNvSpPr/>
          <p:nvPr/>
        </p:nvSpPr>
        <p:spPr>
          <a:xfrm>
            <a:off x="548640" y="4032504"/>
            <a:ext cx="1188720" cy="329184"/>
          </a:xfrm>
          <a:prstGeom prst="rect">
            <a:avLst/>
          </a:prstGeom>
          <a:noFill/>
          <a:ln/>
        </p:spPr>
        <p:txBody>
          <a:bodyPr wrap="square" lIns="0" tIns="0" rIns="0" bIns="0" rtlCol="0" anchor="t"/>
          <a:lstStyle/>
          <a:p>
            <a:pPr marL="0" indent="0">
              <a:buNone/>
            </a:pPr>
            <a:r>
              <a:rPr lang="en-US" sz="900" b="1" dirty="0">
                <a:solidFill>
                  <a:srgbClr val="2563EB"/>
                </a:solidFill>
                <a:latin typeface="Meiryo UI" pitchFamily="34" charset="0"/>
                <a:ea typeface="Meiryo UI" pitchFamily="34" charset="-122"/>
                <a:cs typeface="Meiryo UI" pitchFamily="34" charset="-120"/>
              </a:rPr>
              <a:t>認証</a:t>
            </a:r>
            <a:endParaRPr lang="en-US" sz="900" dirty="0"/>
          </a:p>
        </p:txBody>
      </p:sp>
      <p:sp>
        <p:nvSpPr>
          <p:cNvPr id="26" name="Text 23"/>
          <p:cNvSpPr/>
          <p:nvPr/>
        </p:nvSpPr>
        <p:spPr>
          <a:xfrm>
            <a:off x="1737360" y="4032504"/>
            <a:ext cx="3383280" cy="329184"/>
          </a:xfrm>
          <a:prstGeom prst="rect">
            <a:avLst/>
          </a:prstGeom>
          <a:noFill/>
          <a:ln/>
        </p:spPr>
        <p:txBody>
          <a:bodyPr wrap="square" lIns="0" tIns="0" rIns="0" bIns="0" rtlCol="0" anchor="t"/>
          <a:lstStyle/>
          <a:p>
            <a:pPr marL="0" indent="0">
              <a:buNone/>
            </a:pPr>
            <a:r>
              <a:rPr lang="en-US" sz="950" dirty="0">
                <a:solidFill>
                  <a:srgbClr val="1F2937"/>
                </a:solidFill>
                <a:latin typeface="Meiryo UI" pitchFamily="34" charset="0"/>
                <a:ea typeface="Meiryo UI" pitchFamily="34" charset="-122"/>
                <a:cs typeface="Meiryo UI" pitchFamily="34" charset="-120"/>
              </a:rPr>
              <a:t>ISO/IEC27001（ISMS）認証番号 MSA-IS-532</a:t>
            </a:r>
            <a:endParaRPr lang="en-US" sz="950" dirty="0"/>
          </a:p>
        </p:txBody>
      </p:sp>
      <p:sp>
        <p:nvSpPr>
          <p:cNvPr id="27" name="Shape 24"/>
          <p:cNvSpPr/>
          <p:nvPr/>
        </p:nvSpPr>
        <p:spPr>
          <a:xfrm>
            <a:off x="5394960" y="1097280"/>
            <a:ext cx="3383280" cy="3520440"/>
          </a:xfrm>
          <a:prstGeom prst="rect">
            <a:avLst/>
          </a:prstGeom>
          <a:solidFill>
            <a:srgbClr val="1E3A5F"/>
          </a:solidFill>
          <a:ln/>
        </p:spPr>
      </p:sp>
      <p:sp>
        <p:nvSpPr>
          <p:cNvPr id="28" name="Text 25"/>
          <p:cNvSpPr/>
          <p:nvPr/>
        </p:nvSpPr>
        <p:spPr>
          <a:xfrm>
            <a:off x="5577840" y="1234440"/>
            <a:ext cx="3108960" cy="365760"/>
          </a:xfrm>
          <a:prstGeom prst="rect">
            <a:avLst/>
          </a:prstGeom>
          <a:noFill/>
          <a:ln/>
        </p:spPr>
        <p:txBody>
          <a:bodyPr wrap="square" lIns="0" tIns="0" rIns="0" bIns="0" rtlCol="0" anchor="ctr"/>
          <a:lstStyle/>
          <a:p>
            <a:pPr marL="0" indent="0">
              <a:buNone/>
            </a:pPr>
            <a:r>
              <a:rPr lang="en-US" sz="1600" b="1" dirty="0">
                <a:solidFill>
                  <a:srgbClr val="F59E0B"/>
                </a:solidFill>
                <a:latin typeface="Meiryo UI" pitchFamily="34" charset="0"/>
                <a:ea typeface="Meiryo UI" pitchFamily="34" charset="-122"/>
                <a:cs typeface="Meiryo UI" pitchFamily="34" charset="-120"/>
              </a:rPr>
              <a:t>お問い合わせ</a:t>
            </a:r>
            <a:endParaRPr lang="en-US" sz="1600" dirty="0"/>
          </a:p>
        </p:txBody>
      </p:sp>
      <p:sp>
        <p:nvSpPr>
          <p:cNvPr id="29" name="Text 26"/>
          <p:cNvSpPr/>
          <p:nvPr/>
        </p:nvSpPr>
        <p:spPr>
          <a:xfrm>
            <a:off x="5577840" y="1783080"/>
            <a:ext cx="3108960" cy="228600"/>
          </a:xfrm>
          <a:prstGeom prst="rect">
            <a:avLst/>
          </a:prstGeom>
          <a:noFill/>
          <a:ln/>
        </p:spPr>
        <p:txBody>
          <a:bodyPr wrap="square" lIns="0" tIns="0" rIns="0" bIns="0" rtlCol="0" anchor="ctr"/>
          <a:lstStyle/>
          <a:p>
            <a:pPr marL="0" indent="0">
              <a:buNone/>
            </a:pPr>
            <a:r>
              <a:rPr lang="en-US" sz="1000" b="1" dirty="0">
                <a:solidFill>
                  <a:srgbClr val="DBEAFE"/>
                </a:solidFill>
                <a:latin typeface="Meiryo UI" pitchFamily="34" charset="0"/>
                <a:ea typeface="Meiryo UI" pitchFamily="34" charset="-122"/>
                <a:cs typeface="Meiryo UI" pitchFamily="34" charset="-120"/>
              </a:rPr>
              <a:t>会社代表窓口</a:t>
            </a:r>
            <a:endParaRPr lang="en-US" sz="1000" dirty="0"/>
          </a:p>
        </p:txBody>
      </p:sp>
      <p:sp>
        <p:nvSpPr>
          <p:cNvPr id="30" name="Text 27"/>
          <p:cNvSpPr/>
          <p:nvPr/>
        </p:nvSpPr>
        <p:spPr>
          <a:xfrm>
            <a:off x="5577840" y="2011680"/>
            <a:ext cx="3108960" cy="274320"/>
          </a:xfrm>
          <a:prstGeom prst="rect">
            <a:avLst/>
          </a:prstGeom>
          <a:noFill/>
          <a:ln/>
        </p:spPr>
        <p:txBody>
          <a:bodyPr wrap="square" lIns="0" tIns="0" rIns="0" bIns="0" rtlCol="0" anchor="ctr"/>
          <a:lstStyle/>
          <a:p>
            <a:pPr marL="0" indent="0">
              <a:buNone/>
            </a:pPr>
            <a:r>
              <a:rPr lang="en-US" sz="1300">
                <a:solidFill>
                  <a:srgbClr val="FFFFFF"/>
                </a:solidFill>
                <a:latin typeface="Meiryo UI" pitchFamily="34" charset="0"/>
                <a:ea typeface="Meiryo UI" pitchFamily="34" charset="-122"/>
                <a:cs typeface="Meiryo UI" pitchFamily="34" charset="-120"/>
              </a:rPr>
              <a:t>ordia-support@sagbrain.com</a:t>
            </a:r>
            <a:endParaRPr lang="en-US" sz="1300" dirty="0"/>
          </a:p>
        </p:txBody>
      </p:sp>
      <p:sp>
        <p:nvSpPr>
          <p:cNvPr id="31" name="Text 28"/>
          <p:cNvSpPr/>
          <p:nvPr/>
        </p:nvSpPr>
        <p:spPr>
          <a:xfrm>
            <a:off x="5577840" y="2514600"/>
            <a:ext cx="3108960" cy="228600"/>
          </a:xfrm>
          <a:prstGeom prst="rect">
            <a:avLst/>
          </a:prstGeom>
          <a:noFill/>
          <a:ln/>
        </p:spPr>
        <p:txBody>
          <a:bodyPr wrap="square" lIns="0" tIns="0" rIns="0" bIns="0" rtlCol="0" anchor="ctr"/>
          <a:lstStyle/>
          <a:p>
            <a:pPr marL="0" indent="0">
              <a:buNone/>
            </a:pPr>
            <a:r>
              <a:rPr lang="en-US" sz="1000" b="1" dirty="0">
                <a:solidFill>
                  <a:srgbClr val="DBEAFE"/>
                </a:solidFill>
                <a:latin typeface="Meiryo UI" pitchFamily="34" charset="0"/>
                <a:ea typeface="Meiryo UI" pitchFamily="34" charset="-122"/>
                <a:cs typeface="Meiryo UI" pitchFamily="34" charset="-120"/>
              </a:rPr>
              <a:t>営業担当</a:t>
            </a:r>
            <a:endParaRPr lang="en-US" sz="1000" dirty="0"/>
          </a:p>
        </p:txBody>
      </p:sp>
      <p:sp>
        <p:nvSpPr>
          <p:cNvPr id="32" name="Text 29"/>
          <p:cNvSpPr/>
          <p:nvPr/>
        </p:nvSpPr>
        <p:spPr>
          <a:xfrm>
            <a:off x="5577840" y="2743200"/>
            <a:ext cx="3108960" cy="274320"/>
          </a:xfrm>
          <a:prstGeom prst="rect">
            <a:avLst/>
          </a:prstGeom>
          <a:noFill/>
          <a:ln/>
        </p:spPr>
        <p:txBody>
          <a:bodyPr wrap="square" lIns="0" tIns="0" rIns="0" bIns="0" rtlCol="0" anchor="ctr"/>
          <a:lstStyle/>
          <a:p>
            <a:pPr marL="0" indent="0">
              <a:buNone/>
            </a:pPr>
            <a:r>
              <a:rPr lang="en-US" sz="1300" b="1" dirty="0">
                <a:solidFill>
                  <a:srgbClr val="FFFFFF"/>
                </a:solidFill>
                <a:latin typeface="Meiryo UI" pitchFamily="34" charset="0"/>
                <a:ea typeface="Meiryo UI" pitchFamily="34" charset="-122"/>
                <a:cs typeface="Meiryo UI" pitchFamily="34" charset="-120"/>
              </a:rPr>
              <a:t>大津 真</a:t>
            </a:r>
            <a:endParaRPr lang="en-US" sz="1300" dirty="0"/>
          </a:p>
        </p:txBody>
      </p:sp>
      <p:sp>
        <p:nvSpPr>
          <p:cNvPr id="33" name="Text 30"/>
          <p:cNvSpPr/>
          <p:nvPr/>
        </p:nvSpPr>
        <p:spPr>
          <a:xfrm>
            <a:off x="5577840" y="3017520"/>
            <a:ext cx="3108960" cy="274320"/>
          </a:xfrm>
          <a:prstGeom prst="rect">
            <a:avLst/>
          </a:prstGeom>
          <a:noFill/>
          <a:ln/>
        </p:spPr>
        <p:txBody>
          <a:bodyPr wrap="square" lIns="0" tIns="0" rIns="0" bIns="0" rtlCol="0" anchor="ctr"/>
          <a:lstStyle/>
          <a:p>
            <a:pPr marL="0" indent="0">
              <a:buNone/>
            </a:pPr>
            <a:r>
              <a:rPr lang="en-US" sz="1200" dirty="0">
                <a:solidFill>
                  <a:srgbClr val="FFFFFF"/>
                </a:solidFill>
                <a:latin typeface="Meiryo UI" pitchFamily="34" charset="0"/>
                <a:ea typeface="Meiryo UI" pitchFamily="34" charset="-122"/>
                <a:cs typeface="Meiryo UI" pitchFamily="34" charset="-120"/>
              </a:rPr>
              <a:t>otsu@sagbrain.com</a:t>
            </a:r>
            <a:endParaRPr lang="en-US" sz="1200" dirty="0"/>
          </a:p>
        </p:txBody>
      </p:sp>
      <p:sp>
        <p:nvSpPr>
          <p:cNvPr id="34" name="Shape 31"/>
          <p:cNvSpPr/>
          <p:nvPr/>
        </p:nvSpPr>
        <p:spPr>
          <a:xfrm>
            <a:off x="5577840" y="3520440"/>
            <a:ext cx="3017520" cy="0"/>
          </a:xfrm>
          <a:prstGeom prst="line">
            <a:avLst/>
          </a:prstGeom>
          <a:noFill/>
          <a:ln w="6350">
            <a:solidFill>
              <a:srgbClr val="DBEAFE"/>
            </a:solidFill>
            <a:prstDash val="solid"/>
          </a:ln>
        </p:spPr>
      </p:sp>
      <p:sp>
        <p:nvSpPr>
          <p:cNvPr id="35" name="Text 32"/>
          <p:cNvSpPr/>
          <p:nvPr/>
        </p:nvSpPr>
        <p:spPr>
          <a:xfrm>
            <a:off x="5577840" y="3611880"/>
            <a:ext cx="3108960" cy="228600"/>
          </a:xfrm>
          <a:prstGeom prst="rect">
            <a:avLst/>
          </a:prstGeom>
          <a:noFill/>
          <a:ln/>
        </p:spPr>
        <p:txBody>
          <a:bodyPr wrap="square" lIns="0" tIns="0" rIns="0" bIns="0" rtlCol="0" anchor="ctr"/>
          <a:lstStyle/>
          <a:p>
            <a:pPr marL="0" indent="0">
              <a:buNone/>
            </a:pPr>
            <a:r>
              <a:rPr lang="en-US" sz="1000" b="1" dirty="0">
                <a:solidFill>
                  <a:srgbClr val="DBEAFE"/>
                </a:solidFill>
                <a:latin typeface="Meiryo UI" pitchFamily="34" charset="0"/>
                <a:ea typeface="Meiryo UI" pitchFamily="34" charset="-122"/>
                <a:cs typeface="Meiryo UI" pitchFamily="34" charset="-120"/>
              </a:rPr>
              <a:t>HP</a:t>
            </a:r>
            <a:endParaRPr lang="en-US" sz="1000" dirty="0"/>
          </a:p>
        </p:txBody>
      </p:sp>
      <p:sp>
        <p:nvSpPr>
          <p:cNvPr id="36" name="Text 33"/>
          <p:cNvSpPr/>
          <p:nvPr/>
        </p:nvSpPr>
        <p:spPr>
          <a:xfrm>
            <a:off x="5577840" y="3840480"/>
            <a:ext cx="3108960" cy="274320"/>
          </a:xfrm>
          <a:prstGeom prst="rect">
            <a:avLst/>
          </a:prstGeom>
          <a:noFill/>
          <a:ln/>
        </p:spPr>
        <p:txBody>
          <a:bodyPr wrap="square" lIns="0" tIns="0" rIns="0" bIns="0" rtlCol="0" anchor="ctr"/>
          <a:lstStyle/>
          <a:p>
            <a:pPr marL="0" indent="0">
              <a:buNone/>
            </a:pPr>
            <a:r>
              <a:rPr lang="en-US" sz="1100" dirty="0">
                <a:solidFill>
                  <a:srgbClr val="FFFFFF"/>
                </a:solidFill>
                <a:latin typeface="Meiryo UI" pitchFamily="34" charset="0"/>
                <a:ea typeface="Meiryo UI" pitchFamily="34" charset="-122"/>
                <a:cs typeface="Meiryo UI" pitchFamily="34" charset="-120"/>
              </a:rPr>
              <a:t>https://sagbrain.com/</a:t>
            </a:r>
            <a:endParaRPr lang="en-US" sz="1100" dirty="0"/>
          </a:p>
        </p:txBody>
      </p:sp>
      <p:sp>
        <p:nvSpPr>
          <p:cNvPr id="37" name="Text 34"/>
          <p:cNvSpPr/>
          <p:nvPr/>
        </p:nvSpPr>
        <p:spPr>
          <a:xfrm>
            <a:off x="5577840" y="4251960"/>
            <a:ext cx="3108960" cy="274320"/>
          </a:xfrm>
          <a:prstGeom prst="rect">
            <a:avLst/>
          </a:prstGeom>
          <a:noFill/>
          <a:ln/>
        </p:spPr>
        <p:txBody>
          <a:bodyPr wrap="square" lIns="0" tIns="0" rIns="0" bIns="0" rtlCol="0" anchor="ctr"/>
          <a:lstStyle/>
          <a:p>
            <a:pPr marL="0" indent="0">
              <a:buNone/>
            </a:pPr>
            <a:r>
              <a:rPr lang="en-US" sz="950" i="1" dirty="0">
                <a:solidFill>
                  <a:srgbClr val="DBEAFE"/>
                </a:solidFill>
                <a:latin typeface="Meiryo UI" pitchFamily="34" charset="0"/>
                <a:ea typeface="Meiryo UI" pitchFamily="34" charset="-122"/>
                <a:cs typeface="Meiryo UI" pitchFamily="34" charset="-120"/>
              </a:rPr>
              <a:t>ご不明な点はお気軽にお問い合わせください。</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1467</Words>
  <Application>Microsoft Office PowerPoint</Application>
  <PresentationFormat>画面に合わせる (16:9)</PresentationFormat>
  <Paragraphs>329</Paragraphs>
  <Slides>15</Slides>
  <Notes>13</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15</vt:i4>
      </vt:variant>
    </vt:vector>
  </HeadingPairs>
  <TitlesOfParts>
    <vt:vector size="19" baseType="lpstr">
      <vt:lpstr>Meiryo UI</vt:lpstr>
      <vt:lpstr>Meiryo</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Sagbrain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Onevio 提案書（販売店向け汎用版）</dc:title>
  <dc:subject>PptxGenJS Presentation</dc:subject>
  <dc:creator>株式会社サグブレイン</dc:creator>
  <cp:lastModifiedBy>Ｊ Ｆ</cp:lastModifiedBy>
  <cp:revision>10</cp:revision>
  <dcterms:created xsi:type="dcterms:W3CDTF">2026-06-08T08:22:39Z</dcterms:created>
  <dcterms:modified xsi:type="dcterms:W3CDTF">2026-07-08T07:37:22Z</dcterms:modified>
</cp:coreProperties>
</file>